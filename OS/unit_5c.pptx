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407" r:id="rId3"/>
    <p:sldId id="452" r:id="rId4"/>
    <p:sldId id="453" r:id="rId5"/>
    <p:sldId id="454" r:id="rId6"/>
    <p:sldId id="455" r:id="rId7"/>
    <p:sldId id="456" r:id="rId8"/>
    <p:sldId id="457" r:id="rId9"/>
    <p:sldId id="458" r:id="rId10"/>
    <p:sldId id="459" r:id="rId11"/>
    <p:sldId id="460" r:id="rId12"/>
    <p:sldId id="461" r:id="rId13"/>
    <p:sldId id="463" r:id="rId14"/>
    <p:sldId id="462" r:id="rId15"/>
    <p:sldId id="465" r:id="rId16"/>
    <p:sldId id="466" r:id="rId17"/>
    <p:sldId id="467" r:id="rId18"/>
    <p:sldId id="468" r:id="rId19"/>
    <p:sldId id="469" r:id="rId20"/>
    <p:sldId id="470" r:id="rId21"/>
    <p:sldId id="471" r:id="rId22"/>
    <p:sldId id="473" r:id="rId23"/>
    <p:sldId id="474" r:id="rId24"/>
    <p:sldId id="475" r:id="rId25"/>
    <p:sldId id="477" r:id="rId26"/>
    <p:sldId id="476" r:id="rId27"/>
    <p:sldId id="478" r:id="rId28"/>
    <p:sldId id="479" r:id="rId29"/>
    <p:sldId id="480" r:id="rId30"/>
    <p:sldId id="481" r:id="rId31"/>
    <p:sldId id="483" r:id="rId32"/>
    <p:sldId id="484" r:id="rId33"/>
    <p:sldId id="485" r:id="rId34"/>
    <p:sldId id="486" r:id="rId35"/>
    <p:sldId id="487" r:id="rId36"/>
    <p:sldId id="488" r:id="rId37"/>
    <p:sldId id="489" r:id="rId38"/>
    <p:sldId id="490" r:id="rId39"/>
    <p:sldId id="491" r:id="rId40"/>
    <p:sldId id="492" r:id="rId41"/>
    <p:sldId id="493" r:id="rId42"/>
    <p:sldId id="267" r:id="rId43"/>
    <p:sldId id="26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339933"/>
    <a:srgbClr val="FF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AA1AF446-70E5-4808-A3E6-80A9AEEFC434}" type="datetimeFigureOut">
              <a:rPr lang="en-US" smtClean="0"/>
              <a:pPr/>
              <a:t>11/14/2025</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8D1D586-0E36-461A-A06B-E82F64A17756}"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D1D586-0E36-461A-A06B-E82F64A17756}" type="slidenum">
              <a:rPr lang="en-US" smtClean="0"/>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D1D586-0E36-461A-A06B-E82F64A17756}" type="slidenum">
              <a:rPr lang="en-US" smtClean="0"/>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AA1AF446-70E5-4808-A3E6-80A9AEEFC434}"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fld id="{AA1AF446-70E5-4808-A3E6-80A9AEEFC434}" type="datetimeFigureOut">
              <a:rPr lang="en-US" smtClean="0"/>
              <a:pPr/>
              <a:t>11/14/2025</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8D1D586-0E36-461A-A06B-E82F64A17756}"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1AF446-70E5-4808-A3E6-80A9AEEFC434}"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A1AF446-70E5-4808-A3E6-80A9AEEFC434}" type="datetimeFigureOut">
              <a:rPr lang="en-US" smtClean="0"/>
              <a:pPr/>
              <a:t>11/14/2025</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8D1D586-0E36-461A-A06B-E82F64A1775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2400"/>
            <a:ext cx="8839200" cy="1066800"/>
          </a:xfrm>
        </p:spPr>
        <p:txBody>
          <a:bodyPr>
            <a:noAutofit/>
          </a:bodyPr>
          <a:lstStyle/>
          <a:p>
            <a:pPr algn="ctr"/>
            <a:r>
              <a:rPr lang="en-GB" sz="4000" dirty="0">
                <a:cs typeface="Microsoft Sans Serif" pitchFamily="34" charset="0"/>
              </a:rPr>
              <a:t>Memory Management</a:t>
            </a:r>
            <a:endParaRPr lang="en-US" sz="4000" dirty="0">
              <a:cs typeface="Microsoft Sans Serif" pitchFamily="34" charset="0"/>
            </a:endParaRPr>
          </a:p>
        </p:txBody>
      </p:sp>
      <p:sp>
        <p:nvSpPr>
          <p:cNvPr id="3" name="Subtitle 2"/>
          <p:cNvSpPr>
            <a:spLocks noGrp="1"/>
          </p:cNvSpPr>
          <p:nvPr>
            <p:ph type="subTitle" idx="1"/>
          </p:nvPr>
        </p:nvSpPr>
        <p:spPr>
          <a:xfrm>
            <a:off x="685799" y="1355360"/>
            <a:ext cx="7772400" cy="3276600"/>
          </a:xfrm>
        </p:spPr>
        <p:txBody>
          <a:bodyPr>
            <a:normAutofit/>
          </a:bodyPr>
          <a:lstStyle/>
          <a:p>
            <a:pPr algn="ctr"/>
            <a:r>
              <a:rPr lang="en-GB" sz="2000" b="1" dirty="0">
                <a:latin typeface="Microsoft Sans Serif" pitchFamily="34" charset="0"/>
                <a:cs typeface="Microsoft Sans Serif" pitchFamily="34" charset="0"/>
              </a:rPr>
              <a:t>Presented By</a:t>
            </a:r>
          </a:p>
          <a:p>
            <a:pPr algn="ctr"/>
            <a:r>
              <a:rPr lang="en-GB" sz="2000" b="1" dirty="0">
                <a:latin typeface="Microsoft Sans Serif" pitchFamily="34" charset="0"/>
                <a:cs typeface="Microsoft Sans Serif" pitchFamily="34" charset="0"/>
              </a:rPr>
              <a:t>Dr. </a:t>
            </a:r>
            <a:r>
              <a:rPr lang="en-GB" sz="2000" b="1">
                <a:latin typeface="Microsoft Sans Serif" pitchFamily="34" charset="0"/>
                <a:cs typeface="Microsoft Sans Serif" pitchFamily="34" charset="0"/>
              </a:rPr>
              <a:t>Khursheed Ahmad Bhat</a:t>
            </a:r>
            <a:endParaRPr lang="en-GB" sz="2000" b="1" dirty="0">
              <a:latin typeface="Microsoft Sans Serif" pitchFamily="34" charset="0"/>
              <a:cs typeface="Microsoft Sans Serif" pitchFamily="34" charset="0"/>
            </a:endParaRPr>
          </a:p>
        </p:txBody>
      </p:sp>
      <p:pic>
        <p:nvPicPr>
          <p:cNvPr id="5" name="Picture 4" descr="A colorful logo with a white background&#10;&#10;Description automatically generated">
            <a:extLst>
              <a:ext uri="{FF2B5EF4-FFF2-40B4-BE49-F238E27FC236}">
                <a16:creationId xmlns:a16="http://schemas.microsoft.com/office/drawing/2014/main" id="{C82953F9-BE01-3009-6A6C-806484F36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437" y="3505200"/>
            <a:ext cx="2143125" cy="16811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err="1"/>
              <a:t>OverLays</a:t>
            </a:r>
            <a:endParaRPr lang="en-IN" dirty="0"/>
          </a:p>
        </p:txBody>
      </p:sp>
      <p:sp>
        <p:nvSpPr>
          <p:cNvPr id="5" name="Content Placeholder 4">
            <a:extLst>
              <a:ext uri="{FF2B5EF4-FFF2-40B4-BE49-F238E27FC236}">
                <a16:creationId xmlns:a16="http://schemas.microsoft.com/office/drawing/2014/main" id="{5A3F1C26-6D48-6702-E978-822D8797140B}"/>
              </a:ext>
            </a:extLst>
          </p:cNvPr>
          <p:cNvSpPr>
            <a:spLocks noGrp="1"/>
          </p:cNvSpPr>
          <p:nvPr>
            <p:ph idx="1"/>
          </p:nvPr>
        </p:nvSpPr>
        <p:spPr/>
        <p:txBody>
          <a:bodyPr/>
          <a:lstStyle/>
          <a:p>
            <a:r>
              <a:rPr lang="en-IN" sz="2400" dirty="0">
                <a:latin typeface="Times New Roman" panose="02020603050405020304" pitchFamily="18" charset="0"/>
                <a:cs typeface="Times New Roman" panose="02020603050405020304" pitchFamily="18" charset="0"/>
              </a:rPr>
              <a:t>It attempts to solve the problem of “</a:t>
            </a:r>
            <a:r>
              <a:rPr lang="en-IN" sz="2400" dirty="0">
                <a:solidFill>
                  <a:srgbClr val="FF0000"/>
                </a:solidFill>
                <a:latin typeface="Times New Roman" panose="02020603050405020304" pitchFamily="18" charset="0"/>
                <a:cs typeface="Times New Roman" panose="02020603050405020304" pitchFamily="18" charset="0"/>
              </a:rPr>
              <a:t>Fixed Size Partitioning</a:t>
            </a:r>
            <a:r>
              <a:rPr lang="en-IN" sz="2400" dirty="0">
                <a:latin typeface="Times New Roman" panose="02020603050405020304" pitchFamily="18" charset="0"/>
                <a:cs typeface="Times New Roman" panose="02020603050405020304" pitchFamily="18" charset="0"/>
              </a:rPr>
              <a:t>”. If size of process is more than Main memory or fixed partition.</a:t>
            </a:r>
          </a:p>
          <a:p>
            <a:endParaRPr lang="en-IN" dirty="0"/>
          </a:p>
          <a:p>
            <a:endParaRPr lang="en-IN" dirty="0"/>
          </a:p>
        </p:txBody>
      </p:sp>
      <p:pic>
        <p:nvPicPr>
          <p:cNvPr id="7" name="Picture 6">
            <a:extLst>
              <a:ext uri="{FF2B5EF4-FFF2-40B4-BE49-F238E27FC236}">
                <a16:creationId xmlns:a16="http://schemas.microsoft.com/office/drawing/2014/main" id="{B5E89A7C-71CA-A157-6999-CBD64E5D94C9}"/>
              </a:ext>
            </a:extLst>
          </p:cNvPr>
          <p:cNvPicPr>
            <a:picLocks noChangeAspect="1"/>
          </p:cNvPicPr>
          <p:nvPr/>
        </p:nvPicPr>
        <p:blipFill>
          <a:blip r:embed="rId2"/>
          <a:stretch>
            <a:fillRect/>
          </a:stretch>
        </p:blipFill>
        <p:spPr>
          <a:xfrm>
            <a:off x="152400" y="2590800"/>
            <a:ext cx="8839200" cy="3416491"/>
          </a:xfrm>
          <a:prstGeom prst="rect">
            <a:avLst/>
          </a:prstGeom>
        </p:spPr>
      </p:pic>
    </p:spTree>
    <p:extLst>
      <p:ext uri="{BB962C8B-B14F-4D97-AF65-F5344CB8AC3E}">
        <p14:creationId xmlns:p14="http://schemas.microsoft.com/office/powerpoint/2010/main" val="2774150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err="1"/>
              <a:t>OverLays</a:t>
            </a:r>
            <a:endParaRPr lang="en-IN" dirty="0"/>
          </a:p>
        </p:txBody>
      </p:sp>
      <p:pic>
        <p:nvPicPr>
          <p:cNvPr id="8" name="Picture 7">
            <a:extLst>
              <a:ext uri="{FF2B5EF4-FFF2-40B4-BE49-F238E27FC236}">
                <a16:creationId xmlns:a16="http://schemas.microsoft.com/office/drawing/2014/main" id="{81D6B7D1-0B70-082E-8212-164D669DC40B}"/>
              </a:ext>
            </a:extLst>
          </p:cNvPr>
          <p:cNvPicPr>
            <a:picLocks noChangeAspect="1"/>
          </p:cNvPicPr>
          <p:nvPr/>
        </p:nvPicPr>
        <p:blipFill>
          <a:blip r:embed="rId2"/>
          <a:stretch>
            <a:fillRect/>
          </a:stretch>
        </p:blipFill>
        <p:spPr>
          <a:xfrm>
            <a:off x="457200" y="1417638"/>
            <a:ext cx="8229600" cy="4754562"/>
          </a:xfrm>
          <a:prstGeom prst="rect">
            <a:avLst/>
          </a:prstGeom>
        </p:spPr>
      </p:pic>
    </p:spTree>
    <p:extLst>
      <p:ext uri="{BB962C8B-B14F-4D97-AF65-F5344CB8AC3E}">
        <p14:creationId xmlns:p14="http://schemas.microsoft.com/office/powerpoint/2010/main" val="1518913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err="1"/>
              <a:t>OverLays</a:t>
            </a:r>
            <a:endParaRPr lang="en-IN" dirty="0"/>
          </a:p>
        </p:txBody>
      </p:sp>
      <p:pic>
        <p:nvPicPr>
          <p:cNvPr id="4" name="Picture 3">
            <a:extLst>
              <a:ext uri="{FF2B5EF4-FFF2-40B4-BE49-F238E27FC236}">
                <a16:creationId xmlns:a16="http://schemas.microsoft.com/office/drawing/2014/main" id="{640EFB51-44D0-1E64-820C-71FE9A25174C}"/>
              </a:ext>
            </a:extLst>
          </p:cNvPr>
          <p:cNvPicPr>
            <a:picLocks noChangeAspect="1"/>
          </p:cNvPicPr>
          <p:nvPr/>
        </p:nvPicPr>
        <p:blipFill>
          <a:blip r:embed="rId2"/>
          <a:stretch>
            <a:fillRect/>
          </a:stretch>
        </p:blipFill>
        <p:spPr>
          <a:xfrm>
            <a:off x="304800" y="1524000"/>
            <a:ext cx="8381999" cy="4724400"/>
          </a:xfrm>
          <a:prstGeom prst="rect">
            <a:avLst/>
          </a:prstGeom>
        </p:spPr>
      </p:pic>
    </p:spTree>
    <p:extLst>
      <p:ext uri="{BB962C8B-B14F-4D97-AF65-F5344CB8AC3E}">
        <p14:creationId xmlns:p14="http://schemas.microsoft.com/office/powerpoint/2010/main" val="385335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err="1"/>
              <a:t>OverLays</a:t>
            </a:r>
            <a:endParaRPr lang="en-IN" dirty="0"/>
          </a:p>
        </p:txBody>
      </p:sp>
      <p:pic>
        <p:nvPicPr>
          <p:cNvPr id="5" name="Picture 4">
            <a:extLst>
              <a:ext uri="{FF2B5EF4-FFF2-40B4-BE49-F238E27FC236}">
                <a16:creationId xmlns:a16="http://schemas.microsoft.com/office/drawing/2014/main" id="{0FE5D507-F511-CC26-BADC-C0B806D6C4BB}"/>
              </a:ext>
            </a:extLst>
          </p:cNvPr>
          <p:cNvPicPr>
            <a:picLocks noChangeAspect="1"/>
          </p:cNvPicPr>
          <p:nvPr/>
        </p:nvPicPr>
        <p:blipFill>
          <a:blip r:embed="rId2"/>
          <a:stretch>
            <a:fillRect/>
          </a:stretch>
        </p:blipFill>
        <p:spPr>
          <a:xfrm>
            <a:off x="304800" y="1752600"/>
            <a:ext cx="8382000" cy="3581399"/>
          </a:xfrm>
          <a:prstGeom prst="rect">
            <a:avLst/>
          </a:prstGeom>
        </p:spPr>
      </p:pic>
    </p:spTree>
    <p:extLst>
      <p:ext uri="{BB962C8B-B14F-4D97-AF65-F5344CB8AC3E}">
        <p14:creationId xmlns:p14="http://schemas.microsoft.com/office/powerpoint/2010/main" val="1191558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152400"/>
            <a:ext cx="8229600" cy="715962"/>
          </a:xfrm>
        </p:spPr>
        <p:txBody>
          <a:bodyPr>
            <a:normAutofit fontScale="90000"/>
          </a:bodyPr>
          <a:lstStyle/>
          <a:p>
            <a:r>
              <a:rPr lang="en-IN" dirty="0"/>
              <a:t>Solve External Fragmentation</a:t>
            </a:r>
          </a:p>
        </p:txBody>
      </p:sp>
      <p:sp>
        <p:nvSpPr>
          <p:cNvPr id="2" name="TextBox 1">
            <a:extLst>
              <a:ext uri="{FF2B5EF4-FFF2-40B4-BE49-F238E27FC236}">
                <a16:creationId xmlns:a16="http://schemas.microsoft.com/office/drawing/2014/main" id="{7917496B-83AE-43CB-5801-DA6B55334673}"/>
              </a:ext>
            </a:extLst>
          </p:cNvPr>
          <p:cNvSpPr txBox="1"/>
          <p:nvPr/>
        </p:nvSpPr>
        <p:spPr>
          <a:xfrm>
            <a:off x="685800" y="914400"/>
            <a:ext cx="8229600" cy="5262979"/>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There exists two solutions:</a:t>
            </a:r>
          </a:p>
          <a:p>
            <a:endParaRPr lang="en-IN" sz="2400" dirty="0">
              <a:latin typeface="Times New Roman" panose="02020603050405020304" pitchFamily="18" charset="0"/>
              <a:cs typeface="Times New Roman" panose="02020603050405020304" pitchFamily="18" charset="0"/>
            </a:endParaRPr>
          </a:p>
          <a:p>
            <a:pPr marL="342900" indent="-342900">
              <a:buAutoNum type="arabicPeriod"/>
            </a:pPr>
            <a:r>
              <a:rPr lang="en-IN" sz="2400" dirty="0">
                <a:solidFill>
                  <a:srgbClr val="FF0000"/>
                </a:solidFill>
                <a:latin typeface="Times New Roman" panose="02020603050405020304" pitchFamily="18" charset="0"/>
                <a:cs typeface="Times New Roman" panose="02020603050405020304" pitchFamily="18" charset="0"/>
              </a:rPr>
              <a:t>Compaction: </a:t>
            </a:r>
            <a:r>
              <a:rPr lang="en-IN" sz="2400" dirty="0">
                <a:latin typeface="Times New Roman" panose="02020603050405020304" pitchFamily="18" charset="0"/>
                <a:cs typeface="Times New Roman" panose="02020603050405020304" pitchFamily="18" charset="0"/>
              </a:rPr>
              <a:t>Pulling all holes together and putting them together.</a:t>
            </a:r>
          </a:p>
          <a:p>
            <a:pPr marL="342900" indent="-342900">
              <a:buAutoNum type="arabicPeriod"/>
            </a:pPr>
            <a:endParaRPr lang="en-IN" sz="2400" dirty="0">
              <a:latin typeface="Times New Roman" panose="02020603050405020304" pitchFamily="18" charset="0"/>
              <a:cs typeface="Times New Roman" panose="02020603050405020304" pitchFamily="18" charset="0"/>
            </a:endParaRPr>
          </a:p>
          <a:p>
            <a:pPr marL="342900" indent="-342900">
              <a:buAutoNum type="arabicPeriod"/>
            </a:pPr>
            <a:r>
              <a:rPr lang="en-IN" sz="2400" dirty="0">
                <a:solidFill>
                  <a:srgbClr val="FF0000"/>
                </a:solidFill>
                <a:latin typeface="Times New Roman" panose="02020603050405020304" pitchFamily="18" charset="0"/>
                <a:cs typeface="Times New Roman" panose="02020603050405020304" pitchFamily="18" charset="0"/>
              </a:rPr>
              <a:t>Fragmentation (Non-Contiguous Allocation)</a:t>
            </a:r>
            <a:r>
              <a:rPr lang="en-IN" sz="2400" dirty="0">
                <a:latin typeface="Times New Roman" panose="02020603050405020304" pitchFamily="18" charset="0"/>
                <a:cs typeface="Times New Roman" panose="02020603050405020304" pitchFamily="18" charset="0"/>
              </a:rPr>
              <a:t>: Break the process into small pieces and whenever you have space available put them there. </a:t>
            </a:r>
          </a:p>
          <a:p>
            <a:pPr marL="342900" indent="-342900">
              <a:buAutoNum type="arabicPeriod"/>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2.1 Paging</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2.2 Segmentation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2.3 Combination of paging &amp; segmentation (Segmented Paging)</a:t>
            </a:r>
          </a:p>
        </p:txBody>
      </p:sp>
      <p:pic>
        <p:nvPicPr>
          <p:cNvPr id="6" name="Picture 5">
            <a:extLst>
              <a:ext uri="{FF2B5EF4-FFF2-40B4-BE49-F238E27FC236}">
                <a16:creationId xmlns:a16="http://schemas.microsoft.com/office/drawing/2014/main" id="{117C4290-BDFF-ECC8-B088-8422BE11162C}"/>
              </a:ext>
            </a:extLst>
          </p:cNvPr>
          <p:cNvPicPr>
            <a:picLocks noChangeAspect="1"/>
          </p:cNvPicPr>
          <p:nvPr/>
        </p:nvPicPr>
        <p:blipFill>
          <a:blip r:embed="rId2"/>
          <a:stretch>
            <a:fillRect/>
          </a:stretch>
        </p:blipFill>
        <p:spPr>
          <a:xfrm>
            <a:off x="4191000" y="3657600"/>
            <a:ext cx="4648200" cy="2133600"/>
          </a:xfrm>
          <a:prstGeom prst="rect">
            <a:avLst/>
          </a:prstGeom>
        </p:spPr>
      </p:pic>
    </p:spTree>
    <p:extLst>
      <p:ext uri="{BB962C8B-B14F-4D97-AF65-F5344CB8AC3E}">
        <p14:creationId xmlns:p14="http://schemas.microsoft.com/office/powerpoint/2010/main" val="945654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152400"/>
            <a:ext cx="8229600" cy="715962"/>
          </a:xfrm>
        </p:spPr>
        <p:txBody>
          <a:bodyPr>
            <a:normAutofit fontScale="90000"/>
          </a:bodyPr>
          <a:lstStyle/>
          <a:p>
            <a:r>
              <a:rPr lang="en-IN" dirty="0"/>
              <a:t>Need for PAGING</a:t>
            </a:r>
          </a:p>
        </p:txBody>
      </p:sp>
      <p:sp>
        <p:nvSpPr>
          <p:cNvPr id="2" name="TextBox 1">
            <a:extLst>
              <a:ext uri="{FF2B5EF4-FFF2-40B4-BE49-F238E27FC236}">
                <a16:creationId xmlns:a16="http://schemas.microsoft.com/office/drawing/2014/main" id="{7917496B-83AE-43CB-5801-DA6B55334673}"/>
              </a:ext>
            </a:extLst>
          </p:cNvPr>
          <p:cNvSpPr txBox="1"/>
          <p:nvPr/>
        </p:nvSpPr>
        <p:spPr>
          <a:xfrm>
            <a:off x="685800" y="875857"/>
            <a:ext cx="8229600" cy="3046988"/>
          </a:xfrm>
          <a:prstGeom prst="rect">
            <a:avLst/>
          </a:prstGeom>
          <a:noFill/>
        </p:spPr>
        <p:txBody>
          <a:bodyPr wrap="square" rtlCol="0">
            <a:spAutoFit/>
          </a:bodyPr>
          <a:lstStyle/>
          <a:p>
            <a:pPr marL="342900" indent="-342900">
              <a:buAutoNum type="arabicPeriod"/>
            </a:pPr>
            <a:r>
              <a:rPr lang="en-IN" sz="2400" dirty="0">
                <a:solidFill>
                  <a:srgbClr val="FF0000"/>
                </a:solidFill>
                <a:latin typeface="Times New Roman" panose="02020603050405020304" pitchFamily="18" charset="0"/>
                <a:cs typeface="Times New Roman" panose="02020603050405020304" pitchFamily="18" charset="0"/>
              </a:rPr>
              <a:t>Internal Fragmentation </a:t>
            </a:r>
            <a:r>
              <a:rPr lang="en-IN" sz="2400" dirty="0">
                <a:latin typeface="Times New Roman" panose="02020603050405020304" pitchFamily="18" charset="0"/>
                <a:cs typeface="Times New Roman" panose="02020603050405020304" pitchFamily="18" charset="0"/>
              </a:rPr>
              <a:t>has removed completely by dynamic partitioning but still external fragmentation exists there. </a:t>
            </a:r>
          </a:p>
          <a:p>
            <a:pPr marL="342900" indent="-342900">
              <a:buAutoNum type="arabicPeriod"/>
            </a:pPr>
            <a:endParaRPr lang="en-IN" sz="2400" dirty="0">
              <a:latin typeface="Times New Roman" panose="02020603050405020304" pitchFamily="18" charset="0"/>
              <a:cs typeface="Times New Roman" panose="02020603050405020304" pitchFamily="18" charset="0"/>
            </a:endParaRPr>
          </a:p>
          <a:p>
            <a:pPr marL="342900" indent="-342900">
              <a:buAutoNum type="arabicPeriod"/>
            </a:pPr>
            <a:r>
              <a:rPr lang="en-IN" sz="2400" dirty="0">
                <a:latin typeface="Times New Roman" panose="02020603050405020304" pitchFamily="18" charset="0"/>
                <a:cs typeface="Times New Roman" panose="02020603050405020304" pitchFamily="18" charset="0"/>
              </a:rPr>
              <a:t>Other than</a:t>
            </a:r>
            <a:r>
              <a:rPr lang="en-IN" sz="2400" dirty="0">
                <a:solidFill>
                  <a:srgbClr val="FF0000"/>
                </a:solidFill>
                <a:latin typeface="Times New Roman" panose="02020603050405020304" pitchFamily="18" charset="0"/>
                <a:cs typeface="Times New Roman" panose="02020603050405020304" pitchFamily="18" charset="0"/>
              </a:rPr>
              <a:t> Compaction, </a:t>
            </a:r>
            <a:r>
              <a:rPr lang="en-IN" sz="2400" dirty="0">
                <a:latin typeface="Times New Roman" panose="02020603050405020304" pitchFamily="18" charset="0"/>
                <a:cs typeface="Times New Roman" panose="02020603050405020304" pitchFamily="18" charset="0"/>
              </a:rPr>
              <a:t>the only method using which we can remove</a:t>
            </a:r>
            <a:r>
              <a:rPr lang="en-IN" sz="2400" dirty="0">
                <a:solidFill>
                  <a:srgbClr val="FF0000"/>
                </a:solidFill>
                <a:latin typeface="Times New Roman" panose="02020603050405020304" pitchFamily="18" charset="0"/>
                <a:cs typeface="Times New Roman" panose="02020603050405020304" pitchFamily="18" charset="0"/>
              </a:rPr>
              <a:t> external fragmentation </a:t>
            </a:r>
            <a:r>
              <a:rPr lang="en-IN" sz="2400" dirty="0">
                <a:latin typeface="Times New Roman" panose="02020603050405020304" pitchFamily="18" charset="0"/>
                <a:cs typeface="Times New Roman" panose="02020603050405020304" pitchFamily="18" charset="0"/>
              </a:rPr>
              <a:t>is by letting the process to be</a:t>
            </a:r>
            <a:r>
              <a:rPr lang="en-IN" sz="2400" dirty="0">
                <a:solidFill>
                  <a:srgbClr val="FF0000"/>
                </a:solidFill>
                <a:latin typeface="Times New Roman" panose="02020603050405020304" pitchFamily="18" charset="0"/>
                <a:cs typeface="Times New Roman" panose="02020603050405020304" pitchFamily="18" charset="0"/>
              </a:rPr>
              <a:t> Non-Contiguous.</a:t>
            </a:r>
            <a:r>
              <a:rPr lang="en-IN" sz="2400" dirty="0">
                <a:latin typeface="Times New Roman" panose="02020603050405020304" pitchFamily="18" charset="0"/>
                <a:cs typeface="Times New Roman" panose="02020603050405020304" pitchFamily="18" charset="0"/>
              </a:rPr>
              <a:t> </a:t>
            </a:r>
          </a:p>
          <a:p>
            <a:pPr marL="342900" indent="-342900">
              <a:buAutoNum type="arabicPeriod"/>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36F7255-BC94-8088-F1D6-5F225F53D6F6}"/>
              </a:ext>
            </a:extLst>
          </p:cNvPr>
          <p:cNvPicPr>
            <a:picLocks noChangeAspect="1"/>
          </p:cNvPicPr>
          <p:nvPr/>
        </p:nvPicPr>
        <p:blipFill>
          <a:blip r:embed="rId2"/>
          <a:stretch>
            <a:fillRect/>
          </a:stretch>
        </p:blipFill>
        <p:spPr>
          <a:xfrm>
            <a:off x="3962400" y="2895600"/>
            <a:ext cx="4495800" cy="3886200"/>
          </a:xfrm>
          <a:prstGeom prst="rect">
            <a:avLst/>
          </a:prstGeom>
        </p:spPr>
      </p:pic>
    </p:spTree>
    <p:extLst>
      <p:ext uri="{BB962C8B-B14F-4D97-AF65-F5344CB8AC3E}">
        <p14:creationId xmlns:p14="http://schemas.microsoft.com/office/powerpoint/2010/main" val="3988421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152400"/>
            <a:ext cx="8229600" cy="715962"/>
          </a:xfrm>
        </p:spPr>
        <p:txBody>
          <a:bodyPr>
            <a:normAutofit fontScale="90000"/>
          </a:bodyPr>
          <a:lstStyle/>
          <a:p>
            <a:r>
              <a:rPr lang="en-IN" dirty="0"/>
              <a:t>PAGING</a:t>
            </a:r>
          </a:p>
        </p:txBody>
      </p:sp>
      <p:pic>
        <p:nvPicPr>
          <p:cNvPr id="5" name="Picture 4">
            <a:extLst>
              <a:ext uri="{FF2B5EF4-FFF2-40B4-BE49-F238E27FC236}">
                <a16:creationId xmlns:a16="http://schemas.microsoft.com/office/drawing/2014/main" id="{8AF3306C-6507-B6D2-30DD-FE930C40BF1A}"/>
              </a:ext>
            </a:extLst>
          </p:cNvPr>
          <p:cNvPicPr>
            <a:picLocks noChangeAspect="1"/>
          </p:cNvPicPr>
          <p:nvPr/>
        </p:nvPicPr>
        <p:blipFill>
          <a:blip r:embed="rId2"/>
          <a:stretch>
            <a:fillRect/>
          </a:stretch>
        </p:blipFill>
        <p:spPr>
          <a:xfrm>
            <a:off x="533400" y="990600"/>
            <a:ext cx="8153400" cy="5562600"/>
          </a:xfrm>
          <a:prstGeom prst="rect">
            <a:avLst/>
          </a:prstGeom>
        </p:spPr>
      </p:pic>
    </p:spTree>
    <p:extLst>
      <p:ext uri="{BB962C8B-B14F-4D97-AF65-F5344CB8AC3E}">
        <p14:creationId xmlns:p14="http://schemas.microsoft.com/office/powerpoint/2010/main" val="1801359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152400"/>
            <a:ext cx="8229600" cy="715962"/>
          </a:xfrm>
        </p:spPr>
        <p:txBody>
          <a:bodyPr>
            <a:normAutofit fontScale="90000"/>
          </a:bodyPr>
          <a:lstStyle/>
          <a:p>
            <a:r>
              <a:rPr lang="en-IN" dirty="0"/>
              <a:t>PAGING</a:t>
            </a:r>
          </a:p>
        </p:txBody>
      </p:sp>
      <p:pic>
        <p:nvPicPr>
          <p:cNvPr id="4" name="Picture 3">
            <a:extLst>
              <a:ext uri="{FF2B5EF4-FFF2-40B4-BE49-F238E27FC236}">
                <a16:creationId xmlns:a16="http://schemas.microsoft.com/office/drawing/2014/main" id="{11893902-3D48-4006-C826-570B2CF075C8}"/>
              </a:ext>
            </a:extLst>
          </p:cNvPr>
          <p:cNvPicPr>
            <a:picLocks noChangeAspect="1"/>
          </p:cNvPicPr>
          <p:nvPr/>
        </p:nvPicPr>
        <p:blipFill>
          <a:blip r:embed="rId2"/>
          <a:stretch>
            <a:fillRect/>
          </a:stretch>
        </p:blipFill>
        <p:spPr>
          <a:xfrm>
            <a:off x="457200" y="895350"/>
            <a:ext cx="8229600" cy="5810250"/>
          </a:xfrm>
          <a:prstGeom prst="rect">
            <a:avLst/>
          </a:prstGeom>
        </p:spPr>
      </p:pic>
    </p:spTree>
    <p:extLst>
      <p:ext uri="{BB962C8B-B14F-4D97-AF65-F5344CB8AC3E}">
        <p14:creationId xmlns:p14="http://schemas.microsoft.com/office/powerpoint/2010/main" val="2337757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2F46A5-F078-4BB1-4EDE-398CF6BF350E}"/>
              </a:ext>
            </a:extLst>
          </p:cNvPr>
          <p:cNvPicPr>
            <a:picLocks noChangeAspect="1"/>
          </p:cNvPicPr>
          <p:nvPr/>
        </p:nvPicPr>
        <p:blipFill>
          <a:blip r:embed="rId2"/>
          <a:stretch>
            <a:fillRect/>
          </a:stretch>
        </p:blipFill>
        <p:spPr>
          <a:xfrm>
            <a:off x="1223963" y="304800"/>
            <a:ext cx="6548437" cy="1514475"/>
          </a:xfrm>
          <a:prstGeom prst="rect">
            <a:avLst/>
          </a:prstGeom>
        </p:spPr>
      </p:pic>
      <p:pic>
        <p:nvPicPr>
          <p:cNvPr id="9" name="Picture 8">
            <a:extLst>
              <a:ext uri="{FF2B5EF4-FFF2-40B4-BE49-F238E27FC236}">
                <a16:creationId xmlns:a16="http://schemas.microsoft.com/office/drawing/2014/main" id="{E809668B-1FE0-3BAD-6F67-FA6F5B21552B}"/>
              </a:ext>
            </a:extLst>
          </p:cNvPr>
          <p:cNvPicPr>
            <a:picLocks noChangeAspect="1"/>
          </p:cNvPicPr>
          <p:nvPr/>
        </p:nvPicPr>
        <p:blipFill>
          <a:blip r:embed="rId3"/>
          <a:stretch>
            <a:fillRect/>
          </a:stretch>
        </p:blipFill>
        <p:spPr>
          <a:xfrm>
            <a:off x="457200" y="1895474"/>
            <a:ext cx="8148637" cy="4733926"/>
          </a:xfrm>
          <a:prstGeom prst="rect">
            <a:avLst/>
          </a:prstGeom>
        </p:spPr>
      </p:pic>
    </p:spTree>
    <p:extLst>
      <p:ext uri="{BB962C8B-B14F-4D97-AF65-F5344CB8AC3E}">
        <p14:creationId xmlns:p14="http://schemas.microsoft.com/office/powerpoint/2010/main" val="1924687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CEA9A3-C128-A3DB-F20A-901E4F2330AE}"/>
              </a:ext>
            </a:extLst>
          </p:cNvPr>
          <p:cNvPicPr>
            <a:picLocks noChangeAspect="1"/>
          </p:cNvPicPr>
          <p:nvPr/>
        </p:nvPicPr>
        <p:blipFill>
          <a:blip r:embed="rId2"/>
          <a:stretch>
            <a:fillRect/>
          </a:stretch>
        </p:blipFill>
        <p:spPr>
          <a:xfrm>
            <a:off x="295275" y="228600"/>
            <a:ext cx="3514725" cy="1219200"/>
          </a:xfrm>
          <a:prstGeom prst="rect">
            <a:avLst/>
          </a:prstGeom>
        </p:spPr>
      </p:pic>
      <p:pic>
        <p:nvPicPr>
          <p:cNvPr id="5" name="Picture 4">
            <a:extLst>
              <a:ext uri="{FF2B5EF4-FFF2-40B4-BE49-F238E27FC236}">
                <a16:creationId xmlns:a16="http://schemas.microsoft.com/office/drawing/2014/main" id="{587A45BD-9329-1B61-9FB7-5015B464CB27}"/>
              </a:ext>
            </a:extLst>
          </p:cNvPr>
          <p:cNvPicPr>
            <a:picLocks noChangeAspect="1"/>
          </p:cNvPicPr>
          <p:nvPr/>
        </p:nvPicPr>
        <p:blipFill>
          <a:blip r:embed="rId3"/>
          <a:stretch>
            <a:fillRect/>
          </a:stretch>
        </p:blipFill>
        <p:spPr>
          <a:xfrm>
            <a:off x="295275" y="1600200"/>
            <a:ext cx="8467725" cy="5029200"/>
          </a:xfrm>
          <a:prstGeom prst="rect">
            <a:avLst/>
          </a:prstGeom>
        </p:spPr>
      </p:pic>
    </p:spTree>
    <p:extLst>
      <p:ext uri="{BB962C8B-B14F-4D97-AF65-F5344CB8AC3E}">
        <p14:creationId xmlns:p14="http://schemas.microsoft.com/office/powerpoint/2010/main" val="2468629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826D44-6384-D150-9A2D-C9775AEE2D56}"/>
              </a:ext>
            </a:extLst>
          </p:cNvPr>
          <p:cNvPicPr>
            <a:picLocks noChangeAspect="1"/>
          </p:cNvPicPr>
          <p:nvPr/>
        </p:nvPicPr>
        <p:blipFill>
          <a:blip r:embed="rId2"/>
          <a:stretch>
            <a:fillRect/>
          </a:stretch>
        </p:blipFill>
        <p:spPr>
          <a:xfrm>
            <a:off x="457200" y="685800"/>
            <a:ext cx="8305800" cy="5486400"/>
          </a:xfrm>
          <a:prstGeom prst="rect">
            <a:avLst/>
          </a:prstGeom>
        </p:spPr>
      </p:pic>
    </p:spTree>
    <p:extLst>
      <p:ext uri="{BB962C8B-B14F-4D97-AF65-F5344CB8AC3E}">
        <p14:creationId xmlns:p14="http://schemas.microsoft.com/office/powerpoint/2010/main" val="2177176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F0A62-BE66-F04F-2946-C97ED569DE22}"/>
              </a:ext>
            </a:extLst>
          </p:cNvPr>
          <p:cNvSpPr txBox="1"/>
          <p:nvPr/>
        </p:nvSpPr>
        <p:spPr>
          <a:xfrm>
            <a:off x="533400" y="76200"/>
            <a:ext cx="8382000" cy="6555641"/>
          </a:xfrm>
          <a:prstGeom prst="rect">
            <a:avLst/>
          </a:prstGeom>
          <a:noFill/>
        </p:spPr>
        <p:txBody>
          <a:bodyPr wrap="square" rtlCol="0">
            <a:spAutoFit/>
          </a:bodyPr>
          <a:lstStyle/>
          <a:p>
            <a:pPr algn="ctr"/>
            <a:r>
              <a:rPr lang="en-IN" sz="2000" dirty="0">
                <a:solidFill>
                  <a:srgbClr val="FF0000"/>
                </a:solidFill>
                <a:latin typeface="Times New Roman" panose="02020603050405020304" pitchFamily="18" charset="0"/>
                <a:cs typeface="Times New Roman" panose="02020603050405020304" pitchFamily="18" charset="0"/>
              </a:rPr>
              <a:t>Key Points:</a:t>
            </a:r>
          </a:p>
          <a:p>
            <a:pPr algn="just"/>
            <a:endParaRPr lang="en-IN" sz="2000" dirty="0">
              <a:latin typeface="Times New Roman" panose="02020603050405020304" pitchFamily="18" charset="0"/>
              <a:cs typeface="Times New Roman" panose="02020603050405020304" pitchFamily="18" charset="0"/>
            </a:endParaRPr>
          </a:p>
          <a:p>
            <a:pPr marL="342900" indent="-342900" algn="just">
              <a:buAutoNum type="arabicPeriod"/>
            </a:pPr>
            <a:r>
              <a:rPr lang="en-IN" sz="2000" dirty="0">
                <a:latin typeface="Times New Roman" panose="02020603050405020304" pitchFamily="18" charset="0"/>
                <a:cs typeface="Times New Roman" panose="02020603050405020304" pitchFamily="18" charset="0"/>
              </a:rPr>
              <a:t>As allocation is </a:t>
            </a:r>
            <a:r>
              <a:rPr lang="en-IN" sz="2000" dirty="0">
                <a:solidFill>
                  <a:srgbClr val="0070C0"/>
                </a:solidFill>
                <a:latin typeface="Times New Roman" panose="02020603050405020304" pitchFamily="18" charset="0"/>
                <a:cs typeface="Times New Roman" panose="02020603050405020304" pitchFamily="18" charset="0"/>
              </a:rPr>
              <a:t>non-contiguous</a:t>
            </a:r>
            <a:r>
              <a:rPr lang="en-IN" sz="2000" dirty="0">
                <a:latin typeface="Times New Roman" panose="02020603050405020304" pitchFamily="18" charset="0"/>
                <a:cs typeface="Times New Roman" panose="02020603050405020304" pitchFamily="18" charset="0"/>
              </a:rPr>
              <a:t>, so just adding </a:t>
            </a:r>
            <a:r>
              <a:rPr lang="en-IN" sz="2000" dirty="0">
                <a:solidFill>
                  <a:srgbClr val="0070C0"/>
                </a:solidFill>
                <a:latin typeface="Times New Roman" panose="02020603050405020304" pitchFamily="18" charset="0"/>
                <a:cs typeface="Times New Roman" panose="02020603050405020304" pitchFamily="18" charset="0"/>
              </a:rPr>
              <a:t>offset would not</a:t>
            </a:r>
            <a:r>
              <a:rPr lang="en-IN" sz="2000" dirty="0">
                <a:latin typeface="Times New Roman" panose="02020603050405020304" pitchFamily="18" charset="0"/>
                <a:cs typeface="Times New Roman" panose="02020603050405020304" pitchFamily="18" charset="0"/>
              </a:rPr>
              <a:t> work.</a:t>
            </a:r>
          </a:p>
          <a:p>
            <a:pPr marL="342900" indent="-342900" algn="just">
              <a:buAutoNum type="arabicPeriod"/>
            </a:pPr>
            <a:endParaRPr lang="en-IN" sz="2000" dirty="0">
              <a:latin typeface="Times New Roman" panose="02020603050405020304" pitchFamily="18" charset="0"/>
              <a:cs typeface="Times New Roman" panose="02020603050405020304" pitchFamily="18" charset="0"/>
            </a:endParaRPr>
          </a:p>
          <a:p>
            <a:pPr marL="342900" indent="-342900" algn="just">
              <a:buAutoNum type="arabicPeriod"/>
            </a:pPr>
            <a:r>
              <a:rPr lang="en-IN" sz="2000" dirty="0">
                <a:latin typeface="Times New Roman" panose="02020603050405020304" pitchFamily="18" charset="0"/>
                <a:cs typeface="Times New Roman" panose="02020603050405020304" pitchFamily="18" charset="0"/>
              </a:rPr>
              <a:t>New </a:t>
            </a:r>
            <a:r>
              <a:rPr lang="en-IN" sz="2000" dirty="0">
                <a:solidFill>
                  <a:srgbClr val="0070C0"/>
                </a:solidFill>
                <a:latin typeface="Times New Roman" panose="02020603050405020304" pitchFamily="18" charset="0"/>
                <a:cs typeface="Times New Roman" panose="02020603050405020304" pitchFamily="18" charset="0"/>
              </a:rPr>
              <a:t>data structure </a:t>
            </a:r>
            <a:r>
              <a:rPr lang="en-IN" sz="2000" dirty="0">
                <a:latin typeface="Times New Roman" panose="02020603050405020304" pitchFamily="18" charset="0"/>
                <a:cs typeface="Times New Roman" panose="02020603050405020304" pitchFamily="18" charset="0"/>
              </a:rPr>
              <a:t>is maintained called </a:t>
            </a:r>
            <a:r>
              <a:rPr lang="en-IN" sz="2000" dirty="0">
                <a:solidFill>
                  <a:srgbClr val="0070C0"/>
                </a:solidFill>
                <a:latin typeface="Times New Roman" panose="02020603050405020304" pitchFamily="18" charset="0"/>
                <a:cs typeface="Times New Roman" panose="02020603050405020304" pitchFamily="18" charset="0"/>
              </a:rPr>
              <a:t>Page Table</a:t>
            </a:r>
            <a:r>
              <a:rPr lang="en-IN" sz="2000" dirty="0">
                <a:latin typeface="Times New Roman" panose="02020603050405020304" pitchFamily="18" charset="0"/>
                <a:cs typeface="Times New Roman" panose="02020603050405020304" pitchFamily="18" charset="0"/>
              </a:rPr>
              <a:t>. </a:t>
            </a:r>
          </a:p>
          <a:p>
            <a:pPr marL="342900" indent="-342900" algn="just">
              <a:buAutoNum type="arabicPeriod"/>
            </a:pPr>
            <a:endParaRPr lang="en-IN" sz="2000" dirty="0">
              <a:latin typeface="Times New Roman" panose="02020603050405020304" pitchFamily="18" charset="0"/>
              <a:cs typeface="Times New Roman" panose="02020603050405020304" pitchFamily="18" charset="0"/>
            </a:endParaRPr>
          </a:p>
          <a:p>
            <a:pPr marL="342900" indent="-342900" algn="just">
              <a:buAutoNum type="arabicPeriod"/>
            </a:pPr>
            <a:r>
              <a:rPr lang="en-IN" sz="2000" dirty="0">
                <a:latin typeface="Times New Roman" panose="02020603050405020304" pitchFamily="18" charset="0"/>
                <a:cs typeface="Times New Roman" panose="02020603050405020304" pitchFamily="18" charset="0"/>
              </a:rPr>
              <a:t>Entries of page table will be </a:t>
            </a:r>
            <a:r>
              <a:rPr lang="en-IN" sz="2000" dirty="0">
                <a:solidFill>
                  <a:srgbClr val="0070C0"/>
                </a:solidFill>
                <a:latin typeface="Times New Roman" panose="02020603050405020304" pitchFamily="18" charset="0"/>
                <a:cs typeface="Times New Roman" panose="02020603050405020304" pitchFamily="18" charset="0"/>
              </a:rPr>
              <a:t>equal to </a:t>
            </a:r>
            <a:r>
              <a:rPr lang="en-IN" sz="2000" dirty="0">
                <a:latin typeface="Times New Roman" panose="02020603050405020304" pitchFamily="18" charset="0"/>
                <a:cs typeface="Times New Roman" panose="02020603050405020304" pitchFamily="18" charset="0"/>
              </a:rPr>
              <a:t>number of pages a particular process is having inside secondary memory.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4. Alternate Technique (Page Table): Use link list where last point of page 1 contain address of page 2 and so on. Access time is slow (</a:t>
            </a:r>
            <a:r>
              <a:rPr lang="en-IN" sz="2000" dirty="0" err="1">
                <a:latin typeface="Times New Roman" panose="02020603050405020304" pitchFamily="18" charset="0"/>
                <a:cs typeface="Times New Roman" panose="02020603050405020304" pitchFamily="18" charset="0"/>
              </a:rPr>
              <a:t>e.g</a:t>
            </a:r>
            <a:r>
              <a:rPr lang="en-IN" sz="2000" dirty="0">
                <a:latin typeface="Times New Roman" panose="02020603050405020304" pitchFamily="18" charset="0"/>
                <a:cs typeface="Times New Roman" panose="02020603050405020304" pitchFamily="18" charset="0"/>
              </a:rPr>
              <a:t>, take 200 pages).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5. Page Table Base Register (</a:t>
            </a:r>
            <a:r>
              <a:rPr lang="en-IN" sz="2000" dirty="0">
                <a:solidFill>
                  <a:srgbClr val="0070C0"/>
                </a:solidFill>
                <a:latin typeface="Times New Roman" panose="02020603050405020304" pitchFamily="18" charset="0"/>
                <a:cs typeface="Times New Roman" panose="02020603050405020304" pitchFamily="18" charset="0"/>
              </a:rPr>
              <a:t>PTBR</a:t>
            </a:r>
            <a:r>
              <a:rPr lang="en-IN" sz="2000" dirty="0">
                <a:latin typeface="Times New Roman" panose="02020603050405020304" pitchFamily="18" charset="0"/>
                <a:cs typeface="Times New Roman" panose="02020603050405020304" pitchFamily="18" charset="0"/>
              </a:rPr>
              <a:t>) gives the base address of the page table and is stored in PCB.</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6. Each page table entry </a:t>
            </a:r>
            <a:r>
              <a:rPr lang="en-IN" sz="2000" dirty="0">
                <a:solidFill>
                  <a:srgbClr val="0070C0"/>
                </a:solidFill>
                <a:latin typeface="Times New Roman" panose="02020603050405020304" pitchFamily="18" charset="0"/>
                <a:cs typeface="Times New Roman" panose="02020603050405020304" pitchFamily="18" charset="0"/>
              </a:rPr>
              <a:t>remembers the offset </a:t>
            </a:r>
            <a:r>
              <a:rPr lang="en-IN" sz="2000" dirty="0">
                <a:latin typeface="Times New Roman" panose="02020603050405020304" pitchFamily="18" charset="0"/>
                <a:cs typeface="Times New Roman" panose="02020603050405020304" pitchFamily="18" charset="0"/>
              </a:rPr>
              <a:t>of every page of process.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7. Internal fragmentation still exists, however, external fragmentation is completely avoided.</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8. Main memory is accessed 2 times, so there is time complexity. </a:t>
            </a:r>
          </a:p>
        </p:txBody>
      </p:sp>
    </p:spTree>
    <p:extLst>
      <p:ext uri="{BB962C8B-B14F-4D97-AF65-F5344CB8AC3E}">
        <p14:creationId xmlns:p14="http://schemas.microsoft.com/office/powerpoint/2010/main" val="1046013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8CB427-3651-D998-FA63-C98C8847041B}"/>
              </a:ext>
            </a:extLst>
          </p:cNvPr>
          <p:cNvPicPr>
            <a:picLocks noChangeAspect="1"/>
          </p:cNvPicPr>
          <p:nvPr/>
        </p:nvPicPr>
        <p:blipFill>
          <a:blip r:embed="rId2"/>
          <a:stretch>
            <a:fillRect/>
          </a:stretch>
        </p:blipFill>
        <p:spPr>
          <a:xfrm>
            <a:off x="457201" y="762000"/>
            <a:ext cx="8381999" cy="4876799"/>
          </a:xfrm>
          <a:prstGeom prst="rect">
            <a:avLst/>
          </a:prstGeom>
        </p:spPr>
      </p:pic>
    </p:spTree>
    <p:extLst>
      <p:ext uri="{BB962C8B-B14F-4D97-AF65-F5344CB8AC3E}">
        <p14:creationId xmlns:p14="http://schemas.microsoft.com/office/powerpoint/2010/main" val="2899213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445232E-4C68-A072-DB71-0B0D1660F73E}"/>
                  </a:ext>
                </a:extLst>
              </p:cNvPr>
              <p:cNvSpPr>
                <a:spLocks noGrp="1"/>
              </p:cNvSpPr>
              <p:nvPr>
                <p:ph idx="1"/>
              </p:nvPr>
            </p:nvSpPr>
            <p:spPr>
              <a:xfrm>
                <a:off x="457200" y="914400"/>
                <a:ext cx="8382000" cy="5092891"/>
              </a:xfrm>
            </p:spPr>
            <p:txBody>
              <a:bodyPr>
                <a:noAutofit/>
              </a:bodyPr>
              <a:lstStyle/>
              <a:p>
                <a:pPr algn="just"/>
                <a:r>
                  <a:rPr lang="en-IN" sz="2000" dirty="0">
                    <a:latin typeface="Times New Roman" panose="02020603050405020304" pitchFamily="18" charset="0"/>
                    <a:cs typeface="Times New Roman" panose="02020603050405020304" pitchFamily="18" charset="0"/>
                  </a:rPr>
                  <a:t>Problem: If we have a memory of 64KB, Then how many bits are required for addressing?</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Solution: Let ‘n’ be the number of locations.</a:t>
                </a:r>
              </a:p>
              <a:p>
                <a:pPr algn="just"/>
                <a:r>
                  <a:rPr lang="en-IN" sz="2000" dirty="0">
                    <a:latin typeface="Times New Roman" panose="02020603050405020304" pitchFamily="18" charset="0"/>
                    <a:cs typeface="Times New Roman" panose="02020603050405020304" pitchFamily="18" charset="0"/>
                  </a:rPr>
                  <a:t>Size of each location  = 1 Byte (by default).</a:t>
                </a:r>
              </a:p>
              <a:p>
                <a:pPr algn="just"/>
                <a:r>
                  <a:rPr lang="en-IN" sz="2000" dirty="0">
                    <a:latin typeface="Times New Roman" panose="02020603050405020304" pitchFamily="18" charset="0"/>
                    <a:cs typeface="Times New Roman" panose="02020603050405020304" pitchFamily="18" charset="0"/>
                  </a:rPr>
                  <a:t>So memory size = n x size of each location = 64KB</a:t>
                </a:r>
              </a:p>
              <a:p>
                <a:pPr algn="just"/>
                <a:r>
                  <a:rPr lang="en-IN" sz="2000" dirty="0">
                    <a:latin typeface="Times New Roman" panose="02020603050405020304" pitchFamily="18" charset="0"/>
                    <a:cs typeface="Times New Roman" panose="02020603050405020304" pitchFamily="18" charset="0"/>
                  </a:rPr>
                  <a:t>n x 1B = 64 KB</a:t>
                </a:r>
              </a:p>
              <a:p>
                <a:pPr algn="just"/>
                <a:r>
                  <a:rPr lang="en-IN" sz="2000" dirty="0">
                    <a:latin typeface="Times New Roman" panose="02020603050405020304" pitchFamily="18" charset="0"/>
                    <a:cs typeface="Times New Roman" panose="02020603050405020304" pitchFamily="18" charset="0"/>
                  </a:rPr>
                  <a:t>n = 64K = </a:t>
                </a:r>
                <a14:m>
                  <m:oMath xmlns:m="http://schemas.openxmlformats.org/officeDocument/2006/math">
                    <m:sSup>
                      <m:sSupPr>
                        <m:ctrlPr>
                          <a:rPr lang="en-IN" sz="2000" i="1" smtClean="0">
                            <a:solidFill>
                              <a:srgbClr val="FF33CC"/>
                            </a:solidFill>
                            <a:latin typeface="Cambria Math" panose="02040503050406030204" pitchFamily="18" charset="0"/>
                            <a:cs typeface="Times New Roman" panose="02020603050405020304" pitchFamily="18" charset="0"/>
                          </a:rPr>
                        </m:ctrlPr>
                      </m:sSupPr>
                      <m:e>
                        <m:r>
                          <a:rPr lang="en-IN" sz="2000" b="0" i="1" smtClean="0">
                            <a:solidFill>
                              <a:srgbClr val="FF33CC"/>
                            </a:solidFill>
                            <a:latin typeface="Cambria Math" panose="02040503050406030204" pitchFamily="18" charset="0"/>
                            <a:cs typeface="Times New Roman" panose="02020603050405020304" pitchFamily="18" charset="0"/>
                          </a:rPr>
                          <m:t>2</m:t>
                        </m:r>
                      </m:e>
                      <m:sup>
                        <m:r>
                          <a:rPr lang="en-IN" sz="2000" b="0" i="1" smtClean="0">
                            <a:solidFill>
                              <a:srgbClr val="FF33CC"/>
                            </a:solidFill>
                            <a:latin typeface="Cambria Math" panose="02040503050406030204" pitchFamily="18" charset="0"/>
                            <a:cs typeface="Times New Roman" panose="02020603050405020304" pitchFamily="18" charset="0"/>
                          </a:rPr>
                          <m:t>16</m:t>
                        </m:r>
                      </m:sup>
                    </m:sSup>
                  </m:oMath>
                </a14:m>
                <a:endParaRPr lang="en-IN" sz="2000" dirty="0">
                  <a:solidFill>
                    <a:srgbClr val="FF33CC"/>
                  </a:solidFill>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So totally </a:t>
                </a:r>
                <a14:m>
                  <m:oMath xmlns:m="http://schemas.openxmlformats.org/officeDocument/2006/math">
                    <m:sSup>
                      <m:sSupPr>
                        <m:ctrlPr>
                          <a:rPr lang="en-IN" sz="2000" i="1" smtClean="0">
                            <a:solidFill>
                              <a:srgbClr val="FF33CC"/>
                            </a:solidFill>
                            <a:latin typeface="Cambria Math" panose="02040503050406030204" pitchFamily="18" charset="0"/>
                            <a:cs typeface="Times New Roman" panose="02020603050405020304" pitchFamily="18" charset="0"/>
                          </a:rPr>
                        </m:ctrlPr>
                      </m:sSupPr>
                      <m:e>
                        <m:r>
                          <a:rPr lang="en-IN" sz="2000" b="0" i="1" smtClean="0">
                            <a:solidFill>
                              <a:srgbClr val="FF33CC"/>
                            </a:solidFill>
                            <a:latin typeface="Cambria Math" panose="02040503050406030204" pitchFamily="18" charset="0"/>
                            <a:cs typeface="Times New Roman" panose="02020603050405020304" pitchFamily="18" charset="0"/>
                          </a:rPr>
                          <m:t>2</m:t>
                        </m:r>
                      </m:e>
                      <m:sup>
                        <m:r>
                          <a:rPr lang="en-IN" sz="2000" b="0" i="1" smtClean="0">
                            <a:solidFill>
                              <a:srgbClr val="FF33CC"/>
                            </a:solidFill>
                            <a:latin typeface="Cambria Math" panose="02040503050406030204" pitchFamily="18" charset="0"/>
                            <a:cs typeface="Times New Roman" panose="02020603050405020304" pitchFamily="18" charset="0"/>
                          </a:rPr>
                          <m:t>16</m:t>
                        </m:r>
                      </m:sup>
                    </m:sSup>
                  </m:oMath>
                </a14:m>
                <a:r>
                  <a:rPr lang="en-IN" sz="2000" dirty="0">
                    <a:latin typeface="Times New Roman" panose="02020603050405020304" pitchFamily="18" charset="0"/>
                    <a:cs typeface="Times New Roman" panose="02020603050405020304" pitchFamily="18" charset="0"/>
                  </a:rPr>
                  <a:t> locations are there.</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Now n bits generate </a:t>
                </a:r>
                <a14:m>
                  <m:oMath xmlns:m="http://schemas.openxmlformats.org/officeDocument/2006/math">
                    <m:sSup>
                      <m:sSupPr>
                        <m:ctrlPr>
                          <a:rPr lang="en-IN" sz="2000" i="1" smtClean="0">
                            <a:solidFill>
                              <a:srgbClr val="FF33CC"/>
                            </a:solidFill>
                            <a:latin typeface="Cambria Math" panose="02040503050406030204" pitchFamily="18" charset="0"/>
                            <a:cs typeface="Times New Roman" panose="02020603050405020304" pitchFamily="18" charset="0"/>
                          </a:rPr>
                        </m:ctrlPr>
                      </m:sSupPr>
                      <m:e>
                        <m:r>
                          <a:rPr lang="en-IN" sz="2000" b="0" i="1" smtClean="0">
                            <a:solidFill>
                              <a:srgbClr val="FF33CC"/>
                            </a:solidFill>
                            <a:latin typeface="Cambria Math" panose="02040503050406030204" pitchFamily="18" charset="0"/>
                            <a:cs typeface="Times New Roman" panose="02020603050405020304" pitchFamily="18" charset="0"/>
                          </a:rPr>
                          <m:t>2</m:t>
                        </m:r>
                      </m:e>
                      <m:sup>
                        <m:r>
                          <a:rPr lang="en-IN" sz="2000" b="0" i="1" smtClean="0">
                            <a:solidFill>
                              <a:srgbClr val="FF33CC"/>
                            </a:solidFill>
                            <a:latin typeface="Cambria Math" panose="02040503050406030204" pitchFamily="18" charset="0"/>
                            <a:cs typeface="Times New Roman" panose="02020603050405020304" pitchFamily="18" charset="0"/>
                          </a:rPr>
                          <m:t>𝑛</m:t>
                        </m:r>
                      </m:sup>
                    </m:sSup>
                  </m:oMath>
                </a14:m>
                <a:r>
                  <a:rPr lang="en-IN" sz="2000" dirty="0">
                    <a:latin typeface="Times New Roman" panose="02020603050405020304" pitchFamily="18" charset="0"/>
                    <a:cs typeface="Times New Roman" panose="02020603050405020304" pitchFamily="18" charset="0"/>
                  </a:rPr>
                  <a:t> locations</a:t>
                </a:r>
              </a:p>
              <a:p>
                <a:pPr algn="just"/>
                <a:r>
                  <a:rPr lang="en-IN" sz="2000" dirty="0">
                    <a:latin typeface="Times New Roman" panose="02020603050405020304" pitchFamily="18" charset="0"/>
                    <a:cs typeface="Times New Roman" panose="02020603050405020304" pitchFamily="18" charset="0"/>
                  </a:rPr>
                  <a:t>So, 16 bits are needed to generate </a:t>
                </a:r>
                <a14:m>
                  <m:oMath xmlns:m="http://schemas.openxmlformats.org/officeDocument/2006/math">
                    <m:sSup>
                      <m:sSupPr>
                        <m:ctrlPr>
                          <a:rPr lang="en-IN" sz="2000" i="1" smtClean="0">
                            <a:solidFill>
                              <a:srgbClr val="FF33CC"/>
                            </a:solidFill>
                            <a:latin typeface="Cambria Math" panose="02040503050406030204" pitchFamily="18" charset="0"/>
                            <a:cs typeface="Times New Roman" panose="02020603050405020304" pitchFamily="18" charset="0"/>
                          </a:rPr>
                        </m:ctrlPr>
                      </m:sSupPr>
                      <m:e>
                        <m:r>
                          <a:rPr lang="en-IN" sz="2000" b="0" i="1" smtClean="0">
                            <a:solidFill>
                              <a:srgbClr val="FF33CC"/>
                            </a:solidFill>
                            <a:latin typeface="Cambria Math" panose="02040503050406030204" pitchFamily="18" charset="0"/>
                            <a:cs typeface="Times New Roman" panose="02020603050405020304" pitchFamily="18" charset="0"/>
                          </a:rPr>
                          <m:t>2</m:t>
                        </m:r>
                      </m:e>
                      <m:sup>
                        <m:r>
                          <a:rPr lang="en-IN" sz="2000" b="0" i="1" smtClean="0">
                            <a:solidFill>
                              <a:srgbClr val="FF33CC"/>
                            </a:solidFill>
                            <a:latin typeface="Cambria Math" panose="02040503050406030204" pitchFamily="18" charset="0"/>
                            <a:cs typeface="Times New Roman" panose="02020603050405020304" pitchFamily="18" charset="0"/>
                          </a:rPr>
                          <m:t>16</m:t>
                        </m:r>
                      </m:sup>
                    </m:sSup>
                  </m:oMath>
                </a14:m>
                <a:r>
                  <a:rPr lang="en-IN" sz="2000" dirty="0">
                    <a:latin typeface="Times New Roman" panose="02020603050405020304" pitchFamily="18" charset="0"/>
                    <a:cs typeface="Times New Roman" panose="02020603050405020304" pitchFamily="18" charset="0"/>
                  </a:rPr>
                  <a:t> addresses.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Problem 2: How many bits are required for 32KB (1 Byte addressable), 256MB (1 Byte addressable), and 16GB (4 Byte addressable)?</a:t>
                </a:r>
              </a:p>
            </p:txBody>
          </p:sp>
        </mc:Choice>
        <mc:Fallback xmlns="">
          <p:sp>
            <p:nvSpPr>
              <p:cNvPr id="2" name="Content Placeholder 1">
                <a:extLst>
                  <a:ext uri="{FF2B5EF4-FFF2-40B4-BE49-F238E27FC236}">
                    <a16:creationId xmlns:a16="http://schemas.microsoft.com/office/drawing/2014/main" id="{9445232E-4C68-A072-DB71-0B0D1660F73E}"/>
                  </a:ext>
                </a:extLst>
              </p:cNvPr>
              <p:cNvSpPr>
                <a:spLocks noGrp="1" noRot="1" noChangeAspect="1" noMove="1" noResize="1" noEditPoints="1" noAdjustHandles="1" noChangeArrowheads="1" noChangeShapeType="1" noTextEdit="1"/>
              </p:cNvSpPr>
              <p:nvPr>
                <p:ph idx="1"/>
              </p:nvPr>
            </p:nvSpPr>
            <p:spPr>
              <a:xfrm>
                <a:off x="457200" y="914400"/>
                <a:ext cx="8382000" cy="5092891"/>
              </a:xfrm>
              <a:blipFill>
                <a:blip r:embed="rId2"/>
                <a:stretch>
                  <a:fillRect t="-599" r="-727" b="-5749"/>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FF5998FE-FCD0-2D57-D800-3B403675B986}"/>
              </a:ext>
            </a:extLst>
          </p:cNvPr>
          <p:cNvSpPr>
            <a:spLocks noGrp="1"/>
          </p:cNvSpPr>
          <p:nvPr>
            <p:ph type="title"/>
          </p:nvPr>
        </p:nvSpPr>
        <p:spPr>
          <a:xfrm>
            <a:off x="457200" y="274638"/>
            <a:ext cx="8229600" cy="411162"/>
          </a:xfrm>
        </p:spPr>
        <p:txBody>
          <a:bodyPr>
            <a:normAutofit fontScale="90000"/>
          </a:bodyPr>
          <a:lstStyle/>
          <a:p>
            <a:r>
              <a:rPr lang="en-IN" dirty="0"/>
              <a:t>Number of Bits for addressing?</a:t>
            </a:r>
          </a:p>
        </p:txBody>
      </p:sp>
    </p:spTree>
    <p:extLst>
      <p:ext uri="{BB962C8B-B14F-4D97-AF65-F5344CB8AC3E}">
        <p14:creationId xmlns:p14="http://schemas.microsoft.com/office/powerpoint/2010/main" val="1462792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9903DB-4190-67C0-F5A2-C2F228688B46}"/>
              </a:ext>
            </a:extLst>
          </p:cNvPr>
          <p:cNvPicPr>
            <a:picLocks noChangeAspect="1"/>
          </p:cNvPicPr>
          <p:nvPr/>
        </p:nvPicPr>
        <p:blipFill>
          <a:blip r:embed="rId2"/>
          <a:stretch>
            <a:fillRect/>
          </a:stretch>
        </p:blipFill>
        <p:spPr>
          <a:xfrm>
            <a:off x="609600" y="457200"/>
            <a:ext cx="8001000" cy="5415303"/>
          </a:xfrm>
          <a:prstGeom prst="rect">
            <a:avLst/>
          </a:prstGeom>
        </p:spPr>
      </p:pic>
    </p:spTree>
    <p:extLst>
      <p:ext uri="{BB962C8B-B14F-4D97-AF65-F5344CB8AC3E}">
        <p14:creationId xmlns:p14="http://schemas.microsoft.com/office/powerpoint/2010/main" val="1265744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notebook with writing on it&#10;&#10;Description automatically generated">
            <a:extLst>
              <a:ext uri="{FF2B5EF4-FFF2-40B4-BE49-F238E27FC236}">
                <a16:creationId xmlns:a16="http://schemas.microsoft.com/office/drawing/2014/main" id="{FB7003DD-6A5F-13E3-E830-0E096A4C502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4800" y="152400"/>
            <a:ext cx="8686800" cy="6553200"/>
          </a:xfrm>
        </p:spPr>
      </p:pic>
    </p:spTree>
    <p:extLst>
      <p:ext uri="{BB962C8B-B14F-4D97-AF65-F5344CB8AC3E}">
        <p14:creationId xmlns:p14="http://schemas.microsoft.com/office/powerpoint/2010/main" val="2625337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white paper with black text and numbers&#10;&#10;Description automatically generated with medium confidence">
            <a:extLst>
              <a:ext uri="{FF2B5EF4-FFF2-40B4-BE49-F238E27FC236}">
                <a16:creationId xmlns:a16="http://schemas.microsoft.com/office/drawing/2014/main" id="{A741274A-11E0-2DEC-8E2A-95DB06F57D1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 y="381000"/>
            <a:ext cx="8763000" cy="5714999"/>
          </a:xfrm>
        </p:spPr>
      </p:pic>
    </p:spTree>
    <p:extLst>
      <p:ext uri="{BB962C8B-B14F-4D97-AF65-F5344CB8AC3E}">
        <p14:creationId xmlns:p14="http://schemas.microsoft.com/office/powerpoint/2010/main" val="3385864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9F4A99-49E4-975F-0137-731A6A4FC940}"/>
              </a:ext>
            </a:extLst>
          </p:cNvPr>
          <p:cNvPicPr>
            <a:picLocks noChangeAspect="1"/>
          </p:cNvPicPr>
          <p:nvPr/>
        </p:nvPicPr>
        <p:blipFill>
          <a:blip r:embed="rId2"/>
          <a:stretch>
            <a:fillRect/>
          </a:stretch>
        </p:blipFill>
        <p:spPr>
          <a:xfrm>
            <a:off x="457200" y="914400"/>
            <a:ext cx="8534400" cy="3352800"/>
          </a:xfrm>
          <a:prstGeom prst="rect">
            <a:avLst/>
          </a:prstGeom>
        </p:spPr>
      </p:pic>
    </p:spTree>
    <p:extLst>
      <p:ext uri="{BB962C8B-B14F-4D97-AF65-F5344CB8AC3E}">
        <p14:creationId xmlns:p14="http://schemas.microsoft.com/office/powerpoint/2010/main" val="3592478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07C2C7-1497-CBBE-EF80-3FBE92151713}"/>
              </a:ext>
            </a:extLst>
          </p:cNvPr>
          <p:cNvPicPr>
            <a:picLocks noChangeAspect="1"/>
          </p:cNvPicPr>
          <p:nvPr/>
        </p:nvPicPr>
        <p:blipFill>
          <a:blip r:embed="rId2"/>
          <a:stretch>
            <a:fillRect/>
          </a:stretch>
        </p:blipFill>
        <p:spPr>
          <a:xfrm>
            <a:off x="685800" y="381000"/>
            <a:ext cx="7543800" cy="5791200"/>
          </a:xfrm>
          <a:prstGeom prst="rect">
            <a:avLst/>
          </a:prstGeom>
        </p:spPr>
      </p:pic>
      <p:sp>
        <p:nvSpPr>
          <p:cNvPr id="4" name="TextBox 3">
            <a:extLst>
              <a:ext uri="{FF2B5EF4-FFF2-40B4-BE49-F238E27FC236}">
                <a16:creationId xmlns:a16="http://schemas.microsoft.com/office/drawing/2014/main" id="{12503C63-EE02-FEE6-3731-E5B5BA3E1D58}"/>
              </a:ext>
            </a:extLst>
          </p:cNvPr>
          <p:cNvSpPr txBox="1"/>
          <p:nvPr/>
        </p:nvSpPr>
        <p:spPr>
          <a:xfrm>
            <a:off x="1828800" y="5726668"/>
            <a:ext cx="1142999" cy="369332"/>
          </a:xfrm>
          <a:prstGeom prst="rect">
            <a:avLst/>
          </a:prstGeom>
          <a:noFill/>
        </p:spPr>
        <p:txBody>
          <a:bodyPr wrap="square" rtlCol="0">
            <a:spAutoFit/>
          </a:bodyPr>
          <a:lstStyle/>
          <a:p>
            <a:r>
              <a:rPr lang="en-IN" b="1" dirty="0">
                <a:solidFill>
                  <a:srgbClr val="FF33CC"/>
                </a:solidFill>
              </a:rPr>
              <a:t>= 4GB</a:t>
            </a:r>
          </a:p>
        </p:txBody>
      </p:sp>
    </p:spTree>
    <p:extLst>
      <p:ext uri="{BB962C8B-B14F-4D97-AF65-F5344CB8AC3E}">
        <p14:creationId xmlns:p14="http://schemas.microsoft.com/office/powerpoint/2010/main" val="3822405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C12A51-443C-875B-9980-E68C651F26F7}"/>
              </a:ext>
            </a:extLst>
          </p:cNvPr>
          <p:cNvPicPr>
            <a:picLocks noChangeAspect="1"/>
          </p:cNvPicPr>
          <p:nvPr/>
        </p:nvPicPr>
        <p:blipFill>
          <a:blip r:embed="rId2"/>
          <a:stretch>
            <a:fillRect/>
          </a:stretch>
        </p:blipFill>
        <p:spPr>
          <a:xfrm>
            <a:off x="304800" y="228600"/>
            <a:ext cx="3505200" cy="5029200"/>
          </a:xfrm>
          <a:prstGeom prst="rect">
            <a:avLst/>
          </a:prstGeom>
        </p:spPr>
      </p:pic>
      <p:pic>
        <p:nvPicPr>
          <p:cNvPr id="7" name="Picture 6">
            <a:extLst>
              <a:ext uri="{FF2B5EF4-FFF2-40B4-BE49-F238E27FC236}">
                <a16:creationId xmlns:a16="http://schemas.microsoft.com/office/drawing/2014/main" id="{1331226E-6D12-D52C-1A0B-B8DA89AF0D7E}"/>
              </a:ext>
            </a:extLst>
          </p:cNvPr>
          <p:cNvPicPr>
            <a:picLocks noChangeAspect="1"/>
          </p:cNvPicPr>
          <p:nvPr/>
        </p:nvPicPr>
        <p:blipFill>
          <a:blip r:embed="rId3"/>
          <a:stretch>
            <a:fillRect/>
          </a:stretch>
        </p:blipFill>
        <p:spPr>
          <a:xfrm>
            <a:off x="4572000" y="914400"/>
            <a:ext cx="4419600" cy="4343400"/>
          </a:xfrm>
          <a:prstGeom prst="rect">
            <a:avLst/>
          </a:prstGeom>
        </p:spPr>
      </p:pic>
    </p:spTree>
    <p:extLst>
      <p:ext uri="{BB962C8B-B14F-4D97-AF65-F5344CB8AC3E}">
        <p14:creationId xmlns:p14="http://schemas.microsoft.com/office/powerpoint/2010/main" val="290832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507DE4-6C9D-F9E1-6438-BC7F1BA55578}"/>
              </a:ext>
            </a:extLst>
          </p:cNvPr>
          <p:cNvSpPr>
            <a:spLocks noGrp="1"/>
          </p:cNvSpPr>
          <p:nvPr>
            <p:ph type="title"/>
          </p:nvPr>
        </p:nvSpPr>
        <p:spPr>
          <a:xfrm>
            <a:off x="457200" y="274638"/>
            <a:ext cx="8229600" cy="715962"/>
          </a:xfrm>
        </p:spPr>
        <p:txBody>
          <a:bodyPr>
            <a:normAutofit fontScale="90000"/>
          </a:bodyPr>
          <a:lstStyle/>
          <a:p>
            <a:r>
              <a:rPr lang="en-IN" dirty="0">
                <a:solidFill>
                  <a:srgbClr val="FF0000"/>
                </a:solidFill>
              </a:rPr>
              <a:t>Translation Look Aside Buffer</a:t>
            </a:r>
          </a:p>
        </p:txBody>
      </p:sp>
      <p:pic>
        <p:nvPicPr>
          <p:cNvPr id="5" name="Picture 4">
            <a:extLst>
              <a:ext uri="{FF2B5EF4-FFF2-40B4-BE49-F238E27FC236}">
                <a16:creationId xmlns:a16="http://schemas.microsoft.com/office/drawing/2014/main" id="{9D5F1BAD-2A7B-7AE0-EBD9-F8FD845C729D}"/>
              </a:ext>
            </a:extLst>
          </p:cNvPr>
          <p:cNvPicPr>
            <a:picLocks noChangeAspect="1"/>
          </p:cNvPicPr>
          <p:nvPr/>
        </p:nvPicPr>
        <p:blipFill>
          <a:blip r:embed="rId2"/>
          <a:stretch>
            <a:fillRect/>
          </a:stretch>
        </p:blipFill>
        <p:spPr>
          <a:xfrm>
            <a:off x="457200" y="1066800"/>
            <a:ext cx="6629400" cy="4038600"/>
          </a:xfrm>
          <a:prstGeom prst="rect">
            <a:avLst/>
          </a:prstGeom>
        </p:spPr>
      </p:pic>
      <p:pic>
        <p:nvPicPr>
          <p:cNvPr id="7" name="Picture 6">
            <a:extLst>
              <a:ext uri="{FF2B5EF4-FFF2-40B4-BE49-F238E27FC236}">
                <a16:creationId xmlns:a16="http://schemas.microsoft.com/office/drawing/2014/main" id="{55C5085E-04FB-2ECA-86C2-0BC8D9A9BEC0}"/>
              </a:ext>
            </a:extLst>
          </p:cNvPr>
          <p:cNvPicPr>
            <a:picLocks noChangeAspect="1"/>
          </p:cNvPicPr>
          <p:nvPr/>
        </p:nvPicPr>
        <p:blipFill>
          <a:blip r:embed="rId3"/>
          <a:stretch>
            <a:fillRect/>
          </a:stretch>
        </p:blipFill>
        <p:spPr>
          <a:xfrm>
            <a:off x="4953000" y="2362200"/>
            <a:ext cx="3458058" cy="4038600"/>
          </a:xfrm>
          <a:prstGeom prst="rect">
            <a:avLst/>
          </a:prstGeom>
        </p:spPr>
      </p:pic>
    </p:spTree>
    <p:extLst>
      <p:ext uri="{BB962C8B-B14F-4D97-AF65-F5344CB8AC3E}">
        <p14:creationId xmlns:p14="http://schemas.microsoft.com/office/powerpoint/2010/main" val="3511309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BEA918-AED7-81EC-AC55-970746808972}"/>
              </a:ext>
            </a:extLst>
          </p:cNvPr>
          <p:cNvPicPr>
            <a:picLocks noChangeAspect="1"/>
          </p:cNvPicPr>
          <p:nvPr/>
        </p:nvPicPr>
        <p:blipFill>
          <a:blip r:embed="rId2"/>
          <a:stretch>
            <a:fillRect/>
          </a:stretch>
        </p:blipFill>
        <p:spPr>
          <a:xfrm>
            <a:off x="457200" y="381000"/>
            <a:ext cx="8229600" cy="6095999"/>
          </a:xfrm>
          <a:prstGeom prst="rect">
            <a:avLst/>
          </a:prstGeom>
        </p:spPr>
      </p:pic>
    </p:spTree>
    <p:extLst>
      <p:ext uri="{BB962C8B-B14F-4D97-AF65-F5344CB8AC3E}">
        <p14:creationId xmlns:p14="http://schemas.microsoft.com/office/powerpoint/2010/main" val="2022568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B1CB1-53B8-8DF4-36CB-5D0F529CBDC3}"/>
              </a:ext>
            </a:extLst>
          </p:cNvPr>
          <p:cNvPicPr>
            <a:picLocks noChangeAspect="1"/>
          </p:cNvPicPr>
          <p:nvPr/>
        </p:nvPicPr>
        <p:blipFill>
          <a:blip r:embed="rId2"/>
          <a:stretch>
            <a:fillRect/>
          </a:stretch>
        </p:blipFill>
        <p:spPr>
          <a:xfrm>
            <a:off x="609600" y="304800"/>
            <a:ext cx="8229600" cy="6248400"/>
          </a:xfrm>
          <a:prstGeom prst="rect">
            <a:avLst/>
          </a:prstGeom>
        </p:spPr>
      </p:pic>
    </p:spTree>
    <p:extLst>
      <p:ext uri="{BB962C8B-B14F-4D97-AF65-F5344CB8AC3E}">
        <p14:creationId xmlns:p14="http://schemas.microsoft.com/office/powerpoint/2010/main" val="2924727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04A31B-19A2-98B0-1371-3DFBA1DE2012}"/>
              </a:ext>
            </a:extLst>
          </p:cNvPr>
          <p:cNvPicPr>
            <a:picLocks noChangeAspect="1"/>
          </p:cNvPicPr>
          <p:nvPr/>
        </p:nvPicPr>
        <p:blipFill>
          <a:blip r:embed="rId2"/>
          <a:stretch>
            <a:fillRect/>
          </a:stretch>
        </p:blipFill>
        <p:spPr>
          <a:xfrm>
            <a:off x="2209800" y="457200"/>
            <a:ext cx="5486400" cy="6248400"/>
          </a:xfrm>
          <a:prstGeom prst="rect">
            <a:avLst/>
          </a:prstGeom>
        </p:spPr>
      </p:pic>
    </p:spTree>
    <p:extLst>
      <p:ext uri="{BB962C8B-B14F-4D97-AF65-F5344CB8AC3E}">
        <p14:creationId xmlns:p14="http://schemas.microsoft.com/office/powerpoint/2010/main" val="412826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8515B8-8A06-72C6-4496-6DE9BFBC1705}"/>
              </a:ext>
            </a:extLst>
          </p:cNvPr>
          <p:cNvPicPr>
            <a:picLocks noChangeAspect="1"/>
          </p:cNvPicPr>
          <p:nvPr/>
        </p:nvPicPr>
        <p:blipFill>
          <a:blip r:embed="rId2"/>
          <a:stretch>
            <a:fillRect/>
          </a:stretch>
        </p:blipFill>
        <p:spPr>
          <a:xfrm>
            <a:off x="533400" y="457200"/>
            <a:ext cx="8229600" cy="5367672"/>
          </a:xfrm>
          <a:prstGeom prst="rect">
            <a:avLst/>
          </a:prstGeom>
        </p:spPr>
      </p:pic>
    </p:spTree>
    <p:extLst>
      <p:ext uri="{BB962C8B-B14F-4D97-AF65-F5344CB8AC3E}">
        <p14:creationId xmlns:p14="http://schemas.microsoft.com/office/powerpoint/2010/main" val="539345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FEAEA-3B11-7964-0C93-D0C789A6A769}"/>
              </a:ext>
            </a:extLst>
          </p:cNvPr>
          <p:cNvPicPr>
            <a:picLocks noChangeAspect="1"/>
          </p:cNvPicPr>
          <p:nvPr/>
        </p:nvPicPr>
        <p:blipFill>
          <a:blip r:embed="rId2"/>
          <a:stretch>
            <a:fillRect/>
          </a:stretch>
        </p:blipFill>
        <p:spPr>
          <a:xfrm>
            <a:off x="533400" y="381000"/>
            <a:ext cx="8001000" cy="6248400"/>
          </a:xfrm>
          <a:prstGeom prst="rect">
            <a:avLst/>
          </a:prstGeom>
        </p:spPr>
      </p:pic>
    </p:spTree>
    <p:extLst>
      <p:ext uri="{BB962C8B-B14F-4D97-AF65-F5344CB8AC3E}">
        <p14:creationId xmlns:p14="http://schemas.microsoft.com/office/powerpoint/2010/main" val="3635497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26F69B-F67E-4CA7-B174-5EBDC76F3FAA}"/>
              </a:ext>
            </a:extLst>
          </p:cNvPr>
          <p:cNvPicPr>
            <a:picLocks noChangeAspect="1"/>
          </p:cNvPicPr>
          <p:nvPr/>
        </p:nvPicPr>
        <p:blipFill>
          <a:blip r:embed="rId2"/>
          <a:stretch>
            <a:fillRect/>
          </a:stretch>
        </p:blipFill>
        <p:spPr>
          <a:xfrm>
            <a:off x="381000" y="457200"/>
            <a:ext cx="8305800" cy="6172200"/>
          </a:xfrm>
          <a:prstGeom prst="rect">
            <a:avLst/>
          </a:prstGeom>
        </p:spPr>
      </p:pic>
    </p:spTree>
    <p:extLst>
      <p:ext uri="{BB962C8B-B14F-4D97-AF65-F5344CB8AC3E}">
        <p14:creationId xmlns:p14="http://schemas.microsoft.com/office/powerpoint/2010/main" val="919829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9330D7-1B69-848C-A6DC-CD9E558E5250}"/>
              </a:ext>
            </a:extLst>
          </p:cNvPr>
          <p:cNvPicPr>
            <a:picLocks noChangeAspect="1"/>
          </p:cNvPicPr>
          <p:nvPr/>
        </p:nvPicPr>
        <p:blipFill>
          <a:blip r:embed="rId2"/>
          <a:stretch>
            <a:fillRect/>
          </a:stretch>
        </p:blipFill>
        <p:spPr>
          <a:xfrm>
            <a:off x="381000" y="533400"/>
            <a:ext cx="8153400" cy="5486400"/>
          </a:xfrm>
          <a:prstGeom prst="rect">
            <a:avLst/>
          </a:prstGeom>
        </p:spPr>
      </p:pic>
    </p:spTree>
    <p:extLst>
      <p:ext uri="{BB962C8B-B14F-4D97-AF65-F5344CB8AC3E}">
        <p14:creationId xmlns:p14="http://schemas.microsoft.com/office/powerpoint/2010/main" val="3205837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aper with math equations&#10;&#10;Description automatically generated">
            <a:extLst>
              <a:ext uri="{FF2B5EF4-FFF2-40B4-BE49-F238E27FC236}">
                <a16:creationId xmlns:a16="http://schemas.microsoft.com/office/drawing/2014/main" id="{059D7BED-E445-2C6B-2C3C-674610E4F2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228600"/>
            <a:ext cx="8382000" cy="6324600"/>
          </a:xfrm>
          <a:prstGeom prst="rect">
            <a:avLst/>
          </a:prstGeom>
        </p:spPr>
      </p:pic>
    </p:spTree>
    <p:extLst>
      <p:ext uri="{BB962C8B-B14F-4D97-AF65-F5344CB8AC3E}">
        <p14:creationId xmlns:p14="http://schemas.microsoft.com/office/powerpoint/2010/main" val="3141018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EF92F6-47E2-352A-94B0-193DD7AD84D2}"/>
              </a:ext>
            </a:extLst>
          </p:cNvPr>
          <p:cNvSpPr>
            <a:spLocks noGrp="1"/>
          </p:cNvSpPr>
          <p:nvPr>
            <p:ph idx="1"/>
          </p:nvPr>
        </p:nvSpPr>
        <p:spPr>
          <a:xfrm>
            <a:off x="304800" y="1166018"/>
            <a:ext cx="8229600" cy="5082382"/>
          </a:xfrm>
        </p:spPr>
        <p:txBody>
          <a:bodyPr>
            <a:normAutofit fontScale="92500" lnSpcReduction="20000"/>
          </a:bodyPr>
          <a:lstStyle/>
          <a:p>
            <a:pPr algn="just"/>
            <a:r>
              <a:rPr lang="en-IN" sz="3000" dirty="0">
                <a:solidFill>
                  <a:srgbClr val="FF0000"/>
                </a:solidFill>
                <a:latin typeface="Times New Roman" panose="02020603050405020304" pitchFamily="18" charset="0"/>
                <a:cs typeface="Times New Roman" panose="02020603050405020304" pitchFamily="18" charset="0"/>
              </a:rPr>
              <a:t>1. Caching Disabled: </a:t>
            </a:r>
            <a:r>
              <a:rPr lang="en-US" dirty="0">
                <a:latin typeface="Times New Roman" panose="02020603050405020304" pitchFamily="18" charset="0"/>
                <a:cs typeface="Times New Roman" panose="02020603050405020304" pitchFamily="18" charset="0"/>
              </a:rPr>
              <a:t>Operating system always wants CPU to access user's data as soon as possible. This bit is set to 1 if the cache is disabled.</a:t>
            </a:r>
          </a:p>
          <a:p>
            <a:pPr algn="just"/>
            <a:r>
              <a:rPr lang="en-US" dirty="0">
                <a:latin typeface="Times New Roman" panose="02020603050405020304" pitchFamily="18" charset="0"/>
                <a:cs typeface="Times New Roman" panose="02020603050405020304" pitchFamily="18" charset="0"/>
              </a:rPr>
              <a:t> </a:t>
            </a:r>
          </a:p>
          <a:p>
            <a:pPr algn="just"/>
            <a:r>
              <a:rPr lang="en-US" sz="3000" dirty="0">
                <a:solidFill>
                  <a:srgbClr val="FF0000"/>
                </a:solidFill>
                <a:latin typeface="Times New Roman" panose="02020603050405020304" pitchFamily="18" charset="0"/>
                <a:cs typeface="Times New Roman" panose="02020603050405020304" pitchFamily="18" charset="0"/>
              </a:rPr>
              <a:t>2. Referenced: </a:t>
            </a:r>
            <a:r>
              <a:rPr lang="en-US" dirty="0">
                <a:latin typeface="Times New Roman" panose="02020603050405020304" pitchFamily="18" charset="0"/>
                <a:cs typeface="Times New Roman" panose="02020603050405020304" pitchFamily="18" charset="0"/>
              </a:rPr>
              <a:t>This bit is set to 1 if the page is referred in the last clock cycle otherwise it remains 0.</a:t>
            </a:r>
          </a:p>
          <a:p>
            <a:pPr algn="just"/>
            <a:endParaRPr lang="en-US" dirty="0">
              <a:latin typeface="Times New Roman" panose="02020603050405020304" pitchFamily="18" charset="0"/>
              <a:cs typeface="Times New Roman" panose="02020603050405020304" pitchFamily="18" charset="0"/>
            </a:endParaRPr>
          </a:p>
          <a:p>
            <a:pPr algn="just"/>
            <a:r>
              <a:rPr lang="en-US" sz="3500" dirty="0">
                <a:solidFill>
                  <a:srgbClr val="FF0000"/>
                </a:solidFill>
                <a:latin typeface="Times New Roman" panose="02020603050405020304" pitchFamily="18" charset="0"/>
                <a:cs typeface="Times New Roman" panose="02020603050405020304" pitchFamily="18" charset="0"/>
              </a:rPr>
              <a:t>3. Modified: </a:t>
            </a:r>
            <a:r>
              <a:rPr lang="en-US" dirty="0">
                <a:latin typeface="Times New Roman" panose="02020603050405020304" pitchFamily="18" charset="0"/>
                <a:cs typeface="Times New Roman" panose="02020603050405020304" pitchFamily="18" charset="0"/>
              </a:rPr>
              <a:t>This bit will be set if the page has been modified otherwise it remains 0.</a:t>
            </a:r>
          </a:p>
          <a:p>
            <a:pPr algn="just"/>
            <a:endParaRPr lang="en-US" sz="3000" dirty="0">
              <a:latin typeface="Times New Roman" panose="02020603050405020304" pitchFamily="18" charset="0"/>
              <a:cs typeface="Times New Roman" panose="02020603050405020304" pitchFamily="18" charset="0"/>
            </a:endParaRPr>
          </a:p>
          <a:p>
            <a:pPr algn="just"/>
            <a:r>
              <a:rPr lang="en-US" sz="3000" dirty="0">
                <a:solidFill>
                  <a:srgbClr val="FF0000"/>
                </a:solidFill>
                <a:latin typeface="Times New Roman" panose="02020603050405020304" pitchFamily="18" charset="0"/>
                <a:cs typeface="Times New Roman" panose="02020603050405020304" pitchFamily="18" charset="0"/>
              </a:rPr>
              <a:t>4. Protection: </a:t>
            </a:r>
            <a:r>
              <a:rPr lang="en-US" dirty="0">
                <a:latin typeface="Times New Roman" panose="02020603050405020304" pitchFamily="18" charset="0"/>
                <a:cs typeface="Times New Roman" panose="02020603050405020304" pitchFamily="18" charset="0"/>
              </a:rPr>
              <a:t>The protection field represents the protection level which is applied on the page. It can be read only or read &amp; write or execute. We need to remember that it is not a bit rather it is a field which contains many bits.</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Page Table Entry</a:t>
            </a:r>
          </a:p>
        </p:txBody>
      </p:sp>
    </p:spTree>
    <p:extLst>
      <p:ext uri="{BB962C8B-B14F-4D97-AF65-F5344CB8AC3E}">
        <p14:creationId xmlns:p14="http://schemas.microsoft.com/office/powerpoint/2010/main" val="1892190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EF92F6-47E2-352A-94B0-193DD7AD84D2}"/>
              </a:ext>
            </a:extLst>
          </p:cNvPr>
          <p:cNvSpPr>
            <a:spLocks noGrp="1"/>
          </p:cNvSpPr>
          <p:nvPr>
            <p:ph idx="1"/>
          </p:nvPr>
        </p:nvSpPr>
        <p:spPr>
          <a:xfrm>
            <a:off x="304800" y="1166018"/>
            <a:ext cx="8229600" cy="5082382"/>
          </a:xfrm>
        </p:spPr>
        <p:txBody>
          <a:bodyPr>
            <a:normAutofit/>
          </a:bodyPr>
          <a:lstStyle/>
          <a:p>
            <a:pPr algn="just"/>
            <a:r>
              <a:rPr lang="en-IN" sz="2800" dirty="0">
                <a:solidFill>
                  <a:srgbClr val="FF0000"/>
                </a:solidFill>
                <a:latin typeface="Times New Roman" panose="02020603050405020304" pitchFamily="18" charset="0"/>
                <a:cs typeface="Times New Roman" panose="02020603050405020304" pitchFamily="18" charset="0"/>
              </a:rPr>
              <a:t>5. Present/Absent: </a:t>
            </a:r>
            <a:r>
              <a:rPr lang="en-US" sz="2400" dirty="0">
                <a:latin typeface="Times New Roman" panose="02020603050405020304" pitchFamily="18" charset="0"/>
                <a:cs typeface="Times New Roman" panose="02020603050405020304" pitchFamily="18" charset="0"/>
              </a:rPr>
              <a:t>In the concept of demand paging, all the pages doesn't need to be present in the main memory Therefore, for all the pages that are present in the main memory, this bit will be set to 1 and the bit will be 0 for all the pages which are absent.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some page is not present in the main memory then it is called “</a:t>
            </a:r>
            <a:r>
              <a:rPr lang="en-US" sz="2400" dirty="0">
                <a:solidFill>
                  <a:srgbClr val="FF0000"/>
                </a:solidFill>
                <a:latin typeface="Times New Roman" panose="02020603050405020304" pitchFamily="18" charset="0"/>
                <a:cs typeface="Times New Roman" panose="02020603050405020304" pitchFamily="18" charset="0"/>
              </a:rPr>
              <a:t>PAGE FAULT</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Page Table Entry</a:t>
            </a:r>
          </a:p>
        </p:txBody>
      </p:sp>
      <p:pic>
        <p:nvPicPr>
          <p:cNvPr id="5" name="Picture 4">
            <a:extLst>
              <a:ext uri="{FF2B5EF4-FFF2-40B4-BE49-F238E27FC236}">
                <a16:creationId xmlns:a16="http://schemas.microsoft.com/office/drawing/2014/main" id="{F84331A9-DF5A-0DFC-5C62-70C1C4C098FF}"/>
              </a:ext>
            </a:extLst>
          </p:cNvPr>
          <p:cNvPicPr>
            <a:picLocks noChangeAspect="1"/>
          </p:cNvPicPr>
          <p:nvPr/>
        </p:nvPicPr>
        <p:blipFill>
          <a:blip r:embed="rId2"/>
          <a:stretch>
            <a:fillRect/>
          </a:stretch>
        </p:blipFill>
        <p:spPr>
          <a:xfrm>
            <a:off x="990600" y="4495800"/>
            <a:ext cx="7543800" cy="2067909"/>
          </a:xfrm>
          <a:prstGeom prst="rect">
            <a:avLst/>
          </a:prstGeom>
        </p:spPr>
      </p:pic>
    </p:spTree>
    <p:extLst>
      <p:ext uri="{BB962C8B-B14F-4D97-AF65-F5344CB8AC3E}">
        <p14:creationId xmlns:p14="http://schemas.microsoft.com/office/powerpoint/2010/main" val="818084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Optimal Page Size</a:t>
            </a:r>
          </a:p>
        </p:txBody>
      </p:sp>
      <p:pic>
        <p:nvPicPr>
          <p:cNvPr id="6" name="Picture 5">
            <a:extLst>
              <a:ext uri="{FF2B5EF4-FFF2-40B4-BE49-F238E27FC236}">
                <a16:creationId xmlns:a16="http://schemas.microsoft.com/office/drawing/2014/main" id="{C235C710-9528-D2FE-ED41-65884AB4097F}"/>
              </a:ext>
            </a:extLst>
          </p:cNvPr>
          <p:cNvPicPr>
            <a:picLocks noChangeAspect="1"/>
          </p:cNvPicPr>
          <p:nvPr/>
        </p:nvPicPr>
        <p:blipFill>
          <a:blip r:embed="rId2"/>
          <a:stretch>
            <a:fillRect/>
          </a:stretch>
        </p:blipFill>
        <p:spPr>
          <a:xfrm>
            <a:off x="457200" y="1066800"/>
            <a:ext cx="8229600" cy="5410199"/>
          </a:xfrm>
          <a:prstGeom prst="rect">
            <a:avLst/>
          </a:prstGeom>
        </p:spPr>
      </p:pic>
    </p:spTree>
    <p:extLst>
      <p:ext uri="{BB962C8B-B14F-4D97-AF65-F5344CB8AC3E}">
        <p14:creationId xmlns:p14="http://schemas.microsoft.com/office/powerpoint/2010/main" val="3610572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Optimal Page Size</a:t>
            </a:r>
          </a:p>
        </p:txBody>
      </p:sp>
      <p:pic>
        <p:nvPicPr>
          <p:cNvPr id="4" name="Picture 3">
            <a:extLst>
              <a:ext uri="{FF2B5EF4-FFF2-40B4-BE49-F238E27FC236}">
                <a16:creationId xmlns:a16="http://schemas.microsoft.com/office/drawing/2014/main" id="{9F4F22F6-58A9-B450-286C-1DAD70ECC7CF}"/>
              </a:ext>
            </a:extLst>
          </p:cNvPr>
          <p:cNvPicPr>
            <a:picLocks noChangeAspect="1"/>
          </p:cNvPicPr>
          <p:nvPr/>
        </p:nvPicPr>
        <p:blipFill>
          <a:blip r:embed="rId2"/>
          <a:stretch>
            <a:fillRect/>
          </a:stretch>
        </p:blipFill>
        <p:spPr>
          <a:xfrm>
            <a:off x="381000" y="1143000"/>
            <a:ext cx="7663368" cy="1238306"/>
          </a:xfrm>
          <a:prstGeom prst="rect">
            <a:avLst/>
          </a:prstGeom>
        </p:spPr>
      </p:pic>
      <p:pic>
        <p:nvPicPr>
          <p:cNvPr id="7" name="Picture 6">
            <a:extLst>
              <a:ext uri="{FF2B5EF4-FFF2-40B4-BE49-F238E27FC236}">
                <a16:creationId xmlns:a16="http://schemas.microsoft.com/office/drawing/2014/main" id="{BF1246B4-78A2-5D68-7A15-C6ADDD00463C}"/>
              </a:ext>
            </a:extLst>
          </p:cNvPr>
          <p:cNvPicPr>
            <a:picLocks noChangeAspect="1"/>
          </p:cNvPicPr>
          <p:nvPr/>
        </p:nvPicPr>
        <p:blipFill>
          <a:blip r:embed="rId3"/>
          <a:stretch>
            <a:fillRect/>
          </a:stretch>
        </p:blipFill>
        <p:spPr>
          <a:xfrm>
            <a:off x="152400" y="3109559"/>
            <a:ext cx="3124200" cy="1551618"/>
          </a:xfrm>
          <a:prstGeom prst="rect">
            <a:avLst/>
          </a:prstGeom>
        </p:spPr>
      </p:pic>
      <p:sp>
        <p:nvSpPr>
          <p:cNvPr id="8" name="TextBox 7">
            <a:extLst>
              <a:ext uri="{FF2B5EF4-FFF2-40B4-BE49-F238E27FC236}">
                <a16:creationId xmlns:a16="http://schemas.microsoft.com/office/drawing/2014/main" id="{25F2F5A3-D835-639C-293E-EBA6E8458553}"/>
              </a:ext>
            </a:extLst>
          </p:cNvPr>
          <p:cNvSpPr txBox="1"/>
          <p:nvPr/>
        </p:nvSpPr>
        <p:spPr>
          <a:xfrm>
            <a:off x="474056" y="2514600"/>
            <a:ext cx="1507144" cy="461665"/>
          </a:xfrm>
          <a:prstGeom prst="rect">
            <a:avLst/>
          </a:prstGeom>
          <a:noFill/>
        </p:spPr>
        <p:txBody>
          <a:bodyPr wrap="non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In general:</a:t>
            </a:r>
          </a:p>
        </p:txBody>
      </p:sp>
      <p:pic>
        <p:nvPicPr>
          <p:cNvPr id="10" name="Picture 9">
            <a:extLst>
              <a:ext uri="{FF2B5EF4-FFF2-40B4-BE49-F238E27FC236}">
                <a16:creationId xmlns:a16="http://schemas.microsoft.com/office/drawing/2014/main" id="{68EBE44F-1A00-F18E-83BF-377FE4AF8A29}"/>
              </a:ext>
            </a:extLst>
          </p:cNvPr>
          <p:cNvPicPr>
            <a:picLocks noChangeAspect="1"/>
          </p:cNvPicPr>
          <p:nvPr/>
        </p:nvPicPr>
        <p:blipFill>
          <a:blip r:embed="rId4"/>
          <a:stretch>
            <a:fillRect/>
          </a:stretch>
        </p:blipFill>
        <p:spPr>
          <a:xfrm>
            <a:off x="3429000" y="3581400"/>
            <a:ext cx="5410200" cy="3001962"/>
          </a:xfrm>
          <a:prstGeom prst="rect">
            <a:avLst/>
          </a:prstGeom>
        </p:spPr>
      </p:pic>
    </p:spTree>
    <p:extLst>
      <p:ext uri="{BB962C8B-B14F-4D97-AF65-F5344CB8AC3E}">
        <p14:creationId xmlns:p14="http://schemas.microsoft.com/office/powerpoint/2010/main" val="110194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Virtual Memory</a:t>
            </a:r>
          </a:p>
        </p:txBody>
      </p:sp>
      <p:pic>
        <p:nvPicPr>
          <p:cNvPr id="5" name="Picture 4">
            <a:extLst>
              <a:ext uri="{FF2B5EF4-FFF2-40B4-BE49-F238E27FC236}">
                <a16:creationId xmlns:a16="http://schemas.microsoft.com/office/drawing/2014/main" id="{CEC485CC-FB6E-F362-9387-8C4FA6019F27}"/>
              </a:ext>
            </a:extLst>
          </p:cNvPr>
          <p:cNvPicPr>
            <a:picLocks noChangeAspect="1"/>
          </p:cNvPicPr>
          <p:nvPr/>
        </p:nvPicPr>
        <p:blipFill>
          <a:blip r:embed="rId2"/>
          <a:stretch>
            <a:fillRect/>
          </a:stretch>
        </p:blipFill>
        <p:spPr>
          <a:xfrm>
            <a:off x="304800" y="1371600"/>
            <a:ext cx="8382000" cy="3886200"/>
          </a:xfrm>
          <a:prstGeom prst="rect">
            <a:avLst/>
          </a:prstGeom>
        </p:spPr>
      </p:pic>
    </p:spTree>
    <p:extLst>
      <p:ext uri="{BB962C8B-B14F-4D97-AF65-F5344CB8AC3E}">
        <p14:creationId xmlns:p14="http://schemas.microsoft.com/office/powerpoint/2010/main" val="2341697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88C270-FD19-72D0-8786-F04B99508FEA}"/>
              </a:ext>
            </a:extLst>
          </p:cNvPr>
          <p:cNvPicPr>
            <a:picLocks noChangeAspect="1"/>
          </p:cNvPicPr>
          <p:nvPr/>
        </p:nvPicPr>
        <p:blipFill>
          <a:blip r:embed="rId2"/>
          <a:stretch>
            <a:fillRect/>
          </a:stretch>
        </p:blipFill>
        <p:spPr>
          <a:xfrm>
            <a:off x="304800" y="457200"/>
            <a:ext cx="8534400" cy="6126162"/>
          </a:xfrm>
          <a:prstGeom prst="rect">
            <a:avLst/>
          </a:prstGeom>
        </p:spPr>
      </p:pic>
    </p:spTree>
    <p:extLst>
      <p:ext uri="{BB962C8B-B14F-4D97-AF65-F5344CB8AC3E}">
        <p14:creationId xmlns:p14="http://schemas.microsoft.com/office/powerpoint/2010/main" val="2751746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Virtual Memory</a:t>
            </a:r>
          </a:p>
        </p:txBody>
      </p:sp>
      <p:pic>
        <p:nvPicPr>
          <p:cNvPr id="4" name="Picture 3">
            <a:extLst>
              <a:ext uri="{FF2B5EF4-FFF2-40B4-BE49-F238E27FC236}">
                <a16:creationId xmlns:a16="http://schemas.microsoft.com/office/drawing/2014/main" id="{F696D7DA-4744-32D0-8450-EF8B470F19B7}"/>
              </a:ext>
            </a:extLst>
          </p:cNvPr>
          <p:cNvPicPr>
            <a:picLocks noChangeAspect="1"/>
          </p:cNvPicPr>
          <p:nvPr/>
        </p:nvPicPr>
        <p:blipFill>
          <a:blip r:embed="rId2"/>
          <a:stretch>
            <a:fillRect/>
          </a:stretch>
        </p:blipFill>
        <p:spPr>
          <a:xfrm>
            <a:off x="457200" y="1219200"/>
            <a:ext cx="8305800" cy="5364162"/>
          </a:xfrm>
          <a:prstGeom prst="rect">
            <a:avLst/>
          </a:prstGeom>
        </p:spPr>
      </p:pic>
    </p:spTree>
    <p:extLst>
      <p:ext uri="{BB962C8B-B14F-4D97-AF65-F5344CB8AC3E}">
        <p14:creationId xmlns:p14="http://schemas.microsoft.com/office/powerpoint/2010/main" val="1188987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Virtual Memory</a:t>
            </a:r>
          </a:p>
        </p:txBody>
      </p:sp>
      <p:pic>
        <p:nvPicPr>
          <p:cNvPr id="5" name="Picture 4">
            <a:extLst>
              <a:ext uri="{FF2B5EF4-FFF2-40B4-BE49-F238E27FC236}">
                <a16:creationId xmlns:a16="http://schemas.microsoft.com/office/drawing/2014/main" id="{52095697-A28D-653C-E682-971BC1B33CA7}"/>
              </a:ext>
            </a:extLst>
          </p:cNvPr>
          <p:cNvPicPr>
            <a:picLocks noChangeAspect="1"/>
          </p:cNvPicPr>
          <p:nvPr/>
        </p:nvPicPr>
        <p:blipFill>
          <a:blip r:embed="rId2"/>
          <a:stretch>
            <a:fillRect/>
          </a:stretch>
        </p:blipFill>
        <p:spPr>
          <a:xfrm>
            <a:off x="838200" y="1371601"/>
            <a:ext cx="7696200" cy="4419599"/>
          </a:xfrm>
          <a:prstGeom prst="rect">
            <a:avLst/>
          </a:prstGeom>
        </p:spPr>
      </p:pic>
    </p:spTree>
    <p:extLst>
      <p:ext uri="{BB962C8B-B14F-4D97-AF65-F5344CB8AC3E}">
        <p14:creationId xmlns:p14="http://schemas.microsoft.com/office/powerpoint/2010/main" val="3289064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6860B3-F398-D014-5391-67373BF282B1}"/>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Demand Paging</a:t>
            </a:r>
          </a:p>
        </p:txBody>
      </p:sp>
      <p:pic>
        <p:nvPicPr>
          <p:cNvPr id="4" name="Picture 3">
            <a:extLst>
              <a:ext uri="{FF2B5EF4-FFF2-40B4-BE49-F238E27FC236}">
                <a16:creationId xmlns:a16="http://schemas.microsoft.com/office/drawing/2014/main" id="{AD0E652A-E67A-3965-4EFB-82C737321DFF}"/>
              </a:ext>
            </a:extLst>
          </p:cNvPr>
          <p:cNvPicPr>
            <a:picLocks noChangeAspect="1"/>
          </p:cNvPicPr>
          <p:nvPr/>
        </p:nvPicPr>
        <p:blipFill>
          <a:blip r:embed="rId2"/>
          <a:stretch>
            <a:fillRect/>
          </a:stretch>
        </p:blipFill>
        <p:spPr>
          <a:xfrm>
            <a:off x="304800" y="1066800"/>
            <a:ext cx="8382000" cy="4343400"/>
          </a:xfrm>
          <a:prstGeom prst="rect">
            <a:avLst/>
          </a:prstGeom>
        </p:spPr>
      </p:pic>
    </p:spTree>
    <p:extLst>
      <p:ext uri="{BB962C8B-B14F-4D97-AF65-F5344CB8AC3E}">
        <p14:creationId xmlns:p14="http://schemas.microsoft.com/office/powerpoint/2010/main" val="3118934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5ACFF8-1340-7BB7-D606-F9A04C9BB0F7}"/>
              </a:ext>
            </a:extLst>
          </p:cNvPr>
          <p:cNvPicPr>
            <a:picLocks noChangeAspect="1"/>
          </p:cNvPicPr>
          <p:nvPr/>
        </p:nvPicPr>
        <p:blipFill>
          <a:blip r:embed="rId2"/>
          <a:stretch>
            <a:fillRect/>
          </a:stretch>
        </p:blipFill>
        <p:spPr>
          <a:xfrm>
            <a:off x="304800" y="228600"/>
            <a:ext cx="8382000" cy="6248400"/>
          </a:xfrm>
          <a:prstGeom prst="rect">
            <a:avLst/>
          </a:prstGeom>
        </p:spPr>
      </p:pic>
    </p:spTree>
    <p:extLst>
      <p:ext uri="{BB962C8B-B14F-4D97-AF65-F5344CB8AC3E}">
        <p14:creationId xmlns:p14="http://schemas.microsoft.com/office/powerpoint/2010/main" val="4096477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AFF78-D291-8492-46D6-5D57BB9DEAD6}"/>
              </a:ext>
            </a:extLst>
          </p:cNvPr>
          <p:cNvPicPr>
            <a:picLocks noChangeAspect="1"/>
          </p:cNvPicPr>
          <p:nvPr/>
        </p:nvPicPr>
        <p:blipFill>
          <a:blip r:embed="rId2"/>
          <a:stretch>
            <a:fillRect/>
          </a:stretch>
        </p:blipFill>
        <p:spPr>
          <a:xfrm>
            <a:off x="533400" y="304800"/>
            <a:ext cx="7772399" cy="6324599"/>
          </a:xfrm>
          <a:prstGeom prst="rect">
            <a:avLst/>
          </a:prstGeom>
        </p:spPr>
      </p:pic>
    </p:spTree>
    <p:extLst>
      <p:ext uri="{BB962C8B-B14F-4D97-AF65-F5344CB8AC3E}">
        <p14:creationId xmlns:p14="http://schemas.microsoft.com/office/powerpoint/2010/main" val="29427035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s.jpg"/>
          <p:cNvPicPr>
            <a:picLocks noGrp="1" noChangeAspect="1"/>
          </p:cNvPicPr>
          <p:nvPr>
            <p:ph idx="1"/>
          </p:nvPr>
        </p:nvPicPr>
        <p:blipFill>
          <a:blip r:embed="rId2"/>
          <a:stretch>
            <a:fillRect/>
          </a:stretch>
        </p:blipFill>
        <p:spPr>
          <a:xfrm>
            <a:off x="609600" y="1219200"/>
            <a:ext cx="8001000" cy="3962400"/>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ownload.jpg"/>
          <p:cNvPicPr>
            <a:picLocks noGrp="1" noChangeAspect="1"/>
          </p:cNvPicPr>
          <p:nvPr>
            <p:ph idx="1"/>
          </p:nvPr>
        </p:nvPicPr>
        <p:blipFill>
          <a:blip r:embed="rId2"/>
          <a:stretch>
            <a:fillRect/>
          </a:stretch>
        </p:blipFill>
        <p:spPr>
          <a:xfrm>
            <a:off x="1676400" y="457200"/>
            <a:ext cx="5638800" cy="5486400"/>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9229</TotalTime>
  <Words>644</Words>
  <Application>Microsoft Office PowerPoint</Application>
  <PresentationFormat>On-screen Show (4:3)</PresentationFormat>
  <Paragraphs>78</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Cambria Math</vt:lpstr>
      <vt:lpstr>Lucida Sans Unicode</vt:lpstr>
      <vt:lpstr>Microsoft Sans Serif</vt:lpstr>
      <vt:lpstr>Times New Roman</vt:lpstr>
      <vt:lpstr>Verdana</vt:lpstr>
      <vt:lpstr>Wingdings 2</vt:lpstr>
      <vt:lpstr>Wingdings 3</vt:lpstr>
      <vt:lpstr>Concourse</vt:lpstr>
      <vt:lpstr>Memory Management</vt:lpstr>
      <vt:lpstr>OverLays</vt:lpstr>
      <vt:lpstr>OverLays</vt:lpstr>
      <vt:lpstr>OverLays</vt:lpstr>
      <vt:lpstr>OverLays</vt:lpstr>
      <vt:lpstr>Solve External Fragmentation</vt:lpstr>
      <vt:lpstr>Need for PAGING</vt:lpstr>
      <vt:lpstr>PAGING</vt:lpstr>
      <vt:lpstr>PAGING</vt:lpstr>
      <vt:lpstr>PowerPoint Presentation</vt:lpstr>
      <vt:lpstr>PowerPoint Presentation</vt:lpstr>
      <vt:lpstr>PowerPoint Presentation</vt:lpstr>
      <vt:lpstr>PowerPoint Presentation</vt:lpstr>
      <vt:lpstr>PowerPoint Presentation</vt:lpstr>
      <vt:lpstr>Number of Bits for addressing?</vt:lpstr>
      <vt:lpstr>PowerPoint Presentation</vt:lpstr>
      <vt:lpstr>PowerPoint Presentation</vt:lpstr>
      <vt:lpstr>PowerPoint Presentation</vt:lpstr>
      <vt:lpstr>PowerPoint Presentation</vt:lpstr>
      <vt:lpstr>PowerPoint Presentation</vt:lpstr>
      <vt:lpstr>PowerPoint Presentation</vt:lpstr>
      <vt:lpstr>Translation Look Aside Buffer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Page Table Entry</vt:lpstr>
      <vt:lpstr>Page Table Entry</vt:lpstr>
      <vt:lpstr>Optimal Page Size</vt:lpstr>
      <vt:lpstr>Optimal Page Size</vt:lpstr>
      <vt:lpstr>Virtual Memory</vt:lpstr>
      <vt:lpstr>PowerPoint Presentation</vt:lpstr>
      <vt:lpstr>Virtual Memory</vt:lpstr>
      <vt:lpstr>Virtual Memory</vt:lpstr>
      <vt:lpstr>Demand Paging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SEPARABLE REVERSIBLE DATA HIDING IN ENCRYPTED IMAGE</dc:title>
  <dc:creator>Nadeem</dc:creator>
  <cp:lastModifiedBy>Khursheed Ahmad Bhat</cp:lastModifiedBy>
  <cp:revision>348</cp:revision>
  <dcterms:created xsi:type="dcterms:W3CDTF">2013-03-01T01:22:51Z</dcterms:created>
  <dcterms:modified xsi:type="dcterms:W3CDTF">2025-11-14T13:20:24Z</dcterms:modified>
</cp:coreProperties>
</file>