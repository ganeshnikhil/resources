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407" r:id="rId3"/>
    <p:sldId id="408" r:id="rId4"/>
    <p:sldId id="409" r:id="rId5"/>
    <p:sldId id="410" r:id="rId6"/>
    <p:sldId id="411" r:id="rId7"/>
    <p:sldId id="412" r:id="rId8"/>
    <p:sldId id="418" r:id="rId9"/>
    <p:sldId id="419" r:id="rId10"/>
    <p:sldId id="413" r:id="rId11"/>
    <p:sldId id="414" r:id="rId12"/>
    <p:sldId id="415" r:id="rId13"/>
    <p:sldId id="416" r:id="rId14"/>
    <p:sldId id="417" r:id="rId15"/>
    <p:sldId id="421" r:id="rId16"/>
    <p:sldId id="420" r:id="rId17"/>
    <p:sldId id="422" r:id="rId18"/>
    <p:sldId id="423" r:id="rId19"/>
    <p:sldId id="424" r:id="rId20"/>
    <p:sldId id="426" r:id="rId21"/>
    <p:sldId id="427" r:id="rId22"/>
    <p:sldId id="425" r:id="rId23"/>
    <p:sldId id="431" r:id="rId24"/>
    <p:sldId id="428" r:id="rId25"/>
    <p:sldId id="430" r:id="rId26"/>
    <p:sldId id="429" r:id="rId27"/>
    <p:sldId id="444" r:id="rId28"/>
    <p:sldId id="445" r:id="rId29"/>
    <p:sldId id="446" r:id="rId30"/>
    <p:sldId id="448" r:id="rId31"/>
    <p:sldId id="449" r:id="rId32"/>
    <p:sldId id="450" r:id="rId33"/>
    <p:sldId id="451" r:id="rId34"/>
    <p:sldId id="432" r:id="rId35"/>
    <p:sldId id="433" r:id="rId36"/>
    <p:sldId id="434" r:id="rId37"/>
    <p:sldId id="435" r:id="rId38"/>
    <p:sldId id="436" r:id="rId39"/>
    <p:sldId id="437" r:id="rId40"/>
    <p:sldId id="438" r:id="rId41"/>
    <p:sldId id="439" r:id="rId42"/>
    <p:sldId id="440" r:id="rId43"/>
    <p:sldId id="441" r:id="rId44"/>
    <p:sldId id="442" r:id="rId45"/>
    <p:sldId id="443" r:id="rId46"/>
    <p:sldId id="267" r:id="rId47"/>
    <p:sldId id="268"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339933"/>
    <a:srgbClr val="FF0066"/>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ursheed Ahmad Bhat" userId="232bc352-bcff-4a75-8c0b-1fe79367188f" providerId="ADAL" clId="{42F10341-435F-4CEC-8E61-EB0C81DB13B6}"/>
    <pc:docChg chg="modSld">
      <pc:chgData name="Khursheed Ahmad Bhat" userId="232bc352-bcff-4a75-8c0b-1fe79367188f" providerId="ADAL" clId="{42F10341-435F-4CEC-8E61-EB0C81DB13B6}" dt="2025-11-10T18:00:26.843" v="0" actId="1036"/>
      <pc:docMkLst>
        <pc:docMk/>
      </pc:docMkLst>
      <pc:sldChg chg="modSp mod">
        <pc:chgData name="Khursheed Ahmad Bhat" userId="232bc352-bcff-4a75-8c0b-1fe79367188f" providerId="ADAL" clId="{42F10341-435F-4CEC-8E61-EB0C81DB13B6}" dt="2025-11-10T18:00:26.843" v="0" actId="1036"/>
        <pc:sldMkLst>
          <pc:docMk/>
          <pc:sldMk cId="0" sldId="256"/>
        </pc:sldMkLst>
        <pc:spChg chg="mod">
          <ac:chgData name="Khursheed Ahmad Bhat" userId="232bc352-bcff-4a75-8c0b-1fe79367188f" providerId="ADAL" clId="{42F10341-435F-4CEC-8E61-EB0C81DB13B6}" dt="2025-11-10T18:00:26.843" v="0" actId="1036"/>
          <ac:spMkLst>
            <pc:docMk/>
            <pc:sldMk cId="0"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AA1AF446-70E5-4808-A3E6-80A9AEEFC434}" type="datetimeFigureOut">
              <a:rPr lang="en-US" smtClean="0"/>
              <a:pPr/>
              <a:t>11/11/2025</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C8D1D586-0E36-461A-A06B-E82F64A17756}"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1AF446-70E5-4808-A3E6-80A9AEEFC434}" type="datetimeFigureOut">
              <a:rPr lang="en-US" smtClean="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D1D586-0E36-461A-A06B-E82F64A17756}" type="slidenum">
              <a:rPr lang="en-US" smtClean="0"/>
              <a:pPr/>
              <a:t>‹#›</a:t>
            </a:fld>
            <a:endParaRPr lang="en-US" dirty="0"/>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AA1AF446-70E5-4808-A3E6-80A9AEEFC434}" type="datetimeFigureOut">
              <a:rPr lang="en-US" smtClean="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D1D586-0E36-461A-A06B-E82F64A17756}"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A1AF446-70E5-4808-A3E6-80A9AEEFC434}" type="datetimeFigureOut">
              <a:rPr lang="en-US" smtClean="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D1D586-0E36-461A-A06B-E82F64A17756}" type="slidenum">
              <a:rPr lang="en-US" smtClean="0"/>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AA1AF446-70E5-4808-A3E6-80A9AEEFC434}" type="datetimeFigureOut">
              <a:rPr lang="en-US" smtClean="0"/>
              <a:pPr/>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A1AF446-70E5-4808-A3E6-80A9AEEFC434}" type="datetimeFigureOut">
              <a:rPr lang="en-US" smtClean="0"/>
              <a:pPr/>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D1D586-0E36-461A-A06B-E82F64A17756}" type="slidenum">
              <a:rPr lang="en-US" smtClean="0"/>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1AF446-70E5-4808-A3E6-80A9AEEFC434}" type="datetimeFigureOut">
              <a:rPr lang="en-US" smtClean="0"/>
              <a:pPr/>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AA1AF446-70E5-4808-A3E6-80A9AEEFC434}" type="datetimeFigureOut">
              <a:rPr lang="en-US" smtClean="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fld id="{AA1AF446-70E5-4808-A3E6-80A9AEEFC434}" type="datetimeFigureOut">
              <a:rPr lang="en-US" smtClean="0"/>
              <a:pPr/>
              <a:t>11/11/2025</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C8D1D586-0E36-461A-A06B-E82F64A17756}"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1AF446-70E5-4808-A3E6-80A9AEEFC434}" type="datetimeFigureOut">
              <a:rPr lang="en-US" smtClean="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A1AF446-70E5-4808-A3E6-80A9AEEFC434}" type="datetimeFigureOut">
              <a:rPr lang="en-US" smtClean="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D1D586-0E36-461A-A06B-E82F64A17756}"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AA1AF446-70E5-4808-A3E6-80A9AEEFC434}" type="datetimeFigureOut">
              <a:rPr lang="en-US" smtClean="0"/>
              <a:pPr/>
              <a:t>11/11/2025</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C8D1D586-0E36-461A-A06B-E82F64A1775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52400"/>
            <a:ext cx="8839200" cy="1066800"/>
          </a:xfrm>
        </p:spPr>
        <p:txBody>
          <a:bodyPr>
            <a:noAutofit/>
          </a:bodyPr>
          <a:lstStyle/>
          <a:p>
            <a:pPr algn="ctr"/>
            <a:r>
              <a:rPr lang="en-GB" sz="4000" dirty="0">
                <a:cs typeface="Microsoft Sans Serif" pitchFamily="34" charset="0"/>
              </a:rPr>
              <a:t>Memory Management</a:t>
            </a:r>
            <a:endParaRPr lang="en-US" sz="4000" dirty="0">
              <a:cs typeface="Microsoft Sans Serif" pitchFamily="34" charset="0"/>
            </a:endParaRPr>
          </a:p>
        </p:txBody>
      </p:sp>
      <p:sp>
        <p:nvSpPr>
          <p:cNvPr id="3" name="Subtitle 2"/>
          <p:cNvSpPr>
            <a:spLocks noGrp="1"/>
          </p:cNvSpPr>
          <p:nvPr>
            <p:ph type="subTitle" idx="1"/>
          </p:nvPr>
        </p:nvSpPr>
        <p:spPr>
          <a:xfrm>
            <a:off x="685799" y="1371600"/>
            <a:ext cx="7772400" cy="3276600"/>
          </a:xfrm>
        </p:spPr>
        <p:txBody>
          <a:bodyPr>
            <a:normAutofit/>
          </a:bodyPr>
          <a:lstStyle/>
          <a:p>
            <a:pPr algn="ctr"/>
            <a:r>
              <a:rPr lang="en-GB" sz="2000" b="1" dirty="0">
                <a:latin typeface="Microsoft Sans Serif" pitchFamily="34" charset="0"/>
                <a:cs typeface="Microsoft Sans Serif" pitchFamily="34" charset="0"/>
              </a:rPr>
              <a:t>Presented By</a:t>
            </a:r>
          </a:p>
          <a:p>
            <a:pPr algn="ctr"/>
            <a:r>
              <a:rPr lang="en-GB" sz="2000" b="1">
                <a:latin typeface="Microsoft Sans Serif" pitchFamily="34" charset="0"/>
                <a:cs typeface="Microsoft Sans Serif" pitchFamily="34" charset="0"/>
              </a:rPr>
              <a:t>Dr. Khursheed </a:t>
            </a:r>
            <a:r>
              <a:rPr lang="en-GB" sz="2000" b="1" dirty="0">
                <a:latin typeface="Microsoft Sans Serif" pitchFamily="34" charset="0"/>
                <a:cs typeface="Microsoft Sans Serif" pitchFamily="34" charset="0"/>
              </a:rPr>
              <a:t>Ahmad Bhat</a:t>
            </a:r>
          </a:p>
          <a:p>
            <a:pPr algn="ctr"/>
            <a:endParaRPr lang="en-GB" sz="2000" b="1" dirty="0">
              <a:latin typeface="Microsoft Sans Serif" pitchFamily="34" charset="0"/>
              <a:cs typeface="Microsoft Sans Serif" pitchFamily="34" charset="0"/>
            </a:endParaRPr>
          </a:p>
          <a:p>
            <a:pPr algn="ctr"/>
            <a:r>
              <a:rPr lang="en-GB" sz="2000" b="1" dirty="0">
                <a:latin typeface="Microsoft Sans Serif" pitchFamily="34" charset="0"/>
                <a:cs typeface="Microsoft Sans Serif" pitchFamily="34" charset="0"/>
              </a:rPr>
              <a:t>Assistant Professor</a:t>
            </a:r>
          </a:p>
          <a:p>
            <a:pPr algn="ctr"/>
            <a:r>
              <a:rPr lang="en-GB" sz="2000" b="1" dirty="0">
                <a:latin typeface="Microsoft Sans Serif" pitchFamily="34" charset="0"/>
                <a:cs typeface="Microsoft Sans Serif" pitchFamily="34" charset="0"/>
              </a:rPr>
              <a:t>School of Computer Science</a:t>
            </a:r>
          </a:p>
          <a:p>
            <a:pPr algn="ctr"/>
            <a:r>
              <a:rPr lang="en-GB" sz="2000" b="1" dirty="0">
                <a:latin typeface="Microsoft Sans Serif" pitchFamily="34" charset="0"/>
                <a:cs typeface="Microsoft Sans Serif" pitchFamily="34" charset="0"/>
              </a:rPr>
              <a:t>University of Petroleum and Energy Studies</a:t>
            </a:r>
          </a:p>
        </p:txBody>
      </p:sp>
      <p:pic>
        <p:nvPicPr>
          <p:cNvPr id="5" name="Picture 4" descr="A colorful logo with a white background&#10;&#10;Description automatically generated">
            <a:extLst>
              <a:ext uri="{FF2B5EF4-FFF2-40B4-BE49-F238E27FC236}">
                <a16:creationId xmlns:a16="http://schemas.microsoft.com/office/drawing/2014/main" id="{C82953F9-BE01-3009-6A6C-806484F36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0437" y="3505200"/>
            <a:ext cx="2143125" cy="16811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CPU can directly access </a:t>
            </a:r>
            <a:r>
              <a:rPr lang="en-IN" dirty="0">
                <a:solidFill>
                  <a:srgbClr val="FF0000"/>
                </a:solidFill>
                <a:latin typeface="Times New Roman" panose="02020603050405020304" pitchFamily="18" charset="0"/>
                <a:cs typeface="Times New Roman" panose="02020603050405020304" pitchFamily="18" charset="0"/>
              </a:rPr>
              <a:t>Registers</a:t>
            </a:r>
            <a:r>
              <a:rPr lang="en-IN" dirty="0">
                <a:latin typeface="Times New Roman" panose="02020603050405020304" pitchFamily="18" charset="0"/>
                <a:cs typeface="Times New Roman" panose="02020603050405020304" pitchFamily="18" charset="0"/>
              </a:rPr>
              <a:t>, </a:t>
            </a:r>
            <a:r>
              <a:rPr lang="en-IN" dirty="0">
                <a:solidFill>
                  <a:srgbClr val="FF0000"/>
                </a:solidFill>
                <a:latin typeface="Times New Roman" panose="02020603050405020304" pitchFamily="18" charset="0"/>
                <a:cs typeface="Times New Roman" panose="02020603050405020304" pitchFamily="18" charset="0"/>
              </a:rPr>
              <a:t>Cache</a:t>
            </a:r>
            <a:r>
              <a:rPr lang="en-IN" dirty="0">
                <a:latin typeface="Times New Roman" panose="02020603050405020304" pitchFamily="18" charset="0"/>
                <a:cs typeface="Times New Roman" panose="02020603050405020304" pitchFamily="18" charset="0"/>
              </a:rPr>
              <a:t>, and </a:t>
            </a:r>
            <a:r>
              <a:rPr lang="en-IN" dirty="0">
                <a:solidFill>
                  <a:srgbClr val="FF0000"/>
                </a:solidFill>
                <a:latin typeface="Times New Roman" panose="02020603050405020304" pitchFamily="18" charset="0"/>
                <a:cs typeface="Times New Roman" panose="02020603050405020304" pitchFamily="18" charset="0"/>
              </a:rPr>
              <a:t>Main Memory</a:t>
            </a:r>
            <a:r>
              <a:rPr lang="en-IN" dirty="0">
                <a:latin typeface="Times New Roman" panose="02020603050405020304" pitchFamily="18" charset="0"/>
                <a:cs typeface="Times New Roman" panose="02020603050405020304" pitchFamily="18" charset="0"/>
              </a:rPr>
              <a:t>.</a:t>
            </a:r>
          </a:p>
          <a:p>
            <a:pPr marL="109728" indent="0">
              <a:buNone/>
            </a:pPr>
            <a:endParaRPr lang="en-IN" dirty="0">
              <a:latin typeface="Times New Roman" panose="02020603050405020304" pitchFamily="18" charset="0"/>
              <a:cs typeface="Times New Roman" panose="02020603050405020304" pitchFamily="18" charset="0"/>
            </a:endParaRPr>
          </a:p>
          <a:p>
            <a:r>
              <a:rPr lang="en-IN" dirty="0">
                <a:solidFill>
                  <a:srgbClr val="0070C0"/>
                </a:solidFill>
                <a:latin typeface="Times New Roman" panose="02020603050405020304" pitchFamily="18" charset="0"/>
                <a:cs typeface="Times New Roman" panose="02020603050405020304" pitchFamily="18" charset="0"/>
              </a:rPr>
              <a:t>Directly</a:t>
            </a:r>
            <a:r>
              <a:rPr lang="en-IN" dirty="0">
                <a:latin typeface="Times New Roman" panose="02020603050405020304" pitchFamily="18" charset="0"/>
                <a:cs typeface="Times New Roman" panose="02020603050405020304" pitchFamily="18" charset="0"/>
              </a:rPr>
              <a:t> </a:t>
            </a:r>
            <a:r>
              <a:rPr lang="en-IN" dirty="0">
                <a:solidFill>
                  <a:srgbClr val="FF0000"/>
                </a:solidFill>
                <a:latin typeface="Times New Roman" panose="02020603050405020304" pitchFamily="18" charset="0"/>
                <a:cs typeface="Times New Roman" panose="02020603050405020304" pitchFamily="18" charset="0"/>
              </a:rPr>
              <a:t>data</a:t>
            </a:r>
            <a:r>
              <a:rPr lang="en-IN" dirty="0">
                <a:latin typeface="Times New Roman" panose="02020603050405020304" pitchFamily="18" charset="0"/>
                <a:cs typeface="Times New Roman" panose="02020603050405020304" pitchFamily="18" charset="0"/>
              </a:rPr>
              <a:t> and </a:t>
            </a:r>
            <a:r>
              <a:rPr lang="en-IN" dirty="0">
                <a:solidFill>
                  <a:srgbClr val="FF0000"/>
                </a:solidFill>
                <a:latin typeface="Times New Roman" panose="02020603050405020304" pitchFamily="18" charset="0"/>
                <a:cs typeface="Times New Roman" panose="02020603050405020304" pitchFamily="18" charset="0"/>
              </a:rPr>
              <a:t>instructions</a:t>
            </a:r>
            <a:r>
              <a:rPr lang="en-IN" dirty="0">
                <a:latin typeface="Times New Roman" panose="02020603050405020304" pitchFamily="18" charset="0"/>
                <a:cs typeface="Times New Roman" panose="02020603050405020304" pitchFamily="18" charset="0"/>
              </a:rPr>
              <a:t> can be put in these elements.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Problems are  </a:t>
            </a:r>
            <a:r>
              <a:rPr lang="en-IN" dirty="0">
                <a:solidFill>
                  <a:srgbClr val="FF0000"/>
                </a:solidFill>
                <a:latin typeface="Times New Roman" panose="02020603050405020304" pitchFamily="18" charset="0"/>
                <a:cs typeface="Times New Roman" panose="02020603050405020304" pitchFamily="18" charset="0"/>
              </a:rPr>
              <a:t>Size and Cost Constraints</a:t>
            </a:r>
            <a:r>
              <a:rPr lang="en-IN" dirty="0">
                <a:latin typeface="Times New Roman" panose="02020603050405020304" pitchFamily="18" charset="0"/>
                <a:cs typeface="Times New Roman" panose="02020603050405020304" pitchFamily="18" charset="0"/>
              </a:rPr>
              <a:t>.</a:t>
            </a: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fontScale="90000"/>
          </a:bodyPr>
          <a:lstStyle/>
          <a:p>
            <a:r>
              <a:rPr lang="en-IN" dirty="0"/>
              <a:t>Need for Multiprogramming &amp; MM</a:t>
            </a:r>
          </a:p>
        </p:txBody>
      </p:sp>
    </p:spTree>
    <p:extLst>
      <p:ext uri="{BB962C8B-B14F-4D97-AF65-F5344CB8AC3E}">
        <p14:creationId xmlns:p14="http://schemas.microsoft.com/office/powerpoint/2010/main" val="2774150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Bigger </a:t>
            </a:r>
            <a:r>
              <a:rPr lang="en-IN" dirty="0">
                <a:solidFill>
                  <a:srgbClr val="FF0000"/>
                </a:solidFill>
                <a:latin typeface="Times New Roman" panose="02020603050405020304" pitchFamily="18" charset="0"/>
                <a:cs typeface="Times New Roman" panose="02020603050405020304" pitchFamily="18" charset="0"/>
              </a:rPr>
              <a:t>Main Memory </a:t>
            </a:r>
            <a:r>
              <a:rPr lang="en-IN" dirty="0">
                <a:latin typeface="Times New Roman" panose="02020603050405020304" pitchFamily="18" charset="0"/>
                <a:cs typeface="Times New Roman" panose="02020603050405020304" pitchFamily="18" charset="0"/>
              </a:rPr>
              <a:t>means more Processes can be loaded, hence </a:t>
            </a:r>
            <a:r>
              <a:rPr lang="en-IN" dirty="0">
                <a:solidFill>
                  <a:srgbClr val="FF0000"/>
                </a:solidFill>
                <a:latin typeface="Times New Roman" panose="02020603050405020304" pitchFamily="18" charset="0"/>
                <a:cs typeface="Times New Roman" panose="02020603050405020304" pitchFamily="18" charset="0"/>
              </a:rPr>
              <a:t>maximum</a:t>
            </a:r>
            <a:r>
              <a:rPr lang="en-IN" dirty="0">
                <a:latin typeface="Times New Roman" panose="02020603050405020304" pitchFamily="18" charset="0"/>
                <a:cs typeface="Times New Roman" panose="02020603050405020304" pitchFamily="18" charset="0"/>
              </a:rPr>
              <a:t> CPU utilization.</a:t>
            </a:r>
          </a:p>
          <a:p>
            <a:pPr marL="109728" indent="0">
              <a:buNone/>
            </a:pPr>
            <a:endParaRPr lang="en-IN" dirty="0">
              <a:latin typeface="Times New Roman" panose="02020603050405020304" pitchFamily="18" charset="0"/>
              <a:cs typeface="Times New Roman" panose="02020603050405020304" pitchFamily="18" charset="0"/>
            </a:endParaRPr>
          </a:p>
          <a:p>
            <a:r>
              <a:rPr lang="en-IN" dirty="0">
                <a:solidFill>
                  <a:srgbClr val="0070C0"/>
                </a:solidFill>
                <a:latin typeface="Times New Roman" panose="02020603050405020304" pitchFamily="18" charset="0"/>
                <a:cs typeface="Times New Roman" panose="02020603050405020304" pitchFamily="18" charset="0"/>
              </a:rPr>
              <a:t>Example 1: </a:t>
            </a:r>
            <a:r>
              <a:rPr lang="en-IN" dirty="0">
                <a:latin typeface="Times New Roman" panose="02020603050405020304" pitchFamily="18" charset="0"/>
                <a:cs typeface="Times New Roman" panose="02020603050405020304" pitchFamily="18" charset="0"/>
              </a:rPr>
              <a:t>Main memory </a:t>
            </a:r>
            <a:r>
              <a:rPr lang="en-IN" dirty="0">
                <a:solidFill>
                  <a:srgbClr val="FF0000"/>
                </a:solidFill>
                <a:latin typeface="Times New Roman" panose="02020603050405020304" pitchFamily="18" charset="0"/>
                <a:cs typeface="Times New Roman" panose="02020603050405020304" pitchFamily="18" charset="0"/>
              </a:rPr>
              <a:t>4MB</a:t>
            </a:r>
            <a:r>
              <a:rPr lang="en-IN" dirty="0">
                <a:latin typeface="Times New Roman" panose="02020603050405020304" pitchFamily="18" charset="0"/>
                <a:cs typeface="Times New Roman" panose="02020603050405020304" pitchFamily="18" charset="0"/>
              </a:rPr>
              <a:t> and Process Size </a:t>
            </a:r>
            <a:r>
              <a:rPr lang="en-IN" dirty="0">
                <a:solidFill>
                  <a:srgbClr val="FF0000"/>
                </a:solidFill>
                <a:latin typeface="Times New Roman" panose="02020603050405020304" pitchFamily="18" charset="0"/>
                <a:cs typeface="Times New Roman" panose="02020603050405020304" pitchFamily="18" charset="0"/>
              </a:rPr>
              <a:t>4MB, </a:t>
            </a:r>
            <a:r>
              <a:rPr lang="en-IN" dirty="0">
                <a:latin typeface="Times New Roman" panose="02020603050405020304" pitchFamily="18" charset="0"/>
                <a:cs typeface="Times New Roman" panose="02020603050405020304" pitchFamily="18" charset="0"/>
              </a:rPr>
              <a:t> Assume we have only one process and one processor.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Suppose Process spends fraction of “P” time doing I/O.</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Then </a:t>
            </a:r>
            <a:r>
              <a:rPr lang="en-IN" dirty="0">
                <a:solidFill>
                  <a:srgbClr val="FF0000"/>
                </a:solidFill>
                <a:latin typeface="Times New Roman" panose="02020603050405020304" pitchFamily="18" charset="0"/>
                <a:cs typeface="Times New Roman" panose="02020603050405020304" pitchFamily="18" charset="0"/>
              </a:rPr>
              <a:t>CPU Utilization = (1-P)</a:t>
            </a:r>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a:t>Size of MM vs. CPU Efficiency</a:t>
            </a:r>
          </a:p>
        </p:txBody>
      </p:sp>
    </p:spTree>
    <p:extLst>
      <p:ext uri="{BB962C8B-B14F-4D97-AF65-F5344CB8AC3E}">
        <p14:creationId xmlns:p14="http://schemas.microsoft.com/office/powerpoint/2010/main" val="135462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457200" y="1481328"/>
                <a:ext cx="8382000" cy="4767072"/>
              </a:xfrm>
            </p:spPr>
            <p:txBody>
              <a:bodyPr>
                <a:normAutofit fontScale="70000" lnSpcReduction="20000"/>
              </a:bodyPr>
              <a:lstStyle/>
              <a:p>
                <a:r>
                  <a:rPr lang="en-IN" dirty="0">
                    <a:latin typeface="Times New Roman" panose="02020603050405020304" pitchFamily="18" charset="0"/>
                    <a:cs typeface="Times New Roman" panose="02020603050405020304" pitchFamily="18" charset="0"/>
                  </a:rPr>
                  <a:t>Suppose </a:t>
                </a:r>
                <a:r>
                  <a:rPr lang="en-IN" dirty="0">
                    <a:solidFill>
                      <a:srgbClr val="FF0000"/>
                    </a:solidFill>
                    <a:latin typeface="Times New Roman" panose="02020603050405020304" pitchFamily="18" charset="0"/>
                    <a:cs typeface="Times New Roman" panose="02020603050405020304" pitchFamily="18" charset="0"/>
                  </a:rPr>
                  <a:t>P = 80%</a:t>
                </a:r>
              </a:p>
              <a:p>
                <a:endParaRPr lang="en-IN" dirty="0">
                  <a:solidFill>
                    <a:srgbClr val="FF0000"/>
                  </a:solidFill>
                  <a:latin typeface="Times New Roman" panose="02020603050405020304" pitchFamily="18" charset="0"/>
                  <a:cs typeface="Times New Roman" panose="02020603050405020304" pitchFamily="18" charset="0"/>
                </a:endParaRPr>
              </a:p>
              <a:p>
                <a:r>
                  <a:rPr lang="en-IN" dirty="0">
                    <a:solidFill>
                      <a:srgbClr val="FF0000"/>
                    </a:solidFill>
                    <a:latin typeface="Times New Roman" panose="02020603050405020304" pitchFamily="18" charset="0"/>
                    <a:cs typeface="Times New Roman" panose="02020603050405020304" pitchFamily="18" charset="0"/>
                  </a:rPr>
                  <a:t>CPU Utilization = (1-80%) = 20%</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solidFill>
                      <a:srgbClr val="0070C0"/>
                    </a:solidFill>
                    <a:latin typeface="Times New Roman" panose="02020603050405020304" pitchFamily="18" charset="0"/>
                    <a:cs typeface="Times New Roman" panose="02020603050405020304" pitchFamily="18" charset="0"/>
                  </a:rPr>
                  <a:t>Example 2: </a:t>
                </a:r>
                <a:r>
                  <a:rPr lang="en-IN" dirty="0">
                    <a:latin typeface="Times New Roman" panose="02020603050405020304" pitchFamily="18" charset="0"/>
                    <a:cs typeface="Times New Roman" panose="02020603050405020304" pitchFamily="18" charset="0"/>
                  </a:rPr>
                  <a:t>Main memory </a:t>
                </a:r>
                <a:r>
                  <a:rPr lang="en-IN" dirty="0">
                    <a:solidFill>
                      <a:srgbClr val="FF0000"/>
                    </a:solidFill>
                    <a:latin typeface="Times New Roman" panose="02020603050405020304" pitchFamily="18" charset="0"/>
                    <a:cs typeface="Times New Roman" panose="02020603050405020304" pitchFamily="18" charset="0"/>
                  </a:rPr>
                  <a:t>16MB</a:t>
                </a:r>
                <a:r>
                  <a:rPr lang="en-IN" dirty="0">
                    <a:latin typeface="Times New Roman" panose="02020603050405020304" pitchFamily="18" charset="0"/>
                    <a:cs typeface="Times New Roman" panose="02020603050405020304" pitchFamily="18" charset="0"/>
                  </a:rPr>
                  <a:t> and Process Size </a:t>
                </a:r>
                <a:r>
                  <a:rPr lang="en-IN" dirty="0">
                    <a:solidFill>
                      <a:srgbClr val="FF0000"/>
                    </a:solidFill>
                    <a:latin typeface="Times New Roman" panose="02020603050405020304" pitchFamily="18" charset="0"/>
                    <a:cs typeface="Times New Roman" panose="02020603050405020304" pitchFamily="18" charset="0"/>
                  </a:rPr>
                  <a:t>4MB, </a:t>
                </a:r>
                <a:r>
                  <a:rPr lang="en-IN" dirty="0">
                    <a:latin typeface="Times New Roman" panose="02020603050405020304" pitchFamily="18" charset="0"/>
                    <a:cs typeface="Times New Roman" panose="02020603050405020304" pitchFamily="18" charset="0"/>
                  </a:rPr>
                  <a:t>and </a:t>
                </a:r>
              </a:p>
              <a:p>
                <a:r>
                  <a:rPr lang="en-IN" dirty="0">
                    <a:latin typeface="Times New Roman" panose="02020603050405020304" pitchFamily="18" charset="0"/>
                    <a:cs typeface="Times New Roman" panose="02020603050405020304" pitchFamily="18" charset="0"/>
                  </a:rPr>
                  <a:t>Assume P= 80% for each process.</a:t>
                </a:r>
                <a:endParaRPr lang="en-IN" dirty="0">
                  <a:solidFill>
                    <a:srgbClr val="FF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Therefore, No. of processes = </a:t>
                </a:r>
                <a14:m>
                  <m:oMath xmlns:m="http://schemas.openxmlformats.org/officeDocument/2006/math">
                    <m:f>
                      <m:fPr>
                        <m:ctrlPr>
                          <a:rPr lang="en-IN" i="1" smtClean="0">
                            <a:latin typeface="Cambria Math" panose="02040503050406030204" pitchFamily="18" charset="0"/>
                            <a:cs typeface="Times New Roman" panose="02020603050405020304" pitchFamily="18" charset="0"/>
                          </a:rPr>
                        </m:ctrlPr>
                      </m:fPr>
                      <m:num>
                        <m:r>
                          <a:rPr lang="en-IN" b="0" i="1" smtClean="0">
                            <a:latin typeface="Cambria Math" panose="02040503050406030204" pitchFamily="18" charset="0"/>
                            <a:cs typeface="Times New Roman" panose="02020603050405020304" pitchFamily="18" charset="0"/>
                          </a:rPr>
                          <m:t>𝑀𝑎𝑖𝑛</m:t>
                        </m:r>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cs typeface="Times New Roman" panose="02020603050405020304" pitchFamily="18" charset="0"/>
                          </a:rPr>
                          <m:t>𝑀𝑒𝑚𝑜𝑟𝑦</m:t>
                        </m:r>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cs typeface="Times New Roman" panose="02020603050405020304" pitchFamily="18" charset="0"/>
                          </a:rPr>
                          <m:t>𝑆𝑖𝑧𝑒</m:t>
                        </m:r>
                      </m:num>
                      <m:den>
                        <m:r>
                          <a:rPr lang="en-IN" b="0" i="1" smtClean="0">
                            <a:latin typeface="Cambria Math" panose="02040503050406030204" pitchFamily="18" charset="0"/>
                            <a:cs typeface="Times New Roman" panose="02020603050405020304" pitchFamily="18" charset="0"/>
                          </a:rPr>
                          <m:t>𝑃𝑟𝑜𝑐𝑒𝑠𝑠</m:t>
                        </m:r>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cs typeface="Times New Roman" panose="02020603050405020304" pitchFamily="18" charset="0"/>
                          </a:rPr>
                          <m:t>𝑆𝑖𝑧𝑒</m:t>
                        </m:r>
                      </m:den>
                    </m:f>
                  </m:oMath>
                </a14:m>
                <a:r>
                  <a:rPr lang="en-IN"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i="1" smtClean="0">
                            <a:latin typeface="Cambria Math" panose="02040503050406030204" pitchFamily="18" charset="0"/>
                            <a:cs typeface="Times New Roman" panose="02020603050405020304" pitchFamily="18" charset="0"/>
                          </a:rPr>
                        </m:ctrlPr>
                      </m:fPr>
                      <m:num>
                        <m:r>
                          <a:rPr lang="en-IN" b="0" i="1" smtClean="0">
                            <a:latin typeface="Cambria Math" panose="02040503050406030204" pitchFamily="18" charset="0"/>
                            <a:cs typeface="Times New Roman" panose="02020603050405020304" pitchFamily="18" charset="0"/>
                          </a:rPr>
                          <m:t>16</m:t>
                        </m:r>
                        <m:r>
                          <a:rPr lang="en-IN" b="0" i="1" smtClean="0">
                            <a:latin typeface="Cambria Math" panose="02040503050406030204" pitchFamily="18" charset="0"/>
                            <a:cs typeface="Times New Roman" panose="02020603050405020304" pitchFamily="18" charset="0"/>
                          </a:rPr>
                          <m:t>𝑀𝐵</m:t>
                        </m:r>
                      </m:num>
                      <m:den>
                        <m:r>
                          <a:rPr lang="en-IN" b="0" i="1" smtClean="0">
                            <a:latin typeface="Cambria Math" panose="02040503050406030204" pitchFamily="18" charset="0"/>
                            <a:cs typeface="Times New Roman" panose="02020603050405020304" pitchFamily="18" charset="0"/>
                          </a:rPr>
                          <m:t>4</m:t>
                        </m:r>
                        <m:r>
                          <a:rPr lang="en-IN" b="0" i="1" smtClean="0">
                            <a:latin typeface="Cambria Math" panose="02040503050406030204" pitchFamily="18" charset="0"/>
                            <a:cs typeface="Times New Roman" panose="02020603050405020304" pitchFamily="18" charset="0"/>
                          </a:rPr>
                          <m:t>𝑀𝐵</m:t>
                        </m:r>
                      </m:den>
                    </m:f>
                  </m:oMath>
                </a14:m>
                <a:r>
                  <a:rPr lang="en-IN" dirty="0">
                    <a:latin typeface="Times New Roman" panose="02020603050405020304" pitchFamily="18" charset="0"/>
                    <a:cs typeface="Times New Roman" panose="02020603050405020304" pitchFamily="18" charset="0"/>
                  </a:rPr>
                  <a:t> = 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All process will do the I/O at the same time =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IN" b="0" i="1" smtClean="0">
                            <a:latin typeface="Cambria Math" panose="02040503050406030204" pitchFamily="18" charset="0"/>
                            <a:cs typeface="Times New Roman" panose="02020603050405020304" pitchFamily="18" charset="0"/>
                          </a:rPr>
                          <m:t>(</m:t>
                        </m:r>
                        <m:r>
                          <a:rPr lang="en-IN" b="0" i="1" smtClean="0">
                            <a:latin typeface="Cambria Math" panose="02040503050406030204" pitchFamily="18" charset="0"/>
                            <a:cs typeface="Times New Roman" panose="02020603050405020304" pitchFamily="18" charset="0"/>
                          </a:rPr>
                          <m:t>𝑃</m:t>
                        </m:r>
                        <m:r>
                          <a:rPr lang="en-IN" b="0" i="1" smtClean="0">
                            <a:latin typeface="Cambria Math" panose="02040503050406030204" pitchFamily="18" charset="0"/>
                            <a:cs typeface="Times New Roman" panose="02020603050405020304" pitchFamily="18" charset="0"/>
                          </a:rPr>
                          <m:t>)</m:t>
                        </m:r>
                      </m:e>
                      <m:sup>
                        <m:r>
                          <a:rPr lang="en-IN" b="0" i="1" smtClean="0">
                            <a:latin typeface="Cambria Math" panose="02040503050406030204" pitchFamily="18" charset="0"/>
                            <a:cs typeface="Times New Roman" panose="02020603050405020304" pitchFamily="18" charset="0"/>
                          </a:rPr>
                          <m:t>4</m:t>
                        </m:r>
                      </m:sup>
                    </m:sSup>
                  </m:oMath>
                </a14:m>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Then </a:t>
                </a:r>
                <a:r>
                  <a:rPr lang="en-IN" dirty="0">
                    <a:solidFill>
                      <a:srgbClr val="FF0000"/>
                    </a:solidFill>
                    <a:latin typeface="Times New Roman" panose="02020603050405020304" pitchFamily="18" charset="0"/>
                    <a:cs typeface="Times New Roman" panose="02020603050405020304" pitchFamily="18" charset="0"/>
                  </a:rPr>
                  <a:t>CPU Utilization = (1-</a:t>
                </a:r>
                <a:r>
                  <a:rPr lang="en-IN" dirty="0">
                    <a:cs typeface="Times New Roman" panose="02020603050405020304" pitchFamily="18" charset="0"/>
                  </a:rPr>
                  <a:t>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IN" b="0" i="1" smtClean="0">
                            <a:latin typeface="Cambria Math" panose="02040503050406030204" pitchFamily="18" charset="0"/>
                            <a:cs typeface="Times New Roman" panose="02020603050405020304" pitchFamily="18" charset="0"/>
                          </a:rPr>
                          <m:t>𝑃</m:t>
                        </m:r>
                      </m:e>
                      <m:sup>
                        <m:r>
                          <a:rPr lang="en-IN" b="0" i="1" smtClean="0">
                            <a:latin typeface="Cambria Math" panose="02040503050406030204" pitchFamily="18" charset="0"/>
                            <a:cs typeface="Times New Roman" panose="02020603050405020304" pitchFamily="18" charset="0"/>
                          </a:rPr>
                          <m:t>4</m:t>
                        </m:r>
                      </m:sup>
                    </m:sSup>
                  </m:oMath>
                </a14:m>
                <a:r>
                  <a:rPr lang="en-IN" dirty="0">
                    <a:solidFill>
                      <a:srgbClr val="FF0000"/>
                    </a:solidFill>
                    <a:latin typeface="Times New Roman" panose="02020603050405020304" pitchFamily="18" charset="0"/>
                    <a:cs typeface="Times New Roman" panose="02020603050405020304" pitchFamily="18" charset="0"/>
                  </a:rPr>
                  <a:t>) = (1 – </a:t>
                </a:r>
                <a14:m>
                  <m:oMath xmlns:m="http://schemas.openxmlformats.org/officeDocument/2006/math">
                    <m:sSup>
                      <m:sSupPr>
                        <m:ctrlPr>
                          <a:rPr lang="en-IN" i="1">
                            <a:latin typeface="Cambria Math" panose="02040503050406030204" pitchFamily="18" charset="0"/>
                            <a:cs typeface="Times New Roman" panose="02020603050405020304" pitchFamily="18" charset="0"/>
                          </a:rPr>
                        </m:ctrlPr>
                      </m:sSupPr>
                      <m:e>
                        <m:r>
                          <m:rPr>
                            <m:nor/>
                          </m:rPr>
                          <a:rPr lang="en-IN" dirty="0">
                            <a:solidFill>
                              <a:srgbClr val="FF0000"/>
                            </a:solidFill>
                            <a:latin typeface="Times New Roman" panose="02020603050405020304" pitchFamily="18" charset="0"/>
                            <a:cs typeface="Times New Roman" panose="02020603050405020304" pitchFamily="18" charset="0"/>
                          </a:rPr>
                          <m:t>(</m:t>
                        </m:r>
                        <m:f>
                          <m:fPr>
                            <m:ctrlPr>
                              <a:rPr lang="en-IN" i="1">
                                <a:solidFill>
                                  <a:srgbClr val="FF0000"/>
                                </a:solidFill>
                                <a:latin typeface="Cambria Math" panose="02040503050406030204" pitchFamily="18" charset="0"/>
                                <a:cs typeface="Times New Roman" panose="02020603050405020304" pitchFamily="18" charset="0"/>
                              </a:rPr>
                            </m:ctrlPr>
                          </m:fPr>
                          <m:num>
                            <m:r>
                              <a:rPr lang="en-IN" i="1">
                                <a:solidFill>
                                  <a:srgbClr val="FF0000"/>
                                </a:solidFill>
                                <a:latin typeface="Cambria Math" panose="02040503050406030204" pitchFamily="18" charset="0"/>
                                <a:cs typeface="Times New Roman" panose="02020603050405020304" pitchFamily="18" charset="0"/>
                              </a:rPr>
                              <m:t>80</m:t>
                            </m:r>
                          </m:num>
                          <m:den>
                            <m:r>
                              <a:rPr lang="en-IN" i="1">
                                <a:solidFill>
                                  <a:srgbClr val="FF0000"/>
                                </a:solidFill>
                                <a:latin typeface="Cambria Math" panose="02040503050406030204" pitchFamily="18" charset="0"/>
                                <a:cs typeface="Times New Roman" panose="02020603050405020304" pitchFamily="18" charset="0"/>
                              </a:rPr>
                              <m:t>100</m:t>
                            </m:r>
                          </m:den>
                        </m:f>
                        <m:r>
                          <m:rPr>
                            <m:nor/>
                          </m:rPr>
                          <a:rPr lang="en-IN" dirty="0">
                            <a:solidFill>
                              <a:srgbClr val="FF0000"/>
                            </a:solidFill>
                            <a:latin typeface="Times New Roman" panose="02020603050405020304" pitchFamily="18" charset="0"/>
                            <a:cs typeface="Times New Roman" panose="02020603050405020304" pitchFamily="18" charset="0"/>
                          </a:rPr>
                          <m:t>)</m:t>
                        </m:r>
                      </m:e>
                      <m:sup>
                        <m:r>
                          <a:rPr lang="en-IN" i="1">
                            <a:latin typeface="Cambria Math" panose="02040503050406030204" pitchFamily="18" charset="0"/>
                            <a:cs typeface="Times New Roman" panose="02020603050405020304" pitchFamily="18" charset="0"/>
                          </a:rPr>
                          <m:t>4</m:t>
                        </m:r>
                      </m:sup>
                    </m:sSup>
                    <m:r>
                      <a:rPr lang="en-IN" i="1">
                        <a:latin typeface="Cambria Math" panose="02040503050406030204" pitchFamily="18" charset="0"/>
                        <a:cs typeface="Times New Roman" panose="02020603050405020304" pitchFamily="18" charset="0"/>
                      </a:rPr>
                      <m:t> </m:t>
                    </m:r>
                  </m:oMath>
                </a14:m>
                <a:r>
                  <a:rPr lang="en-IN" dirty="0">
                    <a:solidFill>
                      <a:srgbClr val="FF0000"/>
                    </a:solidFill>
                    <a:latin typeface="Times New Roman" panose="02020603050405020304" pitchFamily="18" charset="0"/>
                    <a:cs typeface="Times New Roman" panose="02020603050405020304" pitchFamily="18" charset="0"/>
                  </a:rPr>
                  <a:t>) = 60%</a:t>
                </a:r>
              </a:p>
              <a:p>
                <a:endParaRPr lang="en-IN" dirty="0">
                  <a:solidFill>
                    <a:srgbClr val="FF0000"/>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So, utilization has increased from 20% to 60%, by increasing number of processes from 1 to 4.</a:t>
                </a:r>
              </a:p>
            </p:txBody>
          </p:sp>
        </mc:Choice>
        <mc:Fallback xmlns="">
          <p:sp>
            <p:nvSpPr>
              <p:cNvPr id="2" name="Content Placeholder 1">
                <a:extLst>
                  <a:ext uri="{FF2B5EF4-FFF2-40B4-BE49-F238E27FC236}">
                    <a16:creationId xmlns:a16="http://schemas.microsoft.com/office/drawing/2014/main" id="{16DA1ADC-A72E-7F8A-4997-EDD75344805F}"/>
                  </a:ext>
                </a:extLst>
              </p:cNvPr>
              <p:cNvSpPr>
                <a:spLocks noGrp="1" noRot="1" noChangeAspect="1" noMove="1" noResize="1" noEditPoints="1" noAdjustHandles="1" noChangeArrowheads="1" noChangeShapeType="1" noTextEdit="1"/>
              </p:cNvSpPr>
              <p:nvPr>
                <p:ph idx="1"/>
              </p:nvPr>
            </p:nvSpPr>
            <p:spPr>
              <a:xfrm>
                <a:off x="457200" y="1481328"/>
                <a:ext cx="8382000" cy="4767072"/>
              </a:xfrm>
              <a:blipFill>
                <a:blip r:embed="rId2"/>
                <a:stretch>
                  <a:fillRect t="-1790"/>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a:t>Size of MM vs. CPU Efficiency</a:t>
            </a:r>
          </a:p>
        </p:txBody>
      </p:sp>
    </p:spTree>
    <p:extLst>
      <p:ext uri="{BB962C8B-B14F-4D97-AF65-F5344CB8AC3E}">
        <p14:creationId xmlns:p14="http://schemas.microsoft.com/office/powerpoint/2010/main" val="2367229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457200" y="1481328"/>
                <a:ext cx="8382000" cy="4767072"/>
              </a:xfrm>
            </p:spPr>
            <p:txBody>
              <a:bodyPr>
                <a:normAutofit fontScale="92500" lnSpcReduction="10000"/>
              </a:bodyPr>
              <a:lstStyle/>
              <a:p>
                <a:r>
                  <a:rPr lang="en-IN" dirty="0">
                    <a:solidFill>
                      <a:srgbClr val="0070C0"/>
                    </a:solidFill>
                    <a:latin typeface="Times New Roman" panose="02020603050405020304" pitchFamily="18" charset="0"/>
                    <a:cs typeface="Times New Roman" panose="02020603050405020304" pitchFamily="18" charset="0"/>
                  </a:rPr>
                  <a:t>Example 3: </a:t>
                </a:r>
                <a:r>
                  <a:rPr lang="en-IN" dirty="0">
                    <a:latin typeface="Times New Roman" panose="02020603050405020304" pitchFamily="18" charset="0"/>
                    <a:cs typeface="Times New Roman" panose="02020603050405020304" pitchFamily="18" charset="0"/>
                  </a:rPr>
                  <a:t>Main memory </a:t>
                </a:r>
                <a:r>
                  <a:rPr lang="en-IN" dirty="0">
                    <a:solidFill>
                      <a:srgbClr val="FF0000"/>
                    </a:solidFill>
                    <a:latin typeface="Times New Roman" panose="02020603050405020304" pitchFamily="18" charset="0"/>
                    <a:cs typeface="Times New Roman" panose="02020603050405020304" pitchFamily="18" charset="0"/>
                  </a:rPr>
                  <a:t>32MB</a:t>
                </a:r>
                <a:r>
                  <a:rPr lang="en-IN" dirty="0">
                    <a:latin typeface="Times New Roman" panose="02020603050405020304" pitchFamily="18" charset="0"/>
                    <a:cs typeface="Times New Roman" panose="02020603050405020304" pitchFamily="18" charset="0"/>
                  </a:rPr>
                  <a:t> and Process Size </a:t>
                </a:r>
                <a:r>
                  <a:rPr lang="en-IN" dirty="0">
                    <a:solidFill>
                      <a:srgbClr val="FF0000"/>
                    </a:solidFill>
                    <a:latin typeface="Times New Roman" panose="02020603050405020304" pitchFamily="18" charset="0"/>
                    <a:cs typeface="Times New Roman" panose="02020603050405020304" pitchFamily="18" charset="0"/>
                  </a:rPr>
                  <a:t>4MB, </a:t>
                </a:r>
                <a:r>
                  <a:rPr lang="en-IN" dirty="0">
                    <a:latin typeface="Times New Roman" panose="02020603050405020304" pitchFamily="18" charset="0"/>
                    <a:cs typeface="Times New Roman" panose="02020603050405020304" pitchFamily="18" charset="0"/>
                  </a:rPr>
                  <a:t>and </a:t>
                </a:r>
              </a:p>
              <a:p>
                <a:r>
                  <a:rPr lang="en-IN" dirty="0">
                    <a:latin typeface="Times New Roman" panose="02020603050405020304" pitchFamily="18" charset="0"/>
                    <a:cs typeface="Times New Roman" panose="02020603050405020304" pitchFamily="18" charset="0"/>
                  </a:rPr>
                  <a:t>Assume P= 80% for each process.</a:t>
                </a:r>
                <a:endParaRPr lang="en-IN" dirty="0">
                  <a:solidFill>
                    <a:srgbClr val="FF0000"/>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Therefore, No. of processes = </a:t>
                </a:r>
                <a14:m>
                  <m:oMath xmlns:m="http://schemas.openxmlformats.org/officeDocument/2006/math">
                    <m:f>
                      <m:fPr>
                        <m:ctrlPr>
                          <a:rPr lang="en-IN" i="1" smtClean="0">
                            <a:latin typeface="Cambria Math" panose="02040503050406030204" pitchFamily="18" charset="0"/>
                            <a:cs typeface="Times New Roman" panose="02020603050405020304" pitchFamily="18" charset="0"/>
                          </a:rPr>
                        </m:ctrlPr>
                      </m:fPr>
                      <m:num>
                        <m:r>
                          <a:rPr lang="en-IN" b="0" i="1" smtClean="0">
                            <a:latin typeface="Cambria Math" panose="02040503050406030204" pitchFamily="18" charset="0"/>
                            <a:cs typeface="Times New Roman" panose="02020603050405020304" pitchFamily="18" charset="0"/>
                          </a:rPr>
                          <m:t>𝑀𝑎𝑖𝑛</m:t>
                        </m:r>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cs typeface="Times New Roman" panose="02020603050405020304" pitchFamily="18" charset="0"/>
                          </a:rPr>
                          <m:t>𝑀𝑒𝑚𝑜𝑟𝑦</m:t>
                        </m:r>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cs typeface="Times New Roman" panose="02020603050405020304" pitchFamily="18" charset="0"/>
                          </a:rPr>
                          <m:t>𝑆𝑖𝑧𝑒</m:t>
                        </m:r>
                      </m:num>
                      <m:den>
                        <m:r>
                          <a:rPr lang="en-IN" b="0" i="1" smtClean="0">
                            <a:latin typeface="Cambria Math" panose="02040503050406030204" pitchFamily="18" charset="0"/>
                            <a:cs typeface="Times New Roman" panose="02020603050405020304" pitchFamily="18" charset="0"/>
                          </a:rPr>
                          <m:t>𝑃𝑟𝑜𝑐𝑒𝑠𝑠</m:t>
                        </m:r>
                        <m:r>
                          <a:rPr lang="en-IN" b="0" i="1" smtClean="0">
                            <a:latin typeface="Cambria Math" panose="02040503050406030204" pitchFamily="18" charset="0"/>
                            <a:cs typeface="Times New Roman" panose="02020603050405020304" pitchFamily="18" charset="0"/>
                          </a:rPr>
                          <m:t> </m:t>
                        </m:r>
                        <m:r>
                          <a:rPr lang="en-IN" b="0" i="1" smtClean="0">
                            <a:latin typeface="Cambria Math" panose="02040503050406030204" pitchFamily="18" charset="0"/>
                            <a:cs typeface="Times New Roman" panose="02020603050405020304" pitchFamily="18" charset="0"/>
                          </a:rPr>
                          <m:t>𝑆𝑖𝑧𝑒</m:t>
                        </m:r>
                      </m:den>
                    </m:f>
                  </m:oMath>
                </a14:m>
                <a:r>
                  <a:rPr lang="en-IN"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i="1" smtClean="0">
                            <a:latin typeface="Cambria Math" panose="02040503050406030204" pitchFamily="18" charset="0"/>
                            <a:cs typeface="Times New Roman" panose="02020603050405020304" pitchFamily="18" charset="0"/>
                          </a:rPr>
                        </m:ctrlPr>
                      </m:fPr>
                      <m:num>
                        <m:r>
                          <a:rPr lang="en-IN" b="0" i="1" smtClean="0">
                            <a:latin typeface="Cambria Math" panose="02040503050406030204" pitchFamily="18" charset="0"/>
                            <a:cs typeface="Times New Roman" panose="02020603050405020304" pitchFamily="18" charset="0"/>
                          </a:rPr>
                          <m:t>32</m:t>
                        </m:r>
                        <m:r>
                          <a:rPr lang="en-IN" b="0" i="1" smtClean="0">
                            <a:latin typeface="Cambria Math" panose="02040503050406030204" pitchFamily="18" charset="0"/>
                            <a:cs typeface="Times New Roman" panose="02020603050405020304" pitchFamily="18" charset="0"/>
                          </a:rPr>
                          <m:t>𝑀𝐵</m:t>
                        </m:r>
                      </m:num>
                      <m:den>
                        <m:r>
                          <a:rPr lang="en-IN" b="0" i="1" smtClean="0">
                            <a:latin typeface="Cambria Math" panose="02040503050406030204" pitchFamily="18" charset="0"/>
                            <a:cs typeface="Times New Roman" panose="02020603050405020304" pitchFamily="18" charset="0"/>
                          </a:rPr>
                          <m:t>4</m:t>
                        </m:r>
                        <m:r>
                          <a:rPr lang="en-IN" b="0" i="1" smtClean="0">
                            <a:latin typeface="Cambria Math" panose="02040503050406030204" pitchFamily="18" charset="0"/>
                            <a:cs typeface="Times New Roman" panose="02020603050405020304" pitchFamily="18" charset="0"/>
                          </a:rPr>
                          <m:t>𝑀𝐵</m:t>
                        </m:r>
                      </m:den>
                    </m:f>
                  </m:oMath>
                </a14:m>
                <a:r>
                  <a:rPr lang="en-IN" dirty="0">
                    <a:latin typeface="Times New Roman" panose="02020603050405020304" pitchFamily="18" charset="0"/>
                    <a:cs typeface="Times New Roman" panose="02020603050405020304" pitchFamily="18" charset="0"/>
                  </a:rPr>
                  <a:t> = 8</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All process will do the I/O at the same time =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IN" b="0" i="1" smtClean="0">
                            <a:latin typeface="Cambria Math" panose="02040503050406030204" pitchFamily="18" charset="0"/>
                            <a:cs typeface="Times New Roman" panose="02020603050405020304" pitchFamily="18" charset="0"/>
                          </a:rPr>
                          <m:t>(</m:t>
                        </m:r>
                        <m:r>
                          <a:rPr lang="en-IN" b="0" i="1" smtClean="0">
                            <a:latin typeface="Cambria Math" panose="02040503050406030204" pitchFamily="18" charset="0"/>
                            <a:cs typeface="Times New Roman" panose="02020603050405020304" pitchFamily="18" charset="0"/>
                          </a:rPr>
                          <m:t>𝑃</m:t>
                        </m:r>
                        <m:r>
                          <a:rPr lang="en-IN" b="0" i="1" smtClean="0">
                            <a:latin typeface="Cambria Math" panose="02040503050406030204" pitchFamily="18" charset="0"/>
                            <a:cs typeface="Times New Roman" panose="02020603050405020304" pitchFamily="18" charset="0"/>
                          </a:rPr>
                          <m:t>)</m:t>
                        </m:r>
                      </m:e>
                      <m:sup>
                        <m:r>
                          <a:rPr lang="en-IN" b="0" i="1" smtClean="0">
                            <a:latin typeface="Cambria Math" panose="02040503050406030204" pitchFamily="18" charset="0"/>
                            <a:cs typeface="Times New Roman" panose="02020603050405020304" pitchFamily="18" charset="0"/>
                          </a:rPr>
                          <m:t>8</m:t>
                        </m:r>
                      </m:sup>
                    </m:sSup>
                  </m:oMath>
                </a14:m>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Then </a:t>
                </a:r>
                <a:r>
                  <a:rPr lang="en-IN" dirty="0">
                    <a:solidFill>
                      <a:srgbClr val="FF0000"/>
                    </a:solidFill>
                    <a:latin typeface="Times New Roman" panose="02020603050405020304" pitchFamily="18" charset="0"/>
                    <a:cs typeface="Times New Roman" panose="02020603050405020304" pitchFamily="18" charset="0"/>
                  </a:rPr>
                  <a:t>CPU Utilization = (1-</a:t>
                </a:r>
                <a:r>
                  <a:rPr lang="en-IN" dirty="0">
                    <a:cs typeface="Times New Roman" panose="02020603050405020304" pitchFamily="18" charset="0"/>
                  </a:rPr>
                  <a:t> </a:t>
                </a:r>
                <a14:m>
                  <m:oMath xmlns:m="http://schemas.openxmlformats.org/officeDocument/2006/math">
                    <m:sSup>
                      <m:sSupPr>
                        <m:ctrlPr>
                          <a:rPr lang="en-IN" i="1" smtClean="0">
                            <a:latin typeface="Cambria Math" panose="02040503050406030204" pitchFamily="18" charset="0"/>
                            <a:cs typeface="Times New Roman" panose="02020603050405020304" pitchFamily="18" charset="0"/>
                          </a:rPr>
                        </m:ctrlPr>
                      </m:sSupPr>
                      <m:e>
                        <m:r>
                          <a:rPr lang="en-IN" b="0" i="1" smtClean="0">
                            <a:latin typeface="Cambria Math" panose="02040503050406030204" pitchFamily="18" charset="0"/>
                            <a:cs typeface="Times New Roman" panose="02020603050405020304" pitchFamily="18" charset="0"/>
                          </a:rPr>
                          <m:t>𝑃</m:t>
                        </m:r>
                      </m:e>
                      <m:sup>
                        <m:r>
                          <a:rPr lang="en-IN" b="0" i="1" smtClean="0">
                            <a:latin typeface="Cambria Math" panose="02040503050406030204" pitchFamily="18" charset="0"/>
                            <a:cs typeface="Times New Roman" panose="02020603050405020304" pitchFamily="18" charset="0"/>
                          </a:rPr>
                          <m:t>8</m:t>
                        </m:r>
                      </m:sup>
                    </m:sSup>
                  </m:oMath>
                </a14:m>
                <a:r>
                  <a:rPr lang="en-IN" dirty="0">
                    <a:solidFill>
                      <a:srgbClr val="FF0000"/>
                    </a:solidFill>
                    <a:latin typeface="Times New Roman" panose="02020603050405020304" pitchFamily="18" charset="0"/>
                    <a:cs typeface="Times New Roman" panose="02020603050405020304" pitchFamily="18" charset="0"/>
                  </a:rPr>
                  <a:t>) = (1 – </a:t>
                </a:r>
                <a14:m>
                  <m:oMath xmlns:m="http://schemas.openxmlformats.org/officeDocument/2006/math">
                    <m:sSup>
                      <m:sSupPr>
                        <m:ctrlPr>
                          <a:rPr lang="en-IN" i="1">
                            <a:latin typeface="Cambria Math" panose="02040503050406030204" pitchFamily="18" charset="0"/>
                            <a:cs typeface="Times New Roman" panose="02020603050405020304" pitchFamily="18" charset="0"/>
                          </a:rPr>
                        </m:ctrlPr>
                      </m:sSupPr>
                      <m:e>
                        <m:r>
                          <m:rPr>
                            <m:nor/>
                          </m:rPr>
                          <a:rPr lang="en-IN" dirty="0">
                            <a:solidFill>
                              <a:srgbClr val="FF0000"/>
                            </a:solidFill>
                            <a:latin typeface="Times New Roman" panose="02020603050405020304" pitchFamily="18" charset="0"/>
                            <a:cs typeface="Times New Roman" panose="02020603050405020304" pitchFamily="18" charset="0"/>
                          </a:rPr>
                          <m:t>(</m:t>
                        </m:r>
                        <m:f>
                          <m:fPr>
                            <m:ctrlPr>
                              <a:rPr lang="en-IN" i="1">
                                <a:solidFill>
                                  <a:srgbClr val="FF0000"/>
                                </a:solidFill>
                                <a:latin typeface="Cambria Math" panose="02040503050406030204" pitchFamily="18" charset="0"/>
                                <a:cs typeface="Times New Roman" panose="02020603050405020304" pitchFamily="18" charset="0"/>
                              </a:rPr>
                            </m:ctrlPr>
                          </m:fPr>
                          <m:num>
                            <m:r>
                              <a:rPr lang="en-IN" i="1">
                                <a:solidFill>
                                  <a:srgbClr val="FF0000"/>
                                </a:solidFill>
                                <a:latin typeface="Cambria Math" panose="02040503050406030204" pitchFamily="18" charset="0"/>
                                <a:cs typeface="Times New Roman" panose="02020603050405020304" pitchFamily="18" charset="0"/>
                              </a:rPr>
                              <m:t>80</m:t>
                            </m:r>
                          </m:num>
                          <m:den>
                            <m:r>
                              <a:rPr lang="en-IN" i="1">
                                <a:solidFill>
                                  <a:srgbClr val="FF0000"/>
                                </a:solidFill>
                                <a:latin typeface="Cambria Math" panose="02040503050406030204" pitchFamily="18" charset="0"/>
                                <a:cs typeface="Times New Roman" panose="02020603050405020304" pitchFamily="18" charset="0"/>
                              </a:rPr>
                              <m:t>100</m:t>
                            </m:r>
                          </m:den>
                        </m:f>
                        <m:r>
                          <m:rPr>
                            <m:nor/>
                          </m:rPr>
                          <a:rPr lang="en-IN" dirty="0">
                            <a:solidFill>
                              <a:srgbClr val="FF0000"/>
                            </a:solidFill>
                            <a:latin typeface="Times New Roman" panose="02020603050405020304" pitchFamily="18" charset="0"/>
                            <a:cs typeface="Times New Roman" panose="02020603050405020304" pitchFamily="18" charset="0"/>
                          </a:rPr>
                          <m:t>)</m:t>
                        </m:r>
                      </m:e>
                      <m:sup>
                        <m:r>
                          <a:rPr lang="en-IN" b="0" i="1" dirty="0" smtClean="0">
                            <a:solidFill>
                              <a:srgbClr val="FF0000"/>
                            </a:solidFill>
                            <a:latin typeface="Cambria Math" panose="02040503050406030204" pitchFamily="18" charset="0"/>
                            <a:cs typeface="Times New Roman" panose="02020603050405020304" pitchFamily="18" charset="0"/>
                          </a:rPr>
                          <m:t>8</m:t>
                        </m:r>
                      </m:sup>
                    </m:sSup>
                    <m:r>
                      <a:rPr lang="en-IN" i="1">
                        <a:latin typeface="Cambria Math" panose="02040503050406030204" pitchFamily="18" charset="0"/>
                        <a:cs typeface="Times New Roman" panose="02020603050405020304" pitchFamily="18" charset="0"/>
                      </a:rPr>
                      <m:t> </m:t>
                    </m:r>
                  </m:oMath>
                </a14:m>
                <a:r>
                  <a:rPr lang="en-IN" dirty="0">
                    <a:solidFill>
                      <a:srgbClr val="FF0000"/>
                    </a:solidFill>
                    <a:latin typeface="Times New Roman" panose="02020603050405020304" pitchFamily="18" charset="0"/>
                    <a:cs typeface="Times New Roman" panose="02020603050405020304" pitchFamily="18" charset="0"/>
                  </a:rPr>
                  <a:t>) = 83%</a:t>
                </a:r>
              </a:p>
              <a:p>
                <a:endParaRPr lang="en-IN" dirty="0">
                  <a:solidFill>
                    <a:srgbClr val="FF0000"/>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So, utilization has increased from 20% to 83%, by increasing number of processes from 1 to 8.</a:t>
                </a:r>
              </a:p>
            </p:txBody>
          </p:sp>
        </mc:Choice>
        <mc:Fallback xmlns="">
          <p:sp>
            <p:nvSpPr>
              <p:cNvPr id="2" name="Content Placeholder 1">
                <a:extLst>
                  <a:ext uri="{FF2B5EF4-FFF2-40B4-BE49-F238E27FC236}">
                    <a16:creationId xmlns:a16="http://schemas.microsoft.com/office/drawing/2014/main" id="{16DA1ADC-A72E-7F8A-4997-EDD75344805F}"/>
                  </a:ext>
                </a:extLst>
              </p:cNvPr>
              <p:cNvSpPr>
                <a:spLocks noGrp="1" noRot="1" noChangeAspect="1" noMove="1" noResize="1" noEditPoints="1" noAdjustHandles="1" noChangeArrowheads="1" noChangeShapeType="1" noTextEdit="1"/>
              </p:cNvSpPr>
              <p:nvPr>
                <p:ph idx="1"/>
              </p:nvPr>
            </p:nvSpPr>
            <p:spPr>
              <a:xfrm>
                <a:off x="457200" y="1481328"/>
                <a:ext cx="8382000" cy="4767072"/>
              </a:xfrm>
              <a:blipFill>
                <a:blip r:embed="rId2"/>
                <a:stretch>
                  <a:fillRect t="-1790" r="-1745"/>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a:t>Size of MM vs. CPU Efficiency</a:t>
            </a:r>
          </a:p>
        </p:txBody>
      </p:sp>
    </p:spTree>
    <p:extLst>
      <p:ext uri="{BB962C8B-B14F-4D97-AF65-F5344CB8AC3E}">
        <p14:creationId xmlns:p14="http://schemas.microsoft.com/office/powerpoint/2010/main" val="3439173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457200" y="1481328"/>
                <a:ext cx="8382000" cy="4767072"/>
              </a:xfrm>
            </p:spPr>
            <p:txBody>
              <a:bodyPr>
                <a:normAutofit fontScale="92500"/>
              </a:bodyPr>
              <a:lstStyle/>
              <a:p>
                <a:r>
                  <a:rPr lang="en-IN" dirty="0">
                    <a:solidFill>
                      <a:srgbClr val="0070C0"/>
                    </a:solidFill>
                    <a:latin typeface="Times New Roman" panose="02020603050405020304" pitchFamily="18" charset="0"/>
                    <a:cs typeface="Times New Roman" panose="02020603050405020304" pitchFamily="18" charset="0"/>
                  </a:rPr>
                  <a:t>Conclusion: </a:t>
                </a:r>
                <a:r>
                  <a:rPr lang="en-IN" dirty="0">
                    <a:latin typeface="Times New Roman" panose="02020603050405020304" pitchFamily="18" charset="0"/>
                    <a:cs typeface="Times New Roman" panose="02020603050405020304" pitchFamily="18" charset="0"/>
                  </a:rPr>
                  <a:t>CPU utilization is not going to increase linearly with the increase in main memory.</a:t>
                </a:r>
              </a:p>
              <a:p>
                <a:pPr marL="109728" indent="0">
                  <a:buNone/>
                </a:pP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As </a:t>
                </a:r>
                <a:r>
                  <a:rPr lang="en-IN" dirty="0">
                    <a:solidFill>
                      <a:srgbClr val="FF0000"/>
                    </a:solidFill>
                    <a:latin typeface="Times New Roman" panose="02020603050405020304" pitchFamily="18" charset="0"/>
                    <a:cs typeface="Times New Roman" panose="02020603050405020304" pitchFamily="18" charset="0"/>
                  </a:rPr>
                  <a:t>CPU Utilization = (1-</a:t>
                </a:r>
                <a:r>
                  <a:rPr lang="en-IN" dirty="0">
                    <a:solidFill>
                      <a:srgbClr val="FF0000"/>
                    </a:solidFill>
                    <a:cs typeface="Times New Roman" panose="02020603050405020304" pitchFamily="18" charset="0"/>
                  </a:rPr>
                  <a:t> </a:t>
                </a:r>
                <a14:m>
                  <m:oMath xmlns:m="http://schemas.openxmlformats.org/officeDocument/2006/math">
                    <m:sSup>
                      <m:sSupPr>
                        <m:ctrlPr>
                          <a:rPr lang="en-IN" i="1" smtClean="0">
                            <a:solidFill>
                              <a:srgbClr val="FF0000"/>
                            </a:solidFill>
                            <a:latin typeface="Cambria Math" panose="02040503050406030204" pitchFamily="18" charset="0"/>
                            <a:cs typeface="Times New Roman" panose="02020603050405020304" pitchFamily="18" charset="0"/>
                          </a:rPr>
                        </m:ctrlPr>
                      </m:sSupPr>
                      <m:e>
                        <m:r>
                          <a:rPr lang="en-IN" b="0" i="1" smtClean="0">
                            <a:solidFill>
                              <a:srgbClr val="FF0000"/>
                            </a:solidFill>
                            <a:latin typeface="Cambria Math" panose="02040503050406030204" pitchFamily="18" charset="0"/>
                            <a:cs typeface="Times New Roman" panose="02020603050405020304" pitchFamily="18" charset="0"/>
                          </a:rPr>
                          <m:t>𝑃</m:t>
                        </m:r>
                      </m:e>
                      <m:sup>
                        <m:r>
                          <a:rPr lang="en-IN" b="0" i="1" smtClean="0">
                            <a:solidFill>
                              <a:srgbClr val="FF0000"/>
                            </a:solidFill>
                            <a:latin typeface="Cambria Math" panose="02040503050406030204" pitchFamily="18" charset="0"/>
                            <a:cs typeface="Times New Roman" panose="02020603050405020304" pitchFamily="18" charset="0"/>
                          </a:rPr>
                          <m:t>𝑛</m:t>
                        </m:r>
                      </m:sup>
                    </m:sSup>
                  </m:oMath>
                </a14:m>
                <a:r>
                  <a:rPr lang="en-IN" dirty="0">
                    <a:solidFill>
                      <a:srgbClr val="FF0000"/>
                    </a:solidFill>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where “n” is the number of processes that are present at any time in main memory.</a:t>
                </a:r>
              </a:p>
              <a:p>
                <a:endParaRPr lang="en-IN" dirty="0">
                  <a:solidFill>
                    <a:srgbClr val="FF0000"/>
                  </a:solidFill>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Hence, CPU Utilization increases with the </a:t>
                </a:r>
                <a:r>
                  <a:rPr lang="en-IN" dirty="0">
                    <a:solidFill>
                      <a:srgbClr val="FF0000"/>
                    </a:solidFill>
                    <a:latin typeface="Times New Roman" panose="02020603050405020304" pitchFamily="18" charset="0"/>
                    <a:cs typeface="Times New Roman" panose="02020603050405020304" pitchFamily="18" charset="0"/>
                  </a:rPr>
                  <a:t>Degree of Multiprogramming</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So, MM is all about , how to increase the CPU utilization by putting as many processes in the main memory as possible.</a:t>
                </a:r>
              </a:p>
            </p:txBody>
          </p:sp>
        </mc:Choice>
        <mc:Fallback xmlns="">
          <p:sp>
            <p:nvSpPr>
              <p:cNvPr id="2" name="Content Placeholder 1">
                <a:extLst>
                  <a:ext uri="{FF2B5EF4-FFF2-40B4-BE49-F238E27FC236}">
                    <a16:creationId xmlns:a16="http://schemas.microsoft.com/office/drawing/2014/main" id="{16DA1ADC-A72E-7F8A-4997-EDD75344805F}"/>
                  </a:ext>
                </a:extLst>
              </p:cNvPr>
              <p:cNvSpPr>
                <a:spLocks noGrp="1" noRot="1" noChangeAspect="1" noMove="1" noResize="1" noEditPoints="1" noAdjustHandles="1" noChangeArrowheads="1" noChangeShapeType="1" noTextEdit="1"/>
              </p:cNvSpPr>
              <p:nvPr>
                <p:ph idx="1"/>
              </p:nvPr>
            </p:nvSpPr>
            <p:spPr>
              <a:xfrm>
                <a:off x="457200" y="1481328"/>
                <a:ext cx="8382000" cy="4767072"/>
              </a:xfrm>
              <a:blipFill>
                <a:blip r:embed="rId2"/>
                <a:stretch>
                  <a:fillRect t="-1023" r="-509"/>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a:t>Size of MM vs. CPU Efficiency</a:t>
            </a:r>
          </a:p>
        </p:txBody>
      </p:sp>
    </p:spTree>
    <p:extLst>
      <p:ext uri="{BB962C8B-B14F-4D97-AF65-F5344CB8AC3E}">
        <p14:creationId xmlns:p14="http://schemas.microsoft.com/office/powerpoint/2010/main" val="3883214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457200" y="1481328"/>
            <a:ext cx="8229600" cy="4767072"/>
          </a:xfrm>
        </p:spPr>
        <p:txBody>
          <a:bodyPr>
            <a:normAutofit/>
          </a:bodyPr>
          <a:lstStyle/>
          <a:p>
            <a:pPr algn="just"/>
            <a:r>
              <a:rPr lang="en-IN" dirty="0">
                <a:latin typeface="Times New Roman" panose="02020603050405020304" pitchFamily="18" charset="0"/>
                <a:cs typeface="Times New Roman" panose="02020603050405020304" pitchFamily="18" charset="0"/>
              </a:rPr>
              <a:t>When more than one processes are present </a:t>
            </a:r>
            <a:r>
              <a:rPr lang="en-IN" dirty="0">
                <a:solidFill>
                  <a:srgbClr val="0070C0"/>
                </a:solidFill>
                <a:latin typeface="Times New Roman" panose="02020603050405020304" pitchFamily="18" charset="0"/>
                <a:cs typeface="Times New Roman" panose="02020603050405020304" pitchFamily="18" charset="0"/>
              </a:rPr>
              <a:t>simultaneously</a:t>
            </a:r>
            <a:r>
              <a:rPr lang="en-IN" dirty="0">
                <a:latin typeface="Times New Roman" panose="02020603050405020304" pitchFamily="18" charset="0"/>
                <a:cs typeface="Times New Roman" panose="02020603050405020304" pitchFamily="18" charset="0"/>
              </a:rPr>
              <a:t> in the Main Memory, then: </a:t>
            </a:r>
          </a:p>
          <a:p>
            <a:pPr algn="just"/>
            <a:endParaRPr lang="en-IN" dirty="0">
              <a:latin typeface="Times New Roman" panose="02020603050405020304" pitchFamily="18" charset="0"/>
              <a:cs typeface="Times New Roman" panose="02020603050405020304" pitchFamily="18" charset="0"/>
            </a:endParaRPr>
          </a:p>
          <a:p>
            <a:pPr algn="just"/>
            <a:r>
              <a:rPr lang="en-IN" dirty="0">
                <a:solidFill>
                  <a:srgbClr val="FF0000"/>
                </a:solidFill>
                <a:latin typeface="Times New Roman" panose="02020603050405020304" pitchFamily="18" charset="0"/>
                <a:cs typeface="Times New Roman" panose="02020603050405020304" pitchFamily="18" charset="0"/>
              </a:rPr>
              <a:t>How much memory </a:t>
            </a:r>
            <a:r>
              <a:rPr lang="en-IN" dirty="0">
                <a:latin typeface="Times New Roman" panose="02020603050405020304" pitchFamily="18" charset="0"/>
                <a:cs typeface="Times New Roman" panose="02020603050405020304" pitchFamily="18" charset="0"/>
              </a:rPr>
              <a:t>space to be allocated to each process.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How we are going to </a:t>
            </a:r>
            <a:r>
              <a:rPr lang="en-IN" dirty="0">
                <a:solidFill>
                  <a:srgbClr val="FF0000"/>
                </a:solidFill>
                <a:latin typeface="Times New Roman" panose="02020603050405020304" pitchFamily="18" charset="0"/>
                <a:cs typeface="Times New Roman" panose="02020603050405020304" pitchFamily="18" charset="0"/>
              </a:rPr>
              <a:t>Allocate</a:t>
            </a:r>
            <a:r>
              <a:rPr lang="en-IN" dirty="0">
                <a:latin typeface="Times New Roman" panose="02020603050405020304" pitchFamily="18" charset="0"/>
                <a:cs typeface="Times New Roman" panose="02020603050405020304" pitchFamily="18" charset="0"/>
              </a:rPr>
              <a:t> that space.</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How we are going to </a:t>
            </a:r>
            <a:r>
              <a:rPr lang="en-IN" dirty="0">
                <a:solidFill>
                  <a:srgbClr val="FF0000"/>
                </a:solidFill>
                <a:latin typeface="Times New Roman" panose="02020603050405020304" pitchFamily="18" charset="0"/>
                <a:cs typeface="Times New Roman" panose="02020603050405020304" pitchFamily="18" charset="0"/>
              </a:rPr>
              <a:t>De-Allocate</a:t>
            </a:r>
            <a:r>
              <a:rPr lang="en-IN" dirty="0">
                <a:latin typeface="Times New Roman" panose="02020603050405020304" pitchFamily="18" charset="0"/>
                <a:cs typeface="Times New Roman" panose="02020603050405020304" pitchFamily="18" charset="0"/>
              </a:rPr>
              <a:t> that Space.</a:t>
            </a: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p:txBody>
          <a:bodyPr>
            <a:normAutofit/>
          </a:bodyPr>
          <a:lstStyle/>
          <a:p>
            <a:r>
              <a:rPr lang="en-IN" dirty="0"/>
              <a:t>Problem</a:t>
            </a:r>
          </a:p>
        </p:txBody>
      </p:sp>
    </p:spTree>
    <p:extLst>
      <p:ext uri="{BB962C8B-B14F-4D97-AF65-F5344CB8AC3E}">
        <p14:creationId xmlns:p14="http://schemas.microsoft.com/office/powerpoint/2010/main" val="2074865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457200" y="1481328"/>
            <a:ext cx="8229600" cy="4767072"/>
          </a:xfrm>
        </p:spPr>
        <p:txBody>
          <a:bodyPr>
            <a:normAutofit/>
          </a:bodyPr>
          <a:lstStyle/>
          <a:p>
            <a:pPr algn="just"/>
            <a:r>
              <a:rPr lang="en-IN" dirty="0">
                <a:latin typeface="Times New Roman" panose="02020603050405020304" pitchFamily="18" charset="0"/>
                <a:cs typeface="Times New Roman" panose="02020603050405020304" pitchFamily="18" charset="0"/>
              </a:rPr>
              <a:t>1. Access Time </a:t>
            </a:r>
            <a:r>
              <a:rPr lang="en-IN" dirty="0">
                <a:latin typeface="Times New Roman" panose="02020603050405020304" pitchFamily="18" charset="0"/>
                <a:cs typeface="Times New Roman" panose="02020603050405020304" pitchFamily="18" charset="0"/>
                <a:sym typeface="Wingdings" panose="05000000000000000000" pitchFamily="2" charset="2"/>
              </a:rPr>
              <a:t></a:t>
            </a:r>
            <a:r>
              <a:rPr lang="en-IN"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Less  </a:t>
            </a:r>
            <a:r>
              <a:rPr lang="en-IN" dirty="0">
                <a:latin typeface="Times New Roman" panose="02020603050405020304" pitchFamily="18" charset="0"/>
                <a:cs typeface="Times New Roman" panose="02020603050405020304" pitchFamily="18" charset="0"/>
                <a:sym typeface="Wingdings" panose="05000000000000000000" pitchFamily="2" charset="2"/>
              </a:rPr>
              <a:t>(Fast Access)</a:t>
            </a:r>
          </a:p>
          <a:p>
            <a:pPr algn="just"/>
            <a:endParaRPr lang="en-IN" dirty="0">
              <a:latin typeface="Times New Roman" panose="02020603050405020304" pitchFamily="18" charset="0"/>
              <a:cs typeface="Times New Roman" panose="02020603050405020304" pitchFamily="18" charset="0"/>
              <a:sym typeface="Wingdings" panose="05000000000000000000" pitchFamily="2" charset="2"/>
            </a:endParaRPr>
          </a:p>
          <a:p>
            <a:pPr algn="just"/>
            <a:r>
              <a:rPr lang="en-IN" dirty="0">
                <a:latin typeface="Times New Roman" panose="02020603050405020304" pitchFamily="18" charset="0"/>
                <a:cs typeface="Times New Roman" panose="02020603050405020304" pitchFamily="18" charset="0"/>
                <a:sym typeface="Wingdings" panose="05000000000000000000" pitchFamily="2" charset="2"/>
              </a:rPr>
              <a:t>2. Memory Size </a:t>
            </a:r>
            <a:r>
              <a:rPr lang="en-IN"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Large  </a:t>
            </a:r>
          </a:p>
          <a:p>
            <a:pPr marL="109728" indent="0" algn="just">
              <a:buNone/>
            </a:pPr>
            <a:r>
              <a:rPr lang="en-IN" dirty="0">
                <a:latin typeface="Times New Roman" panose="02020603050405020304" pitchFamily="18" charset="0"/>
                <a:cs typeface="Times New Roman" panose="02020603050405020304" pitchFamily="18" charset="0"/>
                <a:sym typeface="Wingdings" panose="05000000000000000000" pitchFamily="2" charset="2"/>
              </a:rPr>
              <a:t>	(when size is increased access time also increases)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3. Cost per Unit area </a:t>
            </a:r>
            <a:r>
              <a:rPr lang="en-IN" dirty="0">
                <a:latin typeface="Times New Roman" panose="02020603050405020304" pitchFamily="18" charset="0"/>
                <a:cs typeface="Times New Roman" panose="02020603050405020304" pitchFamily="18" charset="0"/>
                <a:sym typeface="Wingdings" panose="05000000000000000000" pitchFamily="2" charset="2"/>
              </a:rPr>
              <a:t> </a:t>
            </a:r>
            <a:r>
              <a:rPr lang="en-IN"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Low</a:t>
            </a:r>
            <a:r>
              <a:rPr lang="en-IN" dirty="0">
                <a:latin typeface="Times New Roman" panose="02020603050405020304" pitchFamily="18" charset="0"/>
                <a:cs typeface="Times New Roman" panose="02020603050405020304" pitchFamily="18" charset="0"/>
                <a:sym typeface="Wingdings" panose="05000000000000000000" pitchFamily="2" charset="2"/>
              </a:rPr>
              <a:t> </a:t>
            </a:r>
          </a:p>
          <a:p>
            <a:pPr marL="109728" indent="0" algn="just">
              <a:buNone/>
            </a:pPr>
            <a:r>
              <a:rPr lang="en-IN" dirty="0">
                <a:latin typeface="Times New Roman" panose="02020603050405020304" pitchFamily="18" charset="0"/>
                <a:cs typeface="Times New Roman" panose="02020603050405020304" pitchFamily="18" charset="0"/>
                <a:sym typeface="Wingdings" panose="05000000000000000000" pitchFamily="2" charset="2"/>
              </a:rPr>
              <a:t>	(When size is increased, Cost also increases )</a:t>
            </a:r>
          </a:p>
          <a:p>
            <a:pPr marL="109728" indent="0" algn="just">
              <a:buNone/>
            </a:pPr>
            <a:endParaRPr lang="en-IN" dirty="0">
              <a:latin typeface="Times New Roman" panose="02020603050405020304" pitchFamily="18" charset="0"/>
              <a:cs typeface="Times New Roman" panose="02020603050405020304" pitchFamily="18" charset="0"/>
            </a:endParaRPr>
          </a:p>
          <a:p>
            <a:pPr marL="109728" indent="0" algn="just">
              <a:buNone/>
            </a:pP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274638"/>
            <a:ext cx="8229600" cy="715962"/>
          </a:xfrm>
        </p:spPr>
        <p:txBody>
          <a:bodyPr>
            <a:normAutofit fontScale="90000"/>
          </a:bodyPr>
          <a:lstStyle/>
          <a:p>
            <a:r>
              <a:rPr lang="en-IN" dirty="0"/>
              <a:t>Criteria:</a:t>
            </a:r>
          </a:p>
        </p:txBody>
      </p:sp>
      <p:pic>
        <p:nvPicPr>
          <p:cNvPr id="5" name="Picture 4" descr="A diagram of a memory&#10;&#10;Description automatically generated">
            <a:extLst>
              <a:ext uri="{FF2B5EF4-FFF2-40B4-BE49-F238E27FC236}">
                <a16:creationId xmlns:a16="http://schemas.microsoft.com/office/drawing/2014/main" id="{E3B1F7B0-45D6-9224-3BB9-BBCECC9B08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4953000"/>
            <a:ext cx="6324600" cy="1477962"/>
          </a:xfrm>
          <a:prstGeom prst="rect">
            <a:avLst/>
          </a:prstGeom>
        </p:spPr>
      </p:pic>
    </p:spTree>
    <p:extLst>
      <p:ext uri="{BB962C8B-B14F-4D97-AF65-F5344CB8AC3E}">
        <p14:creationId xmlns:p14="http://schemas.microsoft.com/office/powerpoint/2010/main" val="1793584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DA1ADC-A72E-7F8A-4997-EDD75344805F}"/>
              </a:ext>
            </a:extLst>
          </p:cNvPr>
          <p:cNvSpPr>
            <a:spLocks noGrp="1"/>
          </p:cNvSpPr>
          <p:nvPr>
            <p:ph idx="1"/>
          </p:nvPr>
        </p:nvSpPr>
        <p:spPr>
          <a:xfrm>
            <a:off x="457200" y="1481328"/>
            <a:ext cx="8229600" cy="4767072"/>
          </a:xfrm>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Normally, the instructions are run in a sequential manner. </a:t>
            </a:r>
          </a:p>
          <a:p>
            <a:pPr algn="just"/>
            <a:endParaRPr lang="en-IN" dirty="0">
              <a:latin typeface="Times New Roman" panose="02020603050405020304" pitchFamily="18" charset="0"/>
              <a:cs typeface="Times New Roman" panose="02020603050405020304" pitchFamily="18" charset="0"/>
              <a:sym typeface="Wingdings" panose="05000000000000000000" pitchFamily="2" charset="2"/>
            </a:endParaRPr>
          </a:p>
          <a:p>
            <a:pPr algn="just"/>
            <a:r>
              <a:rPr lang="en-IN" dirty="0">
                <a:latin typeface="Times New Roman" panose="02020603050405020304" pitchFamily="18" charset="0"/>
                <a:cs typeface="Times New Roman" panose="02020603050405020304" pitchFamily="18" charset="0"/>
                <a:sym typeface="Wingdings" panose="05000000000000000000" pitchFamily="2" charset="2"/>
              </a:rPr>
              <a:t>Next coming possible instructions are shifted from secondary memory &amp; placed in part of main memory.</a:t>
            </a:r>
          </a:p>
          <a:p>
            <a:pPr algn="just"/>
            <a:endParaRPr lang="en-IN" dirty="0">
              <a:latin typeface="Times New Roman" panose="02020603050405020304" pitchFamily="18" charset="0"/>
              <a:cs typeface="Times New Roman" panose="02020603050405020304" pitchFamily="18" charset="0"/>
              <a:sym typeface="Wingdings" panose="05000000000000000000" pitchFamily="2" charset="2"/>
            </a:endParaRPr>
          </a:p>
          <a:p>
            <a:pPr algn="just"/>
            <a:r>
              <a:rPr lang="en-IN" dirty="0">
                <a:latin typeface="Times New Roman" panose="02020603050405020304" pitchFamily="18" charset="0"/>
                <a:cs typeface="Times New Roman" panose="02020603050405020304" pitchFamily="18" charset="0"/>
                <a:sym typeface="Wingdings" panose="05000000000000000000" pitchFamily="2" charset="2"/>
              </a:rPr>
              <a:t>Hence, for most frequently used instructions we use cache memory.</a:t>
            </a:r>
          </a:p>
          <a:p>
            <a:pPr algn="just"/>
            <a:endParaRPr lang="en-IN" dirty="0">
              <a:latin typeface="Times New Roman" panose="02020603050405020304" pitchFamily="18" charset="0"/>
              <a:cs typeface="Times New Roman" panose="02020603050405020304" pitchFamily="18" charset="0"/>
              <a:sym typeface="Wingdings" panose="05000000000000000000" pitchFamily="2" charset="2"/>
            </a:endParaRPr>
          </a:p>
          <a:p>
            <a:pPr algn="just"/>
            <a:r>
              <a:rPr lang="en-IN" dirty="0">
                <a:latin typeface="Times New Roman" panose="02020603050405020304" pitchFamily="18" charset="0"/>
                <a:cs typeface="Times New Roman" panose="02020603050405020304" pitchFamily="18" charset="0"/>
                <a:sym typeface="Wingdings" panose="05000000000000000000" pitchFamily="2" charset="2"/>
              </a:rPr>
              <a:t> Average Access time = h x (MM) + (1-h) x (Miss penalty)</a:t>
            </a:r>
          </a:p>
          <a:p>
            <a:pPr algn="just"/>
            <a:endParaRPr lang="en-IN" dirty="0">
              <a:latin typeface="Times New Roman" panose="02020603050405020304" pitchFamily="18" charset="0"/>
              <a:cs typeface="Times New Roman" panose="02020603050405020304" pitchFamily="18" charset="0"/>
              <a:sym typeface="Wingdings" panose="05000000000000000000" pitchFamily="2" charset="2"/>
            </a:endParaRPr>
          </a:p>
          <a:p>
            <a:pPr marL="109728" indent="0" algn="just">
              <a:buNone/>
            </a:pPr>
            <a:endParaRPr lang="en-IN" dirty="0">
              <a:latin typeface="Times New Roman" panose="02020603050405020304" pitchFamily="18" charset="0"/>
              <a:cs typeface="Times New Roman" panose="02020603050405020304" pitchFamily="18" charset="0"/>
            </a:endParaRPr>
          </a:p>
          <a:p>
            <a:pPr marL="109728" indent="0" algn="just">
              <a:buNone/>
            </a:pP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274638"/>
            <a:ext cx="8229600" cy="715962"/>
          </a:xfrm>
        </p:spPr>
        <p:txBody>
          <a:bodyPr>
            <a:normAutofit fontScale="90000"/>
          </a:bodyPr>
          <a:lstStyle/>
          <a:p>
            <a:r>
              <a:rPr lang="en-IN" dirty="0"/>
              <a:t>Criteria:</a:t>
            </a:r>
          </a:p>
        </p:txBody>
      </p:sp>
    </p:spTree>
    <p:extLst>
      <p:ext uri="{BB962C8B-B14F-4D97-AF65-F5344CB8AC3E}">
        <p14:creationId xmlns:p14="http://schemas.microsoft.com/office/powerpoint/2010/main" val="1360590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code&#10;&#10;Description automatically generated">
            <a:extLst>
              <a:ext uri="{FF2B5EF4-FFF2-40B4-BE49-F238E27FC236}">
                <a16:creationId xmlns:a16="http://schemas.microsoft.com/office/drawing/2014/main" id="{BAEFD7D5-E072-0346-C34C-F5401C371F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6200" y="1066800"/>
            <a:ext cx="5181600" cy="5516562"/>
          </a:xfrm>
        </p:spPr>
      </p:pic>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274638"/>
            <a:ext cx="8229600" cy="792162"/>
          </a:xfrm>
        </p:spPr>
        <p:txBody>
          <a:bodyPr>
            <a:normAutofit fontScale="90000"/>
          </a:bodyPr>
          <a:lstStyle/>
          <a:p>
            <a:r>
              <a:rPr lang="en-IN" dirty="0">
                <a:solidFill>
                  <a:srgbClr val="FF0000"/>
                </a:solidFill>
              </a:rPr>
              <a:t>Object Code, Relocation &amp; Linker</a:t>
            </a:r>
          </a:p>
        </p:txBody>
      </p:sp>
      <p:sp>
        <p:nvSpPr>
          <p:cNvPr id="6" name="TextBox 5">
            <a:extLst>
              <a:ext uri="{FF2B5EF4-FFF2-40B4-BE49-F238E27FC236}">
                <a16:creationId xmlns:a16="http://schemas.microsoft.com/office/drawing/2014/main" id="{2A32EFBB-DB69-6B45-90E1-2B362FB6C250}"/>
              </a:ext>
            </a:extLst>
          </p:cNvPr>
          <p:cNvSpPr txBox="1"/>
          <p:nvPr/>
        </p:nvSpPr>
        <p:spPr>
          <a:xfrm>
            <a:off x="457200" y="1752600"/>
            <a:ext cx="4114800" cy="3785652"/>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Assembler will be different for different platforms. </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Different hardware platforms will have different Assemblers.</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Once, these steps will be Completed, the object code will be present in the Hard disk.</a:t>
            </a:r>
          </a:p>
        </p:txBody>
      </p:sp>
    </p:spTree>
    <p:extLst>
      <p:ext uri="{BB962C8B-B14F-4D97-AF65-F5344CB8AC3E}">
        <p14:creationId xmlns:p14="http://schemas.microsoft.com/office/powerpoint/2010/main" val="29330158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76200"/>
            <a:ext cx="8229600" cy="609600"/>
          </a:xfrm>
        </p:spPr>
        <p:txBody>
          <a:bodyPr>
            <a:normAutofit fontScale="90000"/>
          </a:bodyPr>
          <a:lstStyle/>
          <a:p>
            <a:r>
              <a:rPr lang="en-IN" dirty="0">
                <a:solidFill>
                  <a:srgbClr val="FF0000"/>
                </a:solidFill>
              </a:rPr>
              <a:t>Object Code, Relocation &amp; Linker</a:t>
            </a:r>
          </a:p>
        </p:txBody>
      </p:sp>
      <p:sp>
        <p:nvSpPr>
          <p:cNvPr id="6" name="TextBox 5">
            <a:extLst>
              <a:ext uri="{FF2B5EF4-FFF2-40B4-BE49-F238E27FC236}">
                <a16:creationId xmlns:a16="http://schemas.microsoft.com/office/drawing/2014/main" id="{2A32EFBB-DB69-6B45-90E1-2B362FB6C250}"/>
              </a:ext>
            </a:extLst>
          </p:cNvPr>
          <p:cNvSpPr txBox="1"/>
          <p:nvPr/>
        </p:nvSpPr>
        <p:spPr>
          <a:xfrm>
            <a:off x="228600" y="914400"/>
            <a:ext cx="6096000" cy="5170646"/>
          </a:xfrm>
          <a:prstGeom prst="rect">
            <a:avLst/>
          </a:prstGeom>
          <a:noFill/>
        </p:spPr>
        <p:txBody>
          <a:bodyPr wrap="square" rtlCol="0">
            <a:spAutoFit/>
          </a:bodyPr>
          <a:lstStyle/>
          <a:p>
            <a:pPr algn="just"/>
            <a:r>
              <a:rPr lang="en-IN" sz="2200" dirty="0">
                <a:solidFill>
                  <a:srgbClr val="FF0000"/>
                </a:solidFill>
                <a:latin typeface="Times New Roman" panose="02020603050405020304" pitchFamily="18" charset="0"/>
                <a:cs typeface="Times New Roman" panose="02020603050405020304" pitchFamily="18" charset="0"/>
              </a:rPr>
              <a:t>Header: </a:t>
            </a:r>
            <a:r>
              <a:rPr lang="en-IN" sz="2200" dirty="0">
                <a:latin typeface="Times New Roman" panose="02020603050405020304" pitchFamily="18" charset="0"/>
                <a:cs typeface="Times New Roman" panose="02020603050405020304" pitchFamily="18" charset="0"/>
              </a:rPr>
              <a:t>Pointers to various parts present in the object code.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solidFill>
                  <a:srgbClr val="FF0000"/>
                </a:solidFill>
                <a:latin typeface="Times New Roman" panose="02020603050405020304" pitchFamily="18" charset="0"/>
                <a:cs typeface="Times New Roman" panose="02020603050405020304" pitchFamily="18" charset="0"/>
              </a:rPr>
              <a:t>Text Seg: </a:t>
            </a:r>
            <a:r>
              <a:rPr lang="en-IN" sz="2200" dirty="0">
                <a:latin typeface="Times New Roman" panose="02020603050405020304" pitchFamily="18" charset="0"/>
                <a:cs typeface="Times New Roman" panose="02020603050405020304" pitchFamily="18" charset="0"/>
              </a:rPr>
              <a:t>Consists of Instructions.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solidFill>
                  <a:srgbClr val="FF0000"/>
                </a:solidFill>
                <a:latin typeface="Times New Roman" panose="02020603050405020304" pitchFamily="18" charset="0"/>
                <a:cs typeface="Times New Roman" panose="02020603050405020304" pitchFamily="18" charset="0"/>
              </a:rPr>
              <a:t>Data Seg: </a:t>
            </a:r>
            <a:r>
              <a:rPr lang="en-IN" sz="2200" dirty="0">
                <a:latin typeface="Times New Roman" panose="02020603050405020304" pitchFamily="18" charset="0"/>
                <a:cs typeface="Times New Roman" panose="02020603050405020304" pitchFamily="18" charset="0"/>
              </a:rPr>
              <a:t>Information about the data that is being used.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solidFill>
                  <a:srgbClr val="FF0000"/>
                </a:solidFill>
                <a:latin typeface="Times New Roman" panose="02020603050405020304" pitchFamily="18" charset="0"/>
                <a:cs typeface="Times New Roman" panose="02020603050405020304" pitchFamily="18" charset="0"/>
              </a:rPr>
              <a:t>Relocation Info: </a:t>
            </a:r>
            <a:r>
              <a:rPr lang="en-IN" sz="2200" dirty="0">
                <a:latin typeface="Times New Roman" panose="02020603050405020304" pitchFamily="18" charset="0"/>
                <a:cs typeface="Times New Roman" panose="02020603050405020304" pitchFamily="18" charset="0"/>
              </a:rPr>
              <a:t>To convert “Relocatable Code” into “Absolute Address Code”.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solidFill>
                  <a:srgbClr val="FF0000"/>
                </a:solidFill>
                <a:latin typeface="Times New Roman" panose="02020603050405020304" pitchFamily="18" charset="0"/>
                <a:cs typeface="Times New Roman" panose="02020603050405020304" pitchFamily="18" charset="0"/>
              </a:rPr>
              <a:t>Symbol Table: </a:t>
            </a:r>
            <a:r>
              <a:rPr lang="en-IN" sz="2200" dirty="0">
                <a:latin typeface="Times New Roman" panose="02020603050405020304" pitchFamily="18" charset="0"/>
                <a:cs typeface="Times New Roman" panose="02020603050405020304" pitchFamily="18" charset="0"/>
              </a:rPr>
              <a:t>Each and every symbol that have been used in the program.</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solidFill>
                  <a:srgbClr val="FF0000"/>
                </a:solidFill>
                <a:latin typeface="Times New Roman" panose="02020603050405020304" pitchFamily="18" charset="0"/>
                <a:cs typeface="Times New Roman" panose="02020603050405020304" pitchFamily="18" charset="0"/>
              </a:rPr>
              <a:t>Debugging Info: </a:t>
            </a:r>
            <a:r>
              <a:rPr lang="en-IN" sz="2200" dirty="0">
                <a:latin typeface="Times New Roman" panose="02020603050405020304" pitchFamily="18" charset="0"/>
                <a:cs typeface="Times New Roman" panose="02020603050405020304" pitchFamily="18" charset="0"/>
              </a:rPr>
              <a:t>How a variable keep on changing. </a:t>
            </a:r>
          </a:p>
        </p:txBody>
      </p:sp>
      <p:pic>
        <p:nvPicPr>
          <p:cNvPr id="8" name="Content Placeholder 7" descr="A screen shot of a computer&#10;&#10;Description automatically generated">
            <a:extLst>
              <a:ext uri="{FF2B5EF4-FFF2-40B4-BE49-F238E27FC236}">
                <a16:creationId xmlns:a16="http://schemas.microsoft.com/office/drawing/2014/main" id="{A04746C2-1BC9-BF99-5994-7C99F34768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24600" y="990600"/>
            <a:ext cx="2743200" cy="5334000"/>
          </a:xfrm>
        </p:spPr>
      </p:pic>
    </p:spTree>
    <p:extLst>
      <p:ext uri="{BB962C8B-B14F-4D97-AF65-F5344CB8AC3E}">
        <p14:creationId xmlns:p14="http://schemas.microsoft.com/office/powerpoint/2010/main" val="2524597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76200"/>
            <a:ext cx="8229600" cy="609600"/>
          </a:xfrm>
        </p:spPr>
        <p:txBody>
          <a:bodyPr>
            <a:normAutofit fontScale="90000"/>
          </a:bodyPr>
          <a:lstStyle/>
          <a:p>
            <a:r>
              <a:rPr lang="en-IN" dirty="0">
                <a:solidFill>
                  <a:srgbClr val="FF0000"/>
                </a:solidFill>
              </a:rPr>
              <a:t>Object Code, Relocation &amp; Linker</a:t>
            </a:r>
          </a:p>
        </p:txBody>
      </p:sp>
      <p:pic>
        <p:nvPicPr>
          <p:cNvPr id="7" name="Content Placeholder 6" descr="A diagram of a linker&#10;&#10;Description automatically generated">
            <a:extLst>
              <a:ext uri="{FF2B5EF4-FFF2-40B4-BE49-F238E27FC236}">
                <a16:creationId xmlns:a16="http://schemas.microsoft.com/office/drawing/2014/main" id="{CEC29573-7DFD-5987-CF95-50484CCAFD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990600"/>
            <a:ext cx="6629400" cy="4114800"/>
          </a:xfrm>
        </p:spPr>
      </p:pic>
      <p:sp>
        <p:nvSpPr>
          <p:cNvPr id="9" name="TextBox 8">
            <a:extLst>
              <a:ext uri="{FF2B5EF4-FFF2-40B4-BE49-F238E27FC236}">
                <a16:creationId xmlns:a16="http://schemas.microsoft.com/office/drawing/2014/main" id="{9B07714A-733C-7B3A-06BE-B13DDB247241}"/>
              </a:ext>
            </a:extLst>
          </p:cNvPr>
          <p:cNvSpPr txBox="1"/>
          <p:nvPr/>
        </p:nvSpPr>
        <p:spPr>
          <a:xfrm>
            <a:off x="5029200" y="3392269"/>
            <a:ext cx="3886200" cy="2862322"/>
          </a:xfrm>
          <a:prstGeom prst="rect">
            <a:avLst/>
          </a:prstGeom>
          <a:noFill/>
        </p:spPr>
        <p:txBody>
          <a:bodyPr wrap="square" rtlCol="0">
            <a:spAutoFit/>
          </a:bodyPr>
          <a:lstStyle/>
          <a:p>
            <a:pPr algn="just"/>
            <a:r>
              <a:rPr lang="en-IN" dirty="0">
                <a:solidFill>
                  <a:srgbClr val="0070C0"/>
                </a:solidFill>
              </a:rPr>
              <a:t>Modified object code will be created by Linker.</a:t>
            </a:r>
          </a:p>
          <a:p>
            <a:pPr algn="just"/>
            <a:endParaRPr lang="en-IN" dirty="0">
              <a:solidFill>
                <a:srgbClr val="0070C0"/>
              </a:solidFill>
            </a:endParaRPr>
          </a:p>
          <a:p>
            <a:pPr algn="just"/>
            <a:r>
              <a:rPr lang="en-IN" dirty="0">
                <a:solidFill>
                  <a:srgbClr val="0070C0"/>
                </a:solidFill>
              </a:rPr>
              <a:t>Linker will figure out what are all the external references we have and where to put all these segments together.</a:t>
            </a:r>
          </a:p>
          <a:p>
            <a:pPr algn="just"/>
            <a:endParaRPr lang="en-IN" dirty="0">
              <a:solidFill>
                <a:srgbClr val="0070C0"/>
              </a:solidFill>
            </a:endParaRPr>
          </a:p>
          <a:p>
            <a:pPr algn="just"/>
            <a:r>
              <a:rPr lang="en-IN" dirty="0">
                <a:solidFill>
                  <a:srgbClr val="0070C0"/>
                </a:solidFill>
              </a:rPr>
              <a:t>For this Segment table and symbol table are used.</a:t>
            </a:r>
          </a:p>
        </p:txBody>
      </p:sp>
    </p:spTree>
    <p:extLst>
      <p:ext uri="{BB962C8B-B14F-4D97-AF65-F5344CB8AC3E}">
        <p14:creationId xmlns:p14="http://schemas.microsoft.com/office/powerpoint/2010/main" val="1896662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76200"/>
            <a:ext cx="8229600" cy="609600"/>
          </a:xfrm>
        </p:spPr>
        <p:txBody>
          <a:bodyPr>
            <a:normAutofit fontScale="90000"/>
          </a:bodyPr>
          <a:lstStyle/>
          <a:p>
            <a:r>
              <a:rPr lang="en-IN" dirty="0">
                <a:solidFill>
                  <a:srgbClr val="FF0000"/>
                </a:solidFill>
              </a:rPr>
              <a:t>Loader</a:t>
            </a:r>
          </a:p>
        </p:txBody>
      </p:sp>
      <p:sp>
        <p:nvSpPr>
          <p:cNvPr id="9" name="TextBox 8">
            <a:extLst>
              <a:ext uri="{FF2B5EF4-FFF2-40B4-BE49-F238E27FC236}">
                <a16:creationId xmlns:a16="http://schemas.microsoft.com/office/drawing/2014/main" id="{9B07714A-733C-7B3A-06BE-B13DDB247241}"/>
              </a:ext>
            </a:extLst>
          </p:cNvPr>
          <p:cNvSpPr txBox="1"/>
          <p:nvPr/>
        </p:nvSpPr>
        <p:spPr>
          <a:xfrm>
            <a:off x="381000" y="1141274"/>
            <a:ext cx="8458200" cy="2308324"/>
          </a:xfrm>
          <a:prstGeom prst="rect">
            <a:avLst/>
          </a:prstGeom>
          <a:noFill/>
        </p:spPr>
        <p:txBody>
          <a:bodyPr wrap="square" rtlCol="0">
            <a:spAutoFit/>
          </a:bodyPr>
          <a:lstStyle/>
          <a:p>
            <a:pPr algn="just"/>
            <a:r>
              <a:rPr lang="en-IN" dirty="0"/>
              <a:t>Loader will try to load the program at a memory address.</a:t>
            </a:r>
          </a:p>
          <a:p>
            <a:pPr algn="just"/>
            <a:endParaRPr lang="en-IN" dirty="0"/>
          </a:p>
          <a:p>
            <a:pPr algn="just"/>
            <a:endParaRPr lang="en-IN" dirty="0"/>
          </a:p>
          <a:p>
            <a:pPr algn="just"/>
            <a:r>
              <a:rPr lang="en-IN" dirty="0"/>
              <a:t>Loader will ask the OS to provide the starting address where the program has to be loaded.</a:t>
            </a:r>
          </a:p>
          <a:p>
            <a:pPr algn="just"/>
            <a:endParaRPr lang="en-IN" dirty="0"/>
          </a:p>
          <a:p>
            <a:pPr algn="just"/>
            <a:endParaRPr lang="en-IN" dirty="0"/>
          </a:p>
          <a:p>
            <a:pPr algn="just"/>
            <a:endParaRPr lang="en-IN" dirty="0"/>
          </a:p>
        </p:txBody>
      </p:sp>
      <p:pic>
        <p:nvPicPr>
          <p:cNvPr id="6" name="Picture 5">
            <a:extLst>
              <a:ext uri="{FF2B5EF4-FFF2-40B4-BE49-F238E27FC236}">
                <a16:creationId xmlns:a16="http://schemas.microsoft.com/office/drawing/2014/main" id="{07AB2B45-95CD-CFD5-11B4-B8FA8F251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895600"/>
            <a:ext cx="7924800" cy="2900616"/>
          </a:xfrm>
          <a:prstGeom prst="rect">
            <a:avLst/>
          </a:prstGeom>
        </p:spPr>
      </p:pic>
    </p:spTree>
    <p:extLst>
      <p:ext uri="{BB962C8B-B14F-4D97-AF65-F5344CB8AC3E}">
        <p14:creationId xmlns:p14="http://schemas.microsoft.com/office/powerpoint/2010/main" val="689942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76200"/>
            <a:ext cx="8229600" cy="609600"/>
          </a:xfrm>
        </p:spPr>
        <p:txBody>
          <a:bodyPr>
            <a:normAutofit fontScale="90000"/>
          </a:bodyPr>
          <a:lstStyle/>
          <a:p>
            <a:r>
              <a:rPr lang="en-IN" dirty="0">
                <a:solidFill>
                  <a:srgbClr val="FF0000"/>
                </a:solidFill>
              </a:rPr>
              <a:t>Key Terms:</a:t>
            </a:r>
          </a:p>
        </p:txBody>
      </p:sp>
      <p:sp>
        <p:nvSpPr>
          <p:cNvPr id="9" name="TextBox 8">
            <a:extLst>
              <a:ext uri="{FF2B5EF4-FFF2-40B4-BE49-F238E27FC236}">
                <a16:creationId xmlns:a16="http://schemas.microsoft.com/office/drawing/2014/main" id="{9B07714A-733C-7B3A-06BE-B13DDB247241}"/>
              </a:ext>
            </a:extLst>
          </p:cNvPr>
          <p:cNvSpPr txBox="1"/>
          <p:nvPr/>
        </p:nvSpPr>
        <p:spPr>
          <a:xfrm>
            <a:off x="381000" y="914400"/>
            <a:ext cx="8458200" cy="5447645"/>
          </a:xfrm>
          <a:prstGeom prst="rect">
            <a:avLst/>
          </a:prstGeom>
          <a:noFill/>
        </p:spPr>
        <p:txBody>
          <a:bodyPr wrap="square" rtlCol="0">
            <a:spAutoFit/>
          </a:bodyPr>
          <a:lstStyle/>
          <a:p>
            <a:pPr algn="just"/>
            <a:r>
              <a:rPr lang="en-IN" sz="2200" dirty="0">
                <a:solidFill>
                  <a:srgbClr val="FF0000"/>
                </a:solidFill>
                <a:latin typeface="Times New Roman" panose="02020603050405020304" pitchFamily="18" charset="0"/>
                <a:cs typeface="Times New Roman" panose="02020603050405020304" pitchFamily="18" charset="0"/>
              </a:rPr>
              <a:t>Program Loading: </a:t>
            </a:r>
            <a:r>
              <a:rPr lang="en-IN" sz="2200" dirty="0">
                <a:latin typeface="Times New Roman" panose="02020603050405020304" pitchFamily="18" charset="0"/>
                <a:cs typeface="Times New Roman" panose="02020603050405020304" pitchFamily="18" charset="0"/>
              </a:rPr>
              <a:t>The process of taking the program from the “Hard disk” and putting it in the main memory is called program loading.</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solidFill>
                  <a:srgbClr val="FF0000"/>
                </a:solidFill>
                <a:latin typeface="Times New Roman" panose="02020603050405020304" pitchFamily="18" charset="0"/>
                <a:cs typeface="Times New Roman" panose="02020603050405020304" pitchFamily="18" charset="0"/>
              </a:rPr>
              <a:t>Relocation: </a:t>
            </a:r>
            <a:r>
              <a:rPr lang="en-IN" sz="2200" dirty="0">
                <a:latin typeface="Times New Roman" panose="02020603050405020304" pitchFamily="18" charset="0"/>
                <a:cs typeface="Times New Roman" panose="02020603050405020304" pitchFamily="18" charset="0"/>
              </a:rPr>
              <a:t>It means changing the address from one form to another.</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solidFill>
                  <a:srgbClr val="FF0000"/>
                </a:solidFill>
                <a:latin typeface="Times New Roman" panose="02020603050405020304" pitchFamily="18" charset="0"/>
                <a:cs typeface="Times New Roman" panose="02020603050405020304" pitchFamily="18" charset="0"/>
              </a:rPr>
              <a:t>Symbol Resolution: </a:t>
            </a:r>
            <a:r>
              <a:rPr lang="en-IN" sz="2200" dirty="0">
                <a:latin typeface="Times New Roman" panose="02020603050405020304" pitchFamily="18" charset="0"/>
                <a:cs typeface="Times New Roman" panose="02020603050405020304" pitchFamily="18" charset="0"/>
              </a:rPr>
              <a:t>Only way we can refer to other programs from our program is using symbols and these symbols have to be resolved.</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Traditionally, all the above three aspects are taken care by two softwares:</a:t>
            </a:r>
          </a:p>
          <a:p>
            <a:pPr marL="342900" indent="-342900" algn="just">
              <a:buAutoNum type="arabicPeriod"/>
            </a:pPr>
            <a:r>
              <a:rPr lang="en-IN" sz="2200" dirty="0">
                <a:solidFill>
                  <a:srgbClr val="FF0000"/>
                </a:solidFill>
                <a:latin typeface="Times New Roman" panose="02020603050405020304" pitchFamily="18" charset="0"/>
                <a:cs typeface="Times New Roman" panose="02020603050405020304" pitchFamily="18" charset="0"/>
              </a:rPr>
              <a:t>Linker</a:t>
            </a:r>
            <a:r>
              <a:rPr lang="en-IN" sz="2200" dirty="0">
                <a:latin typeface="Times New Roman" panose="02020603050405020304" pitchFamily="18" charset="0"/>
                <a:cs typeface="Times New Roman" panose="02020603050405020304" pitchFamily="18" charset="0"/>
              </a:rPr>
              <a:t>  </a:t>
            </a:r>
          </a:p>
          <a:p>
            <a:pPr algn="just"/>
            <a:r>
              <a:rPr lang="en-IN" sz="2200" dirty="0">
                <a:latin typeface="Times New Roman" panose="02020603050405020304" pitchFamily="18" charset="0"/>
                <a:cs typeface="Times New Roman" panose="02020603050405020304" pitchFamily="18" charset="0"/>
              </a:rPr>
              <a:t>	Main responsibility is Symbol Resolution</a:t>
            </a:r>
          </a:p>
          <a:p>
            <a:pPr algn="just"/>
            <a:r>
              <a:rPr lang="en-IN" sz="2200" dirty="0">
                <a:latin typeface="Times New Roman" panose="02020603050405020304" pitchFamily="18" charset="0"/>
                <a:cs typeface="Times New Roman" panose="02020603050405020304" pitchFamily="18" charset="0"/>
              </a:rPr>
              <a:t>	</a:t>
            </a:r>
          </a:p>
          <a:p>
            <a:pPr algn="just"/>
            <a:r>
              <a:rPr lang="en-IN" sz="2200" dirty="0">
                <a:solidFill>
                  <a:srgbClr val="FF0000"/>
                </a:solidFill>
                <a:latin typeface="Times New Roman" panose="02020603050405020304" pitchFamily="18" charset="0"/>
                <a:cs typeface="Times New Roman" panose="02020603050405020304" pitchFamily="18" charset="0"/>
              </a:rPr>
              <a:t>2. Loader</a:t>
            </a:r>
          </a:p>
          <a:p>
            <a:pPr algn="just"/>
            <a:r>
              <a:rPr lang="en-IN" sz="2200" dirty="0">
                <a:latin typeface="Times New Roman" panose="02020603050405020304" pitchFamily="18" charset="0"/>
                <a:cs typeface="Times New Roman" panose="02020603050405020304" pitchFamily="18" charset="0"/>
              </a:rPr>
              <a:t>	Program Loading</a:t>
            </a:r>
          </a:p>
          <a:p>
            <a:pPr algn="just"/>
            <a:r>
              <a:rPr lang="en-IN" sz="2200" dirty="0">
                <a:latin typeface="Times New Roman" panose="02020603050405020304" pitchFamily="18" charset="0"/>
                <a:cs typeface="Times New Roman" panose="02020603050405020304" pitchFamily="18" charset="0"/>
              </a:rPr>
              <a:t>	Relocation</a:t>
            </a:r>
          </a:p>
          <a:p>
            <a:pPr algn="just"/>
            <a:endParaRPr lang="en-IN" dirty="0"/>
          </a:p>
        </p:txBody>
      </p:sp>
    </p:spTree>
    <p:extLst>
      <p:ext uri="{BB962C8B-B14F-4D97-AF65-F5344CB8AC3E}">
        <p14:creationId xmlns:p14="http://schemas.microsoft.com/office/powerpoint/2010/main" val="4185205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3C4B5A-0BBA-259C-AED4-569874C8C5AE}"/>
              </a:ext>
            </a:extLst>
          </p:cNvPr>
          <p:cNvSpPr>
            <a:spLocks noGrp="1"/>
          </p:cNvSpPr>
          <p:nvPr>
            <p:ph type="title"/>
          </p:nvPr>
        </p:nvSpPr>
        <p:spPr>
          <a:xfrm>
            <a:off x="457200" y="76200"/>
            <a:ext cx="8229600" cy="609600"/>
          </a:xfrm>
        </p:spPr>
        <p:txBody>
          <a:bodyPr>
            <a:normAutofit fontScale="90000"/>
          </a:bodyPr>
          <a:lstStyle/>
          <a:p>
            <a:r>
              <a:rPr lang="en-IN" dirty="0">
                <a:solidFill>
                  <a:srgbClr val="FF0000"/>
                </a:solidFill>
              </a:rPr>
              <a:t>Two Important Methods:</a:t>
            </a:r>
          </a:p>
        </p:txBody>
      </p:sp>
      <p:sp>
        <p:nvSpPr>
          <p:cNvPr id="9" name="TextBox 8">
            <a:extLst>
              <a:ext uri="{FF2B5EF4-FFF2-40B4-BE49-F238E27FC236}">
                <a16:creationId xmlns:a16="http://schemas.microsoft.com/office/drawing/2014/main" id="{9B07714A-733C-7B3A-06BE-B13DDB247241}"/>
              </a:ext>
            </a:extLst>
          </p:cNvPr>
          <p:cNvSpPr txBox="1"/>
          <p:nvPr/>
        </p:nvSpPr>
        <p:spPr>
          <a:xfrm>
            <a:off x="381000" y="914400"/>
            <a:ext cx="8458200" cy="5478423"/>
          </a:xfrm>
          <a:prstGeom prst="rect">
            <a:avLst/>
          </a:prstGeom>
          <a:noFill/>
        </p:spPr>
        <p:txBody>
          <a:bodyPr wrap="square" rtlCol="0">
            <a:spAutoFit/>
          </a:bodyPr>
          <a:lstStyle/>
          <a:p>
            <a:pPr marL="342900" indent="-342900" algn="just">
              <a:buFont typeface="Wingdings" panose="05000000000000000000" pitchFamily="2" charset="2"/>
              <a:buChar char="v"/>
            </a:pPr>
            <a:r>
              <a:rPr lang="en-IN" sz="2200" dirty="0">
                <a:latin typeface="Times New Roman" panose="02020603050405020304" pitchFamily="18" charset="0"/>
                <a:cs typeface="Times New Roman" panose="02020603050405020304" pitchFamily="18" charset="0"/>
              </a:rPr>
              <a:t>The contents (process) are shifted in advance from secondary memory to main memory to have less access time. </a:t>
            </a:r>
          </a:p>
          <a:p>
            <a:pPr algn="just"/>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This can be done in two ways:</a:t>
            </a:r>
          </a:p>
          <a:p>
            <a:pPr marL="342900" indent="-342900" algn="just">
              <a:buAutoNum type="arabicPeriod"/>
            </a:pPr>
            <a:r>
              <a:rPr lang="en-IN" sz="2200" dirty="0">
                <a:solidFill>
                  <a:srgbClr val="FF0000"/>
                </a:solidFill>
                <a:latin typeface="Times New Roman" panose="02020603050405020304" pitchFamily="18" charset="0"/>
                <a:cs typeface="Times New Roman" panose="02020603050405020304" pitchFamily="18" charset="0"/>
              </a:rPr>
              <a:t>Contiguous Method </a:t>
            </a:r>
            <a:endParaRPr lang="en-IN" sz="2200" dirty="0">
              <a:latin typeface="Times New Roman" panose="02020603050405020304" pitchFamily="18" charset="0"/>
              <a:cs typeface="Times New Roman" panose="02020603050405020304" pitchFamily="18" charset="0"/>
            </a:endParaRPr>
          </a:p>
          <a:p>
            <a:pPr algn="just"/>
            <a:r>
              <a:rPr lang="en-IN" sz="2200" dirty="0">
                <a:latin typeface="Times New Roman" panose="02020603050405020304" pitchFamily="18" charset="0"/>
                <a:cs typeface="Times New Roman" panose="02020603050405020304" pitchFamily="18" charset="0"/>
              </a:rPr>
              <a:t>	Access is Fast </a:t>
            </a: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E.g</a:t>
            </a:r>
            <a:r>
              <a:rPr lang="en-IN" sz="2200" dirty="0">
                <a:latin typeface="Times New Roman" panose="02020603050405020304" pitchFamily="18" charset="0"/>
                <a:cs typeface="Times New Roman" panose="02020603050405020304" pitchFamily="18" charset="0"/>
              </a:rPr>
              <a:t>, Array</a:t>
            </a:r>
          </a:p>
          <a:p>
            <a:pPr algn="just"/>
            <a:r>
              <a:rPr lang="en-IN" sz="2200" dirty="0">
                <a:latin typeface="Times New Roman" panose="02020603050405020304" pitchFamily="18" charset="0"/>
                <a:cs typeface="Times New Roman" panose="02020603050405020304" pitchFamily="18" charset="0"/>
              </a:rPr>
              <a:t>	</a:t>
            </a:r>
          </a:p>
          <a:p>
            <a:pPr algn="just"/>
            <a:r>
              <a:rPr lang="en-IN" sz="2200" dirty="0">
                <a:solidFill>
                  <a:srgbClr val="FF0000"/>
                </a:solidFill>
                <a:latin typeface="Times New Roman" panose="02020603050405020304" pitchFamily="18" charset="0"/>
                <a:cs typeface="Times New Roman" panose="02020603050405020304" pitchFamily="18" charset="0"/>
              </a:rPr>
              <a:t>2. Non Contiguous Method</a:t>
            </a:r>
          </a:p>
          <a:p>
            <a:pPr algn="just"/>
            <a:r>
              <a:rPr lang="en-IN" sz="2200" dirty="0">
                <a:latin typeface="Times New Roman" panose="02020603050405020304" pitchFamily="18" charset="0"/>
                <a:cs typeface="Times New Roman" panose="02020603050405020304" pitchFamily="18" charset="0"/>
              </a:rPr>
              <a:t>	Access is Slow</a:t>
            </a:r>
          </a:p>
          <a:p>
            <a:pPr algn="just"/>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E.g</a:t>
            </a:r>
            <a:r>
              <a:rPr lang="en-IN" sz="2200" dirty="0">
                <a:latin typeface="Times New Roman" panose="02020603050405020304" pitchFamily="18" charset="0"/>
                <a:cs typeface="Times New Roman" panose="02020603050405020304" pitchFamily="18" charset="0"/>
              </a:rPr>
              <a:t>, Linked List</a:t>
            </a:r>
          </a:p>
          <a:p>
            <a:pPr algn="just"/>
            <a:endParaRPr lang="en-IN" dirty="0"/>
          </a:p>
          <a:p>
            <a:pPr marL="285750" indent="-285750" algn="just">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rPr>
              <a:t>CPU generates logical address and Main Memory uses physical addresses, so there must be a “</a:t>
            </a:r>
            <a:r>
              <a:rPr lang="en-IN" sz="2400" dirty="0">
                <a:solidFill>
                  <a:srgbClr val="0070C0"/>
                </a:solidFill>
                <a:latin typeface="Times New Roman" panose="02020603050405020304" pitchFamily="18" charset="0"/>
                <a:cs typeface="Times New Roman" panose="02020603050405020304" pitchFamily="18" charset="0"/>
              </a:rPr>
              <a:t>Translator</a:t>
            </a:r>
            <a:r>
              <a:rPr lang="en-IN" sz="2400" dirty="0">
                <a:latin typeface="Times New Roman" panose="02020603050405020304" pitchFamily="18" charset="0"/>
                <a:cs typeface="Times New Roman" panose="02020603050405020304" pitchFamily="18" charset="0"/>
              </a:rPr>
              <a:t>” in between to convert logical address into physical address.</a:t>
            </a:r>
            <a:r>
              <a:rPr lang="en-IN" dirty="0"/>
              <a:t> </a:t>
            </a:r>
          </a:p>
          <a:p>
            <a:pPr algn="just"/>
            <a:endParaRPr lang="en-IN" dirty="0"/>
          </a:p>
        </p:txBody>
      </p:sp>
    </p:spTree>
    <p:extLst>
      <p:ext uri="{BB962C8B-B14F-4D97-AF65-F5344CB8AC3E}">
        <p14:creationId xmlns:p14="http://schemas.microsoft.com/office/powerpoint/2010/main" val="13900416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Contiguous Memory Allocation</a:t>
            </a:r>
          </a:p>
        </p:txBody>
      </p:sp>
      <p:pic>
        <p:nvPicPr>
          <p:cNvPr id="5" name="Picture 4">
            <a:extLst>
              <a:ext uri="{FF2B5EF4-FFF2-40B4-BE49-F238E27FC236}">
                <a16:creationId xmlns:a16="http://schemas.microsoft.com/office/drawing/2014/main" id="{E6AB78F6-136F-17AD-8A5A-F12CEBCAF415}"/>
              </a:ext>
            </a:extLst>
          </p:cNvPr>
          <p:cNvPicPr>
            <a:picLocks noChangeAspect="1"/>
          </p:cNvPicPr>
          <p:nvPr/>
        </p:nvPicPr>
        <p:blipFill>
          <a:blip r:embed="rId2"/>
          <a:stretch>
            <a:fillRect/>
          </a:stretch>
        </p:blipFill>
        <p:spPr>
          <a:xfrm>
            <a:off x="685800" y="1143000"/>
            <a:ext cx="8001000" cy="5257800"/>
          </a:xfrm>
          <a:prstGeom prst="rect">
            <a:avLst/>
          </a:prstGeom>
        </p:spPr>
      </p:pic>
    </p:spTree>
    <p:extLst>
      <p:ext uri="{BB962C8B-B14F-4D97-AF65-F5344CB8AC3E}">
        <p14:creationId xmlns:p14="http://schemas.microsoft.com/office/powerpoint/2010/main" val="363214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Fixed or Static Partition</a:t>
            </a:r>
          </a:p>
        </p:txBody>
      </p:sp>
      <p:pic>
        <p:nvPicPr>
          <p:cNvPr id="4" name="Picture 3">
            <a:extLst>
              <a:ext uri="{FF2B5EF4-FFF2-40B4-BE49-F238E27FC236}">
                <a16:creationId xmlns:a16="http://schemas.microsoft.com/office/drawing/2014/main" id="{CE4C4B97-0E7A-FD80-8592-76B283084FF6}"/>
              </a:ext>
            </a:extLst>
          </p:cNvPr>
          <p:cNvPicPr>
            <a:picLocks noChangeAspect="1"/>
          </p:cNvPicPr>
          <p:nvPr/>
        </p:nvPicPr>
        <p:blipFill>
          <a:blip r:embed="rId2"/>
          <a:stretch>
            <a:fillRect/>
          </a:stretch>
        </p:blipFill>
        <p:spPr>
          <a:xfrm>
            <a:off x="609600" y="1066800"/>
            <a:ext cx="8077200" cy="3810000"/>
          </a:xfrm>
          <a:prstGeom prst="rect">
            <a:avLst/>
          </a:prstGeom>
        </p:spPr>
      </p:pic>
      <p:pic>
        <p:nvPicPr>
          <p:cNvPr id="7" name="Picture 6">
            <a:extLst>
              <a:ext uri="{FF2B5EF4-FFF2-40B4-BE49-F238E27FC236}">
                <a16:creationId xmlns:a16="http://schemas.microsoft.com/office/drawing/2014/main" id="{F1D6F198-1163-DF5A-7F08-6D0264806004}"/>
              </a:ext>
            </a:extLst>
          </p:cNvPr>
          <p:cNvPicPr>
            <a:picLocks noChangeAspect="1"/>
          </p:cNvPicPr>
          <p:nvPr/>
        </p:nvPicPr>
        <p:blipFill>
          <a:blip r:embed="rId3"/>
          <a:stretch>
            <a:fillRect/>
          </a:stretch>
        </p:blipFill>
        <p:spPr>
          <a:xfrm>
            <a:off x="990600" y="4876800"/>
            <a:ext cx="7543800" cy="1828800"/>
          </a:xfrm>
          <a:prstGeom prst="rect">
            <a:avLst/>
          </a:prstGeom>
        </p:spPr>
      </p:pic>
    </p:spTree>
    <p:extLst>
      <p:ext uri="{BB962C8B-B14F-4D97-AF65-F5344CB8AC3E}">
        <p14:creationId xmlns:p14="http://schemas.microsoft.com/office/powerpoint/2010/main" val="4204217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Fixed or Static Partition</a:t>
            </a:r>
          </a:p>
        </p:txBody>
      </p:sp>
      <p:pic>
        <p:nvPicPr>
          <p:cNvPr id="5" name="Picture 4">
            <a:extLst>
              <a:ext uri="{FF2B5EF4-FFF2-40B4-BE49-F238E27FC236}">
                <a16:creationId xmlns:a16="http://schemas.microsoft.com/office/drawing/2014/main" id="{E4BF9BE1-23D1-C5E8-3CDA-505194E2684B}"/>
              </a:ext>
            </a:extLst>
          </p:cNvPr>
          <p:cNvPicPr>
            <a:picLocks noChangeAspect="1"/>
          </p:cNvPicPr>
          <p:nvPr/>
        </p:nvPicPr>
        <p:blipFill>
          <a:blip r:embed="rId2"/>
          <a:stretch>
            <a:fillRect/>
          </a:stretch>
        </p:blipFill>
        <p:spPr>
          <a:xfrm>
            <a:off x="685800" y="2057400"/>
            <a:ext cx="7391400" cy="4572000"/>
          </a:xfrm>
          <a:prstGeom prst="rect">
            <a:avLst/>
          </a:prstGeom>
        </p:spPr>
      </p:pic>
      <p:pic>
        <p:nvPicPr>
          <p:cNvPr id="8" name="Picture 7">
            <a:extLst>
              <a:ext uri="{FF2B5EF4-FFF2-40B4-BE49-F238E27FC236}">
                <a16:creationId xmlns:a16="http://schemas.microsoft.com/office/drawing/2014/main" id="{0B38CA96-E0D9-CF50-E247-88AD9344FA06}"/>
              </a:ext>
            </a:extLst>
          </p:cNvPr>
          <p:cNvPicPr>
            <a:picLocks noChangeAspect="1"/>
          </p:cNvPicPr>
          <p:nvPr/>
        </p:nvPicPr>
        <p:blipFill>
          <a:blip r:embed="rId3"/>
          <a:stretch>
            <a:fillRect/>
          </a:stretch>
        </p:blipFill>
        <p:spPr>
          <a:xfrm>
            <a:off x="685800" y="990600"/>
            <a:ext cx="6629400" cy="990601"/>
          </a:xfrm>
          <a:prstGeom prst="rect">
            <a:avLst/>
          </a:prstGeom>
        </p:spPr>
      </p:pic>
    </p:spTree>
    <p:extLst>
      <p:ext uri="{BB962C8B-B14F-4D97-AF65-F5344CB8AC3E}">
        <p14:creationId xmlns:p14="http://schemas.microsoft.com/office/powerpoint/2010/main" val="4200246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Fixed or Static Partition</a:t>
            </a:r>
          </a:p>
        </p:txBody>
      </p:sp>
      <p:pic>
        <p:nvPicPr>
          <p:cNvPr id="4" name="Picture 3">
            <a:extLst>
              <a:ext uri="{FF2B5EF4-FFF2-40B4-BE49-F238E27FC236}">
                <a16:creationId xmlns:a16="http://schemas.microsoft.com/office/drawing/2014/main" id="{3EC0F730-D757-0756-4FF7-0906CA1F0642}"/>
              </a:ext>
            </a:extLst>
          </p:cNvPr>
          <p:cNvPicPr>
            <a:picLocks noChangeAspect="1"/>
          </p:cNvPicPr>
          <p:nvPr/>
        </p:nvPicPr>
        <p:blipFill>
          <a:blip r:embed="rId2"/>
          <a:stretch>
            <a:fillRect/>
          </a:stretch>
        </p:blipFill>
        <p:spPr>
          <a:xfrm>
            <a:off x="457200" y="990600"/>
            <a:ext cx="8229600" cy="5592762"/>
          </a:xfrm>
          <a:prstGeom prst="rect">
            <a:avLst/>
          </a:prstGeom>
        </p:spPr>
      </p:pic>
    </p:spTree>
    <p:extLst>
      <p:ext uri="{BB962C8B-B14F-4D97-AF65-F5344CB8AC3E}">
        <p14:creationId xmlns:p14="http://schemas.microsoft.com/office/powerpoint/2010/main" val="4000863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152400"/>
            <a:ext cx="8229600" cy="533401"/>
          </a:xfrm>
        </p:spPr>
        <p:txBody>
          <a:bodyPr>
            <a:normAutofit fontScale="90000"/>
          </a:bodyPr>
          <a:lstStyle/>
          <a:p>
            <a:r>
              <a:rPr lang="en-IN" dirty="0">
                <a:solidFill>
                  <a:srgbClr val="FF0000"/>
                </a:solidFill>
              </a:rPr>
              <a:t>Problem with Fixed Partition</a:t>
            </a:r>
          </a:p>
        </p:txBody>
      </p:sp>
      <p:pic>
        <p:nvPicPr>
          <p:cNvPr id="5" name="Picture 4">
            <a:extLst>
              <a:ext uri="{FF2B5EF4-FFF2-40B4-BE49-F238E27FC236}">
                <a16:creationId xmlns:a16="http://schemas.microsoft.com/office/drawing/2014/main" id="{9D6D98DA-3909-BF1D-BE82-3B4C0BAD1817}"/>
              </a:ext>
            </a:extLst>
          </p:cNvPr>
          <p:cNvPicPr>
            <a:picLocks noChangeAspect="1"/>
          </p:cNvPicPr>
          <p:nvPr/>
        </p:nvPicPr>
        <p:blipFill>
          <a:blip r:embed="rId2"/>
          <a:stretch>
            <a:fillRect/>
          </a:stretch>
        </p:blipFill>
        <p:spPr>
          <a:xfrm>
            <a:off x="228600" y="685800"/>
            <a:ext cx="8001000" cy="2971800"/>
          </a:xfrm>
          <a:prstGeom prst="rect">
            <a:avLst/>
          </a:prstGeom>
        </p:spPr>
      </p:pic>
      <p:pic>
        <p:nvPicPr>
          <p:cNvPr id="8" name="Picture 7">
            <a:extLst>
              <a:ext uri="{FF2B5EF4-FFF2-40B4-BE49-F238E27FC236}">
                <a16:creationId xmlns:a16="http://schemas.microsoft.com/office/drawing/2014/main" id="{B66096D9-9501-03C8-BE7B-F41E7E64A62D}"/>
              </a:ext>
            </a:extLst>
          </p:cNvPr>
          <p:cNvPicPr>
            <a:picLocks noChangeAspect="1"/>
          </p:cNvPicPr>
          <p:nvPr/>
        </p:nvPicPr>
        <p:blipFill>
          <a:blip r:embed="rId3"/>
          <a:stretch>
            <a:fillRect/>
          </a:stretch>
        </p:blipFill>
        <p:spPr>
          <a:xfrm>
            <a:off x="1914525" y="3505200"/>
            <a:ext cx="5314950" cy="3200400"/>
          </a:xfrm>
          <a:prstGeom prst="rect">
            <a:avLst/>
          </a:prstGeom>
        </p:spPr>
      </p:pic>
    </p:spTree>
    <p:extLst>
      <p:ext uri="{BB962C8B-B14F-4D97-AF65-F5344CB8AC3E}">
        <p14:creationId xmlns:p14="http://schemas.microsoft.com/office/powerpoint/2010/main" val="2321071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152400"/>
            <a:ext cx="8229600" cy="533401"/>
          </a:xfrm>
        </p:spPr>
        <p:txBody>
          <a:bodyPr>
            <a:normAutofit fontScale="90000"/>
          </a:bodyPr>
          <a:lstStyle/>
          <a:p>
            <a:r>
              <a:rPr lang="en-IN" dirty="0">
                <a:solidFill>
                  <a:srgbClr val="FF0000"/>
                </a:solidFill>
              </a:rPr>
              <a:t>Problem with Fixed Partition</a:t>
            </a:r>
          </a:p>
        </p:txBody>
      </p:sp>
      <p:sp>
        <p:nvSpPr>
          <p:cNvPr id="2" name="TextBox 1">
            <a:extLst>
              <a:ext uri="{FF2B5EF4-FFF2-40B4-BE49-F238E27FC236}">
                <a16:creationId xmlns:a16="http://schemas.microsoft.com/office/drawing/2014/main" id="{7855389B-A8D1-D5BE-C1E8-6AF556848540}"/>
              </a:ext>
            </a:extLst>
          </p:cNvPr>
          <p:cNvSpPr txBox="1"/>
          <p:nvPr/>
        </p:nvSpPr>
        <p:spPr>
          <a:xfrm>
            <a:off x="381000" y="685800"/>
            <a:ext cx="8396786" cy="5663089"/>
          </a:xfrm>
          <a:prstGeom prst="rect">
            <a:avLst/>
          </a:prstGeom>
          <a:noFill/>
        </p:spPr>
        <p:txBody>
          <a:bodyPr wrap="none" rtlCol="0">
            <a:spAutoFit/>
          </a:bodyPr>
          <a:lstStyle/>
          <a:p>
            <a:r>
              <a:rPr lang="en-IN" sz="2200" dirty="0">
                <a:latin typeface="Times New Roman" panose="02020603050405020304" pitchFamily="18" charset="0"/>
                <a:cs typeface="Times New Roman" panose="02020603050405020304" pitchFamily="18" charset="0"/>
              </a:rPr>
              <a:t>2. What is the maximum size of the process that can be run using this </a:t>
            </a:r>
          </a:p>
          <a:p>
            <a:r>
              <a:rPr lang="en-IN" sz="2200" dirty="0">
                <a:latin typeface="Times New Roman" panose="02020603050405020304" pitchFamily="18" charset="0"/>
                <a:cs typeface="Times New Roman" panose="02020603050405020304" pitchFamily="18" charset="0"/>
              </a:rPr>
              <a:t>architecture?</a:t>
            </a:r>
          </a:p>
          <a:p>
            <a:endParaRPr lang="en-IN" sz="2200" dirty="0">
              <a:latin typeface="Times New Roman" panose="02020603050405020304" pitchFamily="18" charset="0"/>
              <a:cs typeface="Times New Roman" panose="02020603050405020304" pitchFamily="18" charset="0"/>
            </a:endParaRPr>
          </a:p>
          <a:p>
            <a:r>
              <a:rPr lang="en-IN" sz="2200" dirty="0">
                <a:solidFill>
                  <a:srgbClr val="0070C0"/>
                </a:solidFill>
                <a:latin typeface="Times New Roman" panose="02020603050405020304" pitchFamily="18" charset="0"/>
                <a:cs typeface="Times New Roman" panose="02020603050405020304" pitchFamily="18" charset="0"/>
              </a:rPr>
              <a:t>In previous case, process with more than 8MB cannot be run. Or, we can</a:t>
            </a:r>
          </a:p>
          <a:p>
            <a:r>
              <a:rPr lang="en-IN" sz="2200" dirty="0">
                <a:solidFill>
                  <a:srgbClr val="0070C0"/>
                </a:solidFill>
                <a:latin typeface="Times New Roman" panose="02020603050405020304" pitchFamily="18" charset="0"/>
                <a:cs typeface="Times New Roman" panose="02020603050405020304" pitchFamily="18" charset="0"/>
              </a:rPr>
              <a:t>use virtual memory or Overlays</a:t>
            </a:r>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3. Number of partitions limits Degree of </a:t>
            </a:r>
          </a:p>
          <a:p>
            <a:r>
              <a:rPr lang="en-IN" sz="2200" dirty="0">
                <a:latin typeface="Times New Roman" panose="02020603050405020304" pitchFamily="18" charset="0"/>
                <a:cs typeface="Times New Roman" panose="02020603050405020304" pitchFamily="18" charset="0"/>
              </a:rPr>
              <a:t>Multiprogramming.</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4. </a:t>
            </a:r>
            <a:r>
              <a:rPr lang="en-IN" sz="2200" b="1" u="sng" dirty="0">
                <a:latin typeface="Times New Roman" panose="02020603050405020304" pitchFamily="18" charset="0"/>
                <a:cs typeface="Times New Roman" panose="02020603050405020304" pitchFamily="18" charset="0"/>
              </a:rPr>
              <a:t>External Fragmentation (EF)</a:t>
            </a:r>
          </a:p>
          <a:p>
            <a:r>
              <a:rPr lang="en-US" sz="2200" dirty="0">
                <a:latin typeface="Times New Roman" panose="02020603050405020304" pitchFamily="18" charset="0"/>
                <a:cs typeface="Times New Roman" panose="02020603050405020304" pitchFamily="18" charset="0"/>
              </a:rPr>
              <a:t>There is enough memory space to </a:t>
            </a:r>
          </a:p>
          <a:p>
            <a:r>
              <a:rPr lang="en-US" sz="2200" dirty="0">
                <a:latin typeface="Times New Roman" panose="02020603050405020304" pitchFamily="18" charset="0"/>
                <a:cs typeface="Times New Roman" panose="02020603050405020304" pitchFamily="18" charset="0"/>
              </a:rPr>
              <a:t>complete a request, but it is </a:t>
            </a:r>
          </a:p>
          <a:p>
            <a:r>
              <a:rPr lang="en-US" sz="2200" dirty="0">
                <a:latin typeface="Times New Roman" panose="02020603050405020304" pitchFamily="18" charset="0"/>
                <a:cs typeface="Times New Roman" panose="02020603050405020304" pitchFamily="18" charset="0"/>
              </a:rPr>
              <a:t>not contiguous. It's known as </a:t>
            </a:r>
          </a:p>
          <a:p>
            <a:r>
              <a:rPr lang="en-US" sz="2200" b="1" dirty="0">
                <a:latin typeface="Times New Roman" panose="02020603050405020304" pitchFamily="18" charset="0"/>
                <a:cs typeface="Times New Roman" panose="02020603050405020304" pitchFamily="18" charset="0"/>
              </a:rPr>
              <a:t>external</a:t>
            </a:r>
            <a:r>
              <a:rPr lang="en-US" sz="2200" dirty="0">
                <a:latin typeface="Times New Roman" panose="02020603050405020304" pitchFamily="18" charset="0"/>
                <a:cs typeface="Times New Roman" panose="02020603050405020304" pitchFamily="18" charset="0"/>
              </a:rPr>
              <a:t> fragmentation.</a:t>
            </a:r>
          </a:p>
          <a:p>
            <a:endParaRPr lang="en-US" sz="24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When IF exists then EF also exists, But </a:t>
            </a:r>
          </a:p>
          <a:p>
            <a:r>
              <a:rPr lang="en-IN" sz="2200" dirty="0">
                <a:latin typeface="Times New Roman" panose="02020603050405020304" pitchFamily="18" charset="0"/>
                <a:cs typeface="Times New Roman" panose="02020603050405020304" pitchFamily="18" charset="0"/>
              </a:rPr>
              <a:t>if there is no IF, still EF can be there.</a:t>
            </a:r>
            <a:endParaRPr lang="en-US"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DBC84DE-0507-5905-E8C1-2A2BF0845497}"/>
              </a:ext>
            </a:extLst>
          </p:cNvPr>
          <p:cNvPicPr>
            <a:picLocks noChangeAspect="1"/>
          </p:cNvPicPr>
          <p:nvPr/>
        </p:nvPicPr>
        <p:blipFill>
          <a:blip r:embed="rId2"/>
          <a:stretch>
            <a:fillRect/>
          </a:stretch>
        </p:blipFill>
        <p:spPr>
          <a:xfrm>
            <a:off x="5105393" y="2438400"/>
            <a:ext cx="3505207" cy="4114799"/>
          </a:xfrm>
          <a:prstGeom prst="rect">
            <a:avLst/>
          </a:prstGeom>
        </p:spPr>
      </p:pic>
    </p:spTree>
    <p:extLst>
      <p:ext uri="{BB962C8B-B14F-4D97-AF65-F5344CB8AC3E}">
        <p14:creationId xmlns:p14="http://schemas.microsoft.com/office/powerpoint/2010/main" val="4074854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Fixed or Static Partition</a:t>
            </a:r>
          </a:p>
        </p:txBody>
      </p:sp>
      <p:pic>
        <p:nvPicPr>
          <p:cNvPr id="5" name="Picture 4">
            <a:extLst>
              <a:ext uri="{FF2B5EF4-FFF2-40B4-BE49-F238E27FC236}">
                <a16:creationId xmlns:a16="http://schemas.microsoft.com/office/drawing/2014/main" id="{615CE321-CAEE-9434-81BC-AEA640D7F75B}"/>
              </a:ext>
            </a:extLst>
          </p:cNvPr>
          <p:cNvPicPr>
            <a:picLocks noChangeAspect="1"/>
          </p:cNvPicPr>
          <p:nvPr/>
        </p:nvPicPr>
        <p:blipFill>
          <a:blip r:embed="rId2"/>
          <a:stretch>
            <a:fillRect/>
          </a:stretch>
        </p:blipFill>
        <p:spPr>
          <a:xfrm>
            <a:off x="609600" y="966787"/>
            <a:ext cx="8077199" cy="5616575"/>
          </a:xfrm>
          <a:prstGeom prst="rect">
            <a:avLst/>
          </a:prstGeom>
        </p:spPr>
      </p:pic>
    </p:spTree>
    <p:extLst>
      <p:ext uri="{BB962C8B-B14F-4D97-AF65-F5344CB8AC3E}">
        <p14:creationId xmlns:p14="http://schemas.microsoft.com/office/powerpoint/2010/main" val="1333427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Fixed or Static Partition</a:t>
            </a:r>
          </a:p>
        </p:txBody>
      </p:sp>
      <p:pic>
        <p:nvPicPr>
          <p:cNvPr id="7" name="Picture 6">
            <a:extLst>
              <a:ext uri="{FF2B5EF4-FFF2-40B4-BE49-F238E27FC236}">
                <a16:creationId xmlns:a16="http://schemas.microsoft.com/office/drawing/2014/main" id="{065753A8-F2D3-5259-DAF7-B9FBC14E195C}"/>
              </a:ext>
            </a:extLst>
          </p:cNvPr>
          <p:cNvPicPr>
            <a:picLocks noChangeAspect="1"/>
          </p:cNvPicPr>
          <p:nvPr/>
        </p:nvPicPr>
        <p:blipFill>
          <a:blip r:embed="rId2"/>
          <a:stretch>
            <a:fillRect/>
          </a:stretch>
        </p:blipFill>
        <p:spPr>
          <a:xfrm>
            <a:off x="381000" y="990600"/>
            <a:ext cx="7239000" cy="3276600"/>
          </a:xfrm>
          <a:prstGeom prst="rect">
            <a:avLst/>
          </a:prstGeom>
        </p:spPr>
      </p:pic>
      <p:pic>
        <p:nvPicPr>
          <p:cNvPr id="9" name="Picture 8">
            <a:extLst>
              <a:ext uri="{FF2B5EF4-FFF2-40B4-BE49-F238E27FC236}">
                <a16:creationId xmlns:a16="http://schemas.microsoft.com/office/drawing/2014/main" id="{F9D7382C-3B84-0AEB-9076-D9523F18BFCB}"/>
              </a:ext>
            </a:extLst>
          </p:cNvPr>
          <p:cNvPicPr>
            <a:picLocks noChangeAspect="1"/>
          </p:cNvPicPr>
          <p:nvPr/>
        </p:nvPicPr>
        <p:blipFill>
          <a:blip r:embed="rId3"/>
          <a:stretch>
            <a:fillRect/>
          </a:stretch>
        </p:blipFill>
        <p:spPr>
          <a:xfrm>
            <a:off x="457200" y="4267200"/>
            <a:ext cx="7620000" cy="2381250"/>
          </a:xfrm>
          <a:prstGeom prst="rect">
            <a:avLst/>
          </a:prstGeom>
        </p:spPr>
      </p:pic>
    </p:spTree>
    <p:extLst>
      <p:ext uri="{BB962C8B-B14F-4D97-AF65-F5344CB8AC3E}">
        <p14:creationId xmlns:p14="http://schemas.microsoft.com/office/powerpoint/2010/main" val="413737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Dynamic or variable Partition</a:t>
            </a:r>
          </a:p>
        </p:txBody>
      </p:sp>
      <p:pic>
        <p:nvPicPr>
          <p:cNvPr id="4" name="Picture 3">
            <a:extLst>
              <a:ext uri="{FF2B5EF4-FFF2-40B4-BE49-F238E27FC236}">
                <a16:creationId xmlns:a16="http://schemas.microsoft.com/office/drawing/2014/main" id="{647AFBCC-8D39-0EC3-20C3-E4EC70E8C472}"/>
              </a:ext>
            </a:extLst>
          </p:cNvPr>
          <p:cNvPicPr>
            <a:picLocks noChangeAspect="1"/>
          </p:cNvPicPr>
          <p:nvPr/>
        </p:nvPicPr>
        <p:blipFill>
          <a:blip r:embed="rId2"/>
          <a:stretch>
            <a:fillRect/>
          </a:stretch>
        </p:blipFill>
        <p:spPr>
          <a:xfrm>
            <a:off x="457200" y="1033462"/>
            <a:ext cx="8001000" cy="5519738"/>
          </a:xfrm>
          <a:prstGeom prst="rect">
            <a:avLst/>
          </a:prstGeom>
        </p:spPr>
      </p:pic>
    </p:spTree>
    <p:extLst>
      <p:ext uri="{BB962C8B-B14F-4D97-AF65-F5344CB8AC3E}">
        <p14:creationId xmlns:p14="http://schemas.microsoft.com/office/powerpoint/2010/main" val="1626257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Dynamic Partition</a:t>
            </a:r>
          </a:p>
        </p:txBody>
      </p:sp>
      <p:pic>
        <p:nvPicPr>
          <p:cNvPr id="5" name="Picture 4">
            <a:extLst>
              <a:ext uri="{FF2B5EF4-FFF2-40B4-BE49-F238E27FC236}">
                <a16:creationId xmlns:a16="http://schemas.microsoft.com/office/drawing/2014/main" id="{E4BF9BE1-23D1-C5E8-3CDA-505194E2684B}"/>
              </a:ext>
            </a:extLst>
          </p:cNvPr>
          <p:cNvPicPr>
            <a:picLocks noChangeAspect="1"/>
          </p:cNvPicPr>
          <p:nvPr/>
        </p:nvPicPr>
        <p:blipFill>
          <a:blip r:embed="rId2"/>
          <a:stretch>
            <a:fillRect/>
          </a:stretch>
        </p:blipFill>
        <p:spPr>
          <a:xfrm>
            <a:off x="685800" y="1219200"/>
            <a:ext cx="7391400" cy="4572000"/>
          </a:xfrm>
          <a:prstGeom prst="rect">
            <a:avLst/>
          </a:prstGeom>
        </p:spPr>
      </p:pic>
    </p:spTree>
    <p:extLst>
      <p:ext uri="{BB962C8B-B14F-4D97-AF65-F5344CB8AC3E}">
        <p14:creationId xmlns:p14="http://schemas.microsoft.com/office/powerpoint/2010/main" val="3472917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274638"/>
            <a:ext cx="8229600" cy="576071"/>
          </a:xfrm>
        </p:spPr>
        <p:txBody>
          <a:bodyPr>
            <a:normAutofit fontScale="90000"/>
          </a:bodyPr>
          <a:lstStyle/>
          <a:p>
            <a:r>
              <a:rPr lang="en-IN" dirty="0">
                <a:solidFill>
                  <a:srgbClr val="FF0000"/>
                </a:solidFill>
              </a:rPr>
              <a:t>Dynamic or variable Partition</a:t>
            </a:r>
          </a:p>
        </p:txBody>
      </p:sp>
      <p:pic>
        <p:nvPicPr>
          <p:cNvPr id="5" name="Picture 4">
            <a:extLst>
              <a:ext uri="{FF2B5EF4-FFF2-40B4-BE49-F238E27FC236}">
                <a16:creationId xmlns:a16="http://schemas.microsoft.com/office/drawing/2014/main" id="{18FB4A6A-2F6D-BEF3-B8F1-7CE3147D7A66}"/>
              </a:ext>
            </a:extLst>
          </p:cNvPr>
          <p:cNvPicPr>
            <a:picLocks noChangeAspect="1"/>
          </p:cNvPicPr>
          <p:nvPr/>
        </p:nvPicPr>
        <p:blipFill>
          <a:blip r:embed="rId2"/>
          <a:stretch>
            <a:fillRect/>
          </a:stretch>
        </p:blipFill>
        <p:spPr>
          <a:xfrm>
            <a:off x="457200" y="914400"/>
            <a:ext cx="7848600" cy="5668962"/>
          </a:xfrm>
          <a:prstGeom prst="rect">
            <a:avLst/>
          </a:prstGeom>
        </p:spPr>
      </p:pic>
    </p:spTree>
    <p:extLst>
      <p:ext uri="{BB962C8B-B14F-4D97-AF65-F5344CB8AC3E}">
        <p14:creationId xmlns:p14="http://schemas.microsoft.com/office/powerpoint/2010/main" val="999561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321310"/>
            <a:ext cx="8610600" cy="576071"/>
          </a:xfrm>
        </p:spPr>
        <p:txBody>
          <a:bodyPr>
            <a:normAutofit fontScale="90000"/>
          </a:bodyPr>
          <a:lstStyle/>
          <a:p>
            <a:r>
              <a:rPr lang="en-US" dirty="0">
                <a:solidFill>
                  <a:srgbClr val="FF0000"/>
                </a:solidFill>
              </a:rPr>
              <a:t>Deallocated Holes: Dynamic Method</a:t>
            </a:r>
            <a:endParaRPr lang="en-IN" dirty="0">
              <a:solidFill>
                <a:srgbClr val="FF0000"/>
              </a:solidFill>
            </a:endParaRPr>
          </a:p>
        </p:txBody>
      </p:sp>
      <p:sp>
        <p:nvSpPr>
          <p:cNvPr id="2" name="TextBox 1">
            <a:extLst>
              <a:ext uri="{FF2B5EF4-FFF2-40B4-BE49-F238E27FC236}">
                <a16:creationId xmlns:a16="http://schemas.microsoft.com/office/drawing/2014/main" id="{4400B02E-DE14-A209-D35B-141CB0C962E7}"/>
              </a:ext>
            </a:extLst>
          </p:cNvPr>
          <p:cNvSpPr txBox="1"/>
          <p:nvPr/>
        </p:nvSpPr>
        <p:spPr>
          <a:xfrm>
            <a:off x="1066800" y="1600200"/>
            <a:ext cx="4114800" cy="2862322"/>
          </a:xfrm>
          <a:prstGeom prst="rect">
            <a:avLst/>
          </a:prstGeom>
          <a:noFill/>
        </p:spPr>
        <p:txBody>
          <a:bodyPr wrap="square" rtlCol="0">
            <a:spAutoFit/>
          </a:bodyPr>
          <a:lstStyle/>
          <a:p>
            <a:pPr marL="342900" indent="-342900">
              <a:buAutoNum type="arabicPeriod"/>
            </a:pPr>
            <a:r>
              <a:rPr lang="en-US" sz="3600" dirty="0">
                <a:solidFill>
                  <a:schemeClr val="accent4">
                    <a:lumMod val="75000"/>
                  </a:schemeClr>
                </a:solidFill>
                <a:latin typeface="Times New Roman" panose="02020603050405020304" pitchFamily="18" charset="0"/>
                <a:cs typeface="Times New Roman" panose="02020603050405020304" pitchFamily="18" charset="0"/>
              </a:rPr>
              <a:t>Compaction</a:t>
            </a:r>
          </a:p>
          <a:p>
            <a:pPr marL="342900" indent="-342900">
              <a:buAutoNum type="arabicPeriod"/>
            </a:pPr>
            <a:endParaRPr lang="en-US" sz="3600" dirty="0">
              <a:solidFill>
                <a:schemeClr val="accent4">
                  <a:lumMod val="75000"/>
                </a:schemeClr>
              </a:solidFill>
              <a:latin typeface="Times New Roman" panose="02020603050405020304" pitchFamily="18" charset="0"/>
              <a:cs typeface="Times New Roman" panose="02020603050405020304" pitchFamily="18" charset="0"/>
            </a:endParaRPr>
          </a:p>
          <a:p>
            <a:pPr marL="342900" indent="-342900">
              <a:buAutoNum type="arabicPeriod"/>
            </a:pPr>
            <a:r>
              <a:rPr lang="en-US" sz="3600" dirty="0">
                <a:solidFill>
                  <a:schemeClr val="accent4">
                    <a:lumMod val="75000"/>
                  </a:schemeClr>
                </a:solidFill>
                <a:latin typeface="Times New Roman" panose="02020603050405020304" pitchFamily="18" charset="0"/>
                <a:cs typeface="Times New Roman" panose="02020603050405020304" pitchFamily="18" charset="0"/>
              </a:rPr>
              <a:t>Bit Maps</a:t>
            </a:r>
          </a:p>
          <a:p>
            <a:pPr marL="342900" indent="-342900">
              <a:buAutoNum type="arabicPeriod"/>
            </a:pPr>
            <a:endParaRPr lang="en-US" sz="3600" dirty="0">
              <a:solidFill>
                <a:schemeClr val="accent4">
                  <a:lumMod val="75000"/>
                </a:schemeClr>
              </a:solidFill>
              <a:latin typeface="Times New Roman" panose="02020603050405020304" pitchFamily="18" charset="0"/>
              <a:cs typeface="Times New Roman" panose="02020603050405020304" pitchFamily="18" charset="0"/>
            </a:endParaRPr>
          </a:p>
          <a:p>
            <a:pPr marL="342900" indent="-342900">
              <a:buAutoNum type="arabicPeriod"/>
            </a:pPr>
            <a:r>
              <a:rPr lang="en-US" sz="3600" dirty="0">
                <a:solidFill>
                  <a:schemeClr val="accent4">
                    <a:lumMod val="75000"/>
                  </a:schemeClr>
                </a:solidFill>
                <a:latin typeface="Times New Roman" panose="02020603050405020304" pitchFamily="18" charset="0"/>
                <a:cs typeface="Times New Roman" panose="02020603050405020304" pitchFamily="18" charset="0"/>
              </a:rPr>
              <a:t>Linked Lists</a:t>
            </a:r>
            <a:endParaRPr lang="en-IN" sz="3600" dirty="0">
              <a:solidFill>
                <a:schemeClr val="accent4">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70134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321310"/>
            <a:ext cx="8610600" cy="576071"/>
          </a:xfrm>
        </p:spPr>
        <p:txBody>
          <a:bodyPr>
            <a:normAutofit fontScale="90000"/>
          </a:bodyPr>
          <a:lstStyle/>
          <a:p>
            <a:r>
              <a:rPr lang="en-US" dirty="0">
                <a:solidFill>
                  <a:srgbClr val="FF0000"/>
                </a:solidFill>
              </a:rPr>
              <a:t>Compaction </a:t>
            </a:r>
            <a:endParaRPr lang="en-IN" dirty="0">
              <a:solidFill>
                <a:srgbClr val="FF0000"/>
              </a:solidFill>
            </a:endParaRPr>
          </a:p>
        </p:txBody>
      </p:sp>
      <p:sp>
        <p:nvSpPr>
          <p:cNvPr id="2" name="TextBox 1">
            <a:extLst>
              <a:ext uri="{FF2B5EF4-FFF2-40B4-BE49-F238E27FC236}">
                <a16:creationId xmlns:a16="http://schemas.microsoft.com/office/drawing/2014/main" id="{4400B02E-DE14-A209-D35B-141CB0C962E7}"/>
              </a:ext>
            </a:extLst>
          </p:cNvPr>
          <p:cNvSpPr txBox="1"/>
          <p:nvPr/>
        </p:nvSpPr>
        <p:spPr>
          <a:xfrm>
            <a:off x="457200" y="1600200"/>
            <a:ext cx="8382000" cy="4401205"/>
          </a:xfrm>
          <a:prstGeom prst="rect">
            <a:avLst/>
          </a:prstGeom>
          <a:noFill/>
        </p:spPr>
        <p:txBody>
          <a:bodyPr wrap="square" rtlCol="0">
            <a:spAutoFit/>
          </a:bodyPr>
          <a:lstStyle/>
          <a:p>
            <a:pPr marL="342900" indent="-342900" algn="just">
              <a:buAutoNum type="arabicPeriod"/>
            </a:pPr>
            <a:r>
              <a:rPr lang="en-US" sz="2800" dirty="0">
                <a:solidFill>
                  <a:schemeClr val="accent4">
                    <a:lumMod val="75000"/>
                  </a:schemeClr>
                </a:solidFill>
                <a:latin typeface="Times New Roman" panose="02020603050405020304" pitchFamily="18" charset="0"/>
                <a:cs typeface="Times New Roman" panose="02020603050405020304" pitchFamily="18" charset="0"/>
              </a:rPr>
              <a:t>Also called </a:t>
            </a:r>
            <a:r>
              <a:rPr lang="en-US" sz="2800" dirty="0">
                <a:solidFill>
                  <a:srgbClr val="FF33CC"/>
                </a:solidFill>
                <a:latin typeface="Times New Roman" panose="02020603050405020304" pitchFamily="18" charset="0"/>
                <a:cs typeface="Times New Roman" panose="02020603050405020304" pitchFamily="18" charset="0"/>
              </a:rPr>
              <a:t>Defragmentation</a:t>
            </a:r>
            <a:r>
              <a:rPr lang="en-US" sz="2800" dirty="0">
                <a:solidFill>
                  <a:schemeClr val="accent4">
                    <a:lumMod val="75000"/>
                  </a:schemeClr>
                </a:solidFill>
                <a:latin typeface="Times New Roman" panose="02020603050405020304" pitchFamily="18" charset="0"/>
                <a:cs typeface="Times New Roman" panose="02020603050405020304" pitchFamily="18" charset="0"/>
              </a:rPr>
              <a:t>.</a:t>
            </a:r>
          </a:p>
          <a:p>
            <a:pPr marL="342900" indent="-342900" algn="just">
              <a:buAutoNum type="arabicPeriod"/>
            </a:pPr>
            <a:endParaRPr lang="en-US" sz="2800" dirty="0">
              <a:solidFill>
                <a:schemeClr val="accent4">
                  <a:lumMod val="75000"/>
                </a:schemeClr>
              </a:solidFill>
              <a:latin typeface="Times New Roman" panose="02020603050405020304" pitchFamily="18" charset="0"/>
              <a:cs typeface="Times New Roman" panose="02020603050405020304" pitchFamily="18" charset="0"/>
            </a:endParaRPr>
          </a:p>
          <a:p>
            <a:pPr marL="342900" indent="-342900" algn="just">
              <a:buFontTx/>
              <a:buAutoNum type="arabicPeriod"/>
            </a:pPr>
            <a:r>
              <a:rPr lang="en-US" sz="2800" dirty="0">
                <a:solidFill>
                  <a:schemeClr val="accent4">
                    <a:lumMod val="75000"/>
                  </a:schemeClr>
                </a:solidFill>
                <a:latin typeface="Times New Roman" panose="02020603050405020304" pitchFamily="18" charset="0"/>
                <a:cs typeface="Times New Roman" panose="02020603050405020304" pitchFamily="18" charset="0"/>
              </a:rPr>
              <a:t>Put free spaces together and filled spaces together.</a:t>
            </a:r>
          </a:p>
          <a:p>
            <a:pPr marL="342900" indent="-342900" algn="just">
              <a:buAutoNum type="arabicPeriod"/>
            </a:pPr>
            <a:endParaRPr lang="en-US" sz="2800" dirty="0">
              <a:solidFill>
                <a:schemeClr val="accent4">
                  <a:lumMod val="75000"/>
                </a:schemeClr>
              </a:solidFill>
              <a:latin typeface="Times New Roman" panose="02020603050405020304" pitchFamily="18" charset="0"/>
              <a:cs typeface="Times New Roman" panose="02020603050405020304" pitchFamily="18" charset="0"/>
            </a:endParaRPr>
          </a:p>
          <a:p>
            <a:pPr marL="342900" indent="-342900" algn="just">
              <a:buAutoNum type="arabicPeriod"/>
            </a:pPr>
            <a:r>
              <a:rPr lang="en-US" sz="2800" dirty="0">
                <a:solidFill>
                  <a:schemeClr val="accent4">
                    <a:lumMod val="75000"/>
                  </a:schemeClr>
                </a:solidFill>
                <a:latin typeface="Times New Roman" panose="02020603050405020304" pitchFamily="18" charset="0"/>
                <a:cs typeface="Times New Roman" panose="02020603050405020304" pitchFamily="18" charset="0"/>
              </a:rPr>
              <a:t>This combined free block can be allocated to new incoming processes (</a:t>
            </a:r>
            <a:r>
              <a:rPr lang="en-US" sz="2800" dirty="0">
                <a:solidFill>
                  <a:srgbClr val="FF33CC"/>
                </a:solidFill>
                <a:latin typeface="Times New Roman" panose="02020603050405020304" pitchFamily="18" charset="0"/>
                <a:cs typeface="Times New Roman" panose="02020603050405020304" pitchFamily="18" charset="0"/>
              </a:rPr>
              <a:t>Contiguous Block</a:t>
            </a:r>
            <a:r>
              <a:rPr lang="en-US" sz="2800" dirty="0">
                <a:solidFill>
                  <a:schemeClr val="accent4">
                    <a:lumMod val="75000"/>
                  </a:schemeClr>
                </a:solidFill>
                <a:latin typeface="Times New Roman" panose="02020603050405020304" pitchFamily="18" charset="0"/>
                <a:cs typeface="Times New Roman" panose="02020603050405020304" pitchFamily="18" charset="0"/>
              </a:rPr>
              <a:t>).</a:t>
            </a:r>
          </a:p>
          <a:p>
            <a:pPr marL="342900" indent="-342900" algn="just">
              <a:buAutoNum type="arabicPeriod"/>
            </a:pPr>
            <a:endParaRPr lang="en-US" sz="2800" dirty="0">
              <a:solidFill>
                <a:schemeClr val="accent4">
                  <a:lumMod val="75000"/>
                </a:schemeClr>
              </a:solidFill>
              <a:latin typeface="Times New Roman" panose="02020603050405020304" pitchFamily="18" charset="0"/>
              <a:cs typeface="Times New Roman" panose="02020603050405020304" pitchFamily="18" charset="0"/>
            </a:endParaRPr>
          </a:p>
          <a:p>
            <a:pPr marL="342900" indent="-342900" algn="just">
              <a:buAutoNum type="arabicPeriod"/>
            </a:pPr>
            <a:r>
              <a:rPr lang="en-IN" sz="2800" dirty="0">
                <a:solidFill>
                  <a:schemeClr val="accent4">
                    <a:lumMod val="75000"/>
                  </a:schemeClr>
                </a:solidFill>
                <a:latin typeface="Times New Roman" panose="02020603050405020304" pitchFamily="18" charset="0"/>
                <a:cs typeface="Times New Roman" panose="02020603050405020304" pitchFamily="18" charset="0"/>
              </a:rPr>
              <a:t>Problem: While shuffling free and occupied blocks, we need to stop the execution of processes, so CPU becomes idle.</a:t>
            </a:r>
          </a:p>
        </p:txBody>
      </p:sp>
    </p:spTree>
    <p:extLst>
      <p:ext uri="{BB962C8B-B14F-4D97-AF65-F5344CB8AC3E}">
        <p14:creationId xmlns:p14="http://schemas.microsoft.com/office/powerpoint/2010/main" val="1179797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321310"/>
            <a:ext cx="8610600" cy="576071"/>
          </a:xfrm>
        </p:spPr>
        <p:txBody>
          <a:bodyPr>
            <a:normAutofit fontScale="90000"/>
          </a:bodyPr>
          <a:lstStyle/>
          <a:p>
            <a:r>
              <a:rPr lang="en-US" dirty="0">
                <a:solidFill>
                  <a:srgbClr val="FF0000"/>
                </a:solidFill>
              </a:rPr>
              <a:t>Bit Map for Dynamic Partitioning </a:t>
            </a:r>
            <a:endParaRPr lang="en-IN" dirty="0">
              <a:solidFill>
                <a:srgbClr val="FF0000"/>
              </a:solidFill>
            </a:endParaRPr>
          </a:p>
        </p:txBody>
      </p:sp>
      <p:sp>
        <p:nvSpPr>
          <p:cNvPr id="2" name="TextBox 1">
            <a:extLst>
              <a:ext uri="{FF2B5EF4-FFF2-40B4-BE49-F238E27FC236}">
                <a16:creationId xmlns:a16="http://schemas.microsoft.com/office/drawing/2014/main" id="{4400B02E-DE14-A209-D35B-141CB0C962E7}"/>
              </a:ext>
            </a:extLst>
          </p:cNvPr>
          <p:cNvSpPr txBox="1"/>
          <p:nvPr/>
        </p:nvSpPr>
        <p:spPr>
          <a:xfrm>
            <a:off x="457200" y="1288971"/>
            <a:ext cx="8382000" cy="5170646"/>
          </a:xfrm>
          <a:prstGeom prst="rect">
            <a:avLst/>
          </a:prstGeom>
          <a:noFill/>
        </p:spPr>
        <p:txBody>
          <a:bodyPr wrap="square" rtlCol="0">
            <a:spAutoFit/>
          </a:bodyPr>
          <a:lstStyle/>
          <a:p>
            <a:pPr marL="342900" indent="-342900" algn="just">
              <a:buAutoNum type="arabicPeriod"/>
            </a:pPr>
            <a:r>
              <a:rPr lang="en-US" sz="2200" dirty="0">
                <a:solidFill>
                  <a:srgbClr val="0070C0"/>
                </a:solidFill>
                <a:latin typeface="Times New Roman" panose="02020603050405020304" pitchFamily="18" charset="0"/>
                <a:cs typeface="Times New Roman" panose="02020603050405020304" pitchFamily="18" charset="0"/>
              </a:rPr>
              <a:t>It is used to keep track of all the empty spaces or free holes.</a:t>
            </a:r>
          </a:p>
          <a:p>
            <a:pPr marL="342900" indent="-342900" algn="just">
              <a:buAutoNum type="arabicPeriod"/>
            </a:pPr>
            <a:endParaRPr lang="en-US" sz="2200" dirty="0">
              <a:solidFill>
                <a:srgbClr val="0070C0"/>
              </a:solidFill>
              <a:latin typeface="Times New Roman" panose="02020603050405020304" pitchFamily="18" charset="0"/>
              <a:cs typeface="Times New Roman" panose="02020603050405020304" pitchFamily="18" charset="0"/>
            </a:endParaRPr>
          </a:p>
          <a:p>
            <a:pPr marL="342900" indent="-342900" algn="just">
              <a:buFontTx/>
              <a:buAutoNum type="arabicPeriod"/>
            </a:pPr>
            <a:r>
              <a:rPr lang="en-US" sz="2200" dirty="0">
                <a:solidFill>
                  <a:srgbClr val="0070C0"/>
                </a:solidFill>
                <a:latin typeface="Times New Roman" panose="02020603050405020304" pitchFamily="18" charset="0"/>
                <a:cs typeface="Times New Roman" panose="02020603050405020304" pitchFamily="18" charset="0"/>
              </a:rPr>
              <a:t>Bit Map is the least famous data structure to store the details. In this scheme, the main memory is divided into the collection of allocation units. One or more allocation units may be allocated to a process according to the need of that process. However, the size of the allocation unit is fixed that is defined by the Operating System and never changed. Although the partition size may vary but the allocation size is fixed. </a:t>
            </a:r>
          </a:p>
          <a:p>
            <a:pPr marL="342900" indent="-342900" algn="just">
              <a:buFontTx/>
              <a:buAutoNum type="arabicPeriod"/>
            </a:pPr>
            <a:endParaRPr lang="en-US" sz="2200" dirty="0">
              <a:solidFill>
                <a:srgbClr val="0070C0"/>
              </a:solidFill>
              <a:latin typeface="Times New Roman" panose="02020603050405020304" pitchFamily="18" charset="0"/>
              <a:cs typeface="Times New Roman" panose="02020603050405020304" pitchFamily="18" charset="0"/>
            </a:endParaRPr>
          </a:p>
          <a:p>
            <a:pPr marL="342900" indent="-342900" algn="just">
              <a:buFontTx/>
              <a:buAutoNum type="arabicPeriod"/>
            </a:pPr>
            <a:r>
              <a:rPr lang="en-US" sz="2200" dirty="0">
                <a:solidFill>
                  <a:srgbClr val="0070C0"/>
                </a:solidFill>
                <a:latin typeface="Times New Roman" panose="02020603050405020304" pitchFamily="18" charset="0"/>
                <a:cs typeface="Times New Roman" panose="02020603050405020304" pitchFamily="18" charset="0"/>
              </a:rPr>
              <a:t>“</a:t>
            </a:r>
            <a:r>
              <a:rPr lang="en-US" sz="2200" dirty="0">
                <a:solidFill>
                  <a:srgbClr val="FF33CC"/>
                </a:solidFill>
                <a:latin typeface="Times New Roman" panose="02020603050405020304" pitchFamily="18" charset="0"/>
                <a:cs typeface="Times New Roman" panose="02020603050405020304" pitchFamily="18" charset="0"/>
              </a:rPr>
              <a:t>0</a:t>
            </a:r>
            <a:r>
              <a:rPr lang="en-US" sz="2200" dirty="0">
                <a:solidFill>
                  <a:srgbClr val="0070C0"/>
                </a:solidFill>
                <a:latin typeface="Times New Roman" panose="02020603050405020304" pitchFamily="18" charset="0"/>
                <a:cs typeface="Times New Roman" panose="02020603050405020304" pitchFamily="18" charset="0"/>
              </a:rPr>
              <a:t>” if allocation unit is Hole.</a:t>
            </a:r>
          </a:p>
          <a:p>
            <a:pPr marL="342900" indent="-342900" algn="just">
              <a:buFontTx/>
              <a:buAutoNum type="arabicPeriod"/>
            </a:pPr>
            <a:r>
              <a:rPr lang="en-US" sz="2200" dirty="0">
                <a:solidFill>
                  <a:srgbClr val="0070C0"/>
                </a:solidFill>
                <a:latin typeface="Times New Roman" panose="02020603050405020304" pitchFamily="18" charset="0"/>
                <a:cs typeface="Times New Roman" panose="02020603050405020304" pitchFamily="18" charset="0"/>
              </a:rPr>
              <a:t>“</a:t>
            </a:r>
            <a:r>
              <a:rPr lang="en-US" sz="2200" dirty="0">
                <a:solidFill>
                  <a:srgbClr val="FF33CC"/>
                </a:solidFill>
                <a:latin typeface="Times New Roman" panose="02020603050405020304" pitchFamily="18" charset="0"/>
                <a:cs typeface="Times New Roman" panose="02020603050405020304" pitchFamily="18" charset="0"/>
              </a:rPr>
              <a:t>1</a:t>
            </a:r>
            <a:r>
              <a:rPr lang="en-US" sz="2200" dirty="0">
                <a:solidFill>
                  <a:srgbClr val="0070C0"/>
                </a:solidFill>
                <a:latin typeface="Times New Roman" panose="02020603050405020304" pitchFamily="18" charset="0"/>
                <a:cs typeface="Times New Roman" panose="02020603050405020304" pitchFamily="18" charset="0"/>
              </a:rPr>
              <a:t>” if allocation unit is occupied by process.</a:t>
            </a:r>
          </a:p>
          <a:p>
            <a:pPr marL="342900" indent="-342900" algn="just">
              <a:buFontTx/>
              <a:buAutoNum type="arabicPeriod"/>
            </a:pPr>
            <a:endParaRPr lang="en-US" sz="2200" dirty="0">
              <a:solidFill>
                <a:srgbClr val="0070C0"/>
              </a:solidFill>
              <a:latin typeface="Times New Roman" panose="02020603050405020304" pitchFamily="18" charset="0"/>
              <a:cs typeface="Times New Roman" panose="02020603050405020304" pitchFamily="18" charset="0"/>
            </a:endParaRPr>
          </a:p>
          <a:p>
            <a:pPr marL="342900" indent="-342900" algn="just">
              <a:buFontTx/>
              <a:buAutoNum type="arabicPeriod"/>
            </a:pPr>
            <a:endParaRPr lang="en-US" sz="2200" dirty="0">
              <a:solidFill>
                <a:srgbClr val="0070C0"/>
              </a:solidFill>
              <a:latin typeface="Times New Roman" panose="02020603050405020304" pitchFamily="18" charset="0"/>
              <a:cs typeface="Times New Roman" panose="02020603050405020304" pitchFamily="18" charset="0"/>
            </a:endParaRPr>
          </a:p>
          <a:p>
            <a:pPr marL="342900" indent="-342900" algn="just">
              <a:buFontTx/>
              <a:buAutoNum type="arabicPeriod"/>
            </a:pPr>
            <a:endParaRPr lang="en-US" sz="22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31700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321310"/>
            <a:ext cx="8610600" cy="576071"/>
          </a:xfrm>
        </p:spPr>
        <p:txBody>
          <a:bodyPr>
            <a:normAutofit fontScale="90000"/>
          </a:bodyPr>
          <a:lstStyle/>
          <a:p>
            <a:r>
              <a:rPr lang="en-US" dirty="0">
                <a:solidFill>
                  <a:srgbClr val="FF0000"/>
                </a:solidFill>
              </a:rPr>
              <a:t>Bit Map for Dynamic Partitioning </a:t>
            </a:r>
            <a:endParaRPr lang="en-IN" dirty="0">
              <a:solidFill>
                <a:srgbClr val="FF0000"/>
              </a:solidFill>
            </a:endParaRPr>
          </a:p>
        </p:txBody>
      </p:sp>
      <p:pic>
        <p:nvPicPr>
          <p:cNvPr id="5" name="Picture 4">
            <a:extLst>
              <a:ext uri="{FF2B5EF4-FFF2-40B4-BE49-F238E27FC236}">
                <a16:creationId xmlns:a16="http://schemas.microsoft.com/office/drawing/2014/main" id="{D586D816-0112-BEBF-8E3A-47422ECDFC88}"/>
              </a:ext>
            </a:extLst>
          </p:cNvPr>
          <p:cNvPicPr>
            <a:picLocks noChangeAspect="1"/>
          </p:cNvPicPr>
          <p:nvPr/>
        </p:nvPicPr>
        <p:blipFill>
          <a:blip r:embed="rId2"/>
          <a:stretch>
            <a:fillRect/>
          </a:stretch>
        </p:blipFill>
        <p:spPr>
          <a:xfrm>
            <a:off x="685800" y="1219200"/>
            <a:ext cx="7543799" cy="2862262"/>
          </a:xfrm>
          <a:prstGeom prst="rect">
            <a:avLst/>
          </a:prstGeom>
        </p:spPr>
      </p:pic>
      <p:sp>
        <p:nvSpPr>
          <p:cNvPr id="6" name="TextBox 5">
            <a:extLst>
              <a:ext uri="{FF2B5EF4-FFF2-40B4-BE49-F238E27FC236}">
                <a16:creationId xmlns:a16="http://schemas.microsoft.com/office/drawing/2014/main" id="{3C98C2EB-34B5-84A8-67A0-B4C2DF03E750}"/>
              </a:ext>
            </a:extLst>
          </p:cNvPr>
          <p:cNvSpPr txBox="1"/>
          <p:nvPr/>
        </p:nvSpPr>
        <p:spPr>
          <a:xfrm>
            <a:off x="381000" y="4114800"/>
            <a:ext cx="8610600" cy="2492990"/>
          </a:xfrm>
          <a:prstGeom prst="rect">
            <a:avLst/>
          </a:prstGeom>
          <a:noFill/>
        </p:spPr>
        <p:txBody>
          <a:bodyPr wrap="square" rtlCol="0">
            <a:spAutoFit/>
          </a:bodyPr>
          <a:lstStyle/>
          <a:p>
            <a:r>
              <a:rPr lang="en-US" dirty="0">
                <a:solidFill>
                  <a:srgbClr val="FF33CC"/>
                </a:solidFill>
              </a:rPr>
              <a:t>Problems</a:t>
            </a:r>
            <a:r>
              <a:rPr lang="en-US" dirty="0"/>
              <a:t>: </a:t>
            </a:r>
          </a:p>
          <a:p>
            <a:pPr algn="just"/>
            <a:r>
              <a:rPr lang="en-US" sz="2000" dirty="0">
                <a:latin typeface="Times New Roman" panose="02020603050405020304" pitchFamily="18" charset="0"/>
                <a:cs typeface="Times New Roman" panose="02020603050405020304" pitchFamily="18" charset="0"/>
              </a:rPr>
              <a:t>We need additional memory overhead to store the “Array of Bits”. This reduces Degree of multiprogramming as well.</a:t>
            </a:r>
          </a:p>
          <a:p>
            <a:pPr algn="just"/>
            <a:endParaRPr lang="en-US" sz="2000"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To identify any hole in the memory, the OS need to search the string of 0s  in the bitmap. This searching takes a huge amount of time which makes the system 		inefficient to some extent</a:t>
            </a:r>
          </a:p>
          <a:p>
            <a:endParaRPr lang="en-IN" dirty="0"/>
          </a:p>
        </p:txBody>
      </p:sp>
    </p:spTree>
    <p:extLst>
      <p:ext uri="{BB962C8B-B14F-4D97-AF65-F5344CB8AC3E}">
        <p14:creationId xmlns:p14="http://schemas.microsoft.com/office/powerpoint/2010/main" val="28091794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321310"/>
            <a:ext cx="8610600" cy="576071"/>
          </a:xfrm>
        </p:spPr>
        <p:txBody>
          <a:bodyPr>
            <a:normAutofit fontScale="90000"/>
          </a:bodyPr>
          <a:lstStyle/>
          <a:p>
            <a:r>
              <a:rPr lang="en-US" dirty="0">
                <a:solidFill>
                  <a:srgbClr val="FF0000"/>
                </a:solidFill>
              </a:rPr>
              <a:t>Linked List for Dynamic Partitioning </a:t>
            </a:r>
            <a:endParaRPr lang="en-IN" dirty="0">
              <a:solidFill>
                <a:srgbClr val="FF0000"/>
              </a:solidFill>
            </a:endParaRPr>
          </a:p>
        </p:txBody>
      </p:sp>
      <p:pic>
        <p:nvPicPr>
          <p:cNvPr id="4" name="Picture 3">
            <a:extLst>
              <a:ext uri="{FF2B5EF4-FFF2-40B4-BE49-F238E27FC236}">
                <a16:creationId xmlns:a16="http://schemas.microsoft.com/office/drawing/2014/main" id="{D25AE36A-6131-F828-DE5C-E9C3F9F601E6}"/>
              </a:ext>
            </a:extLst>
          </p:cNvPr>
          <p:cNvPicPr>
            <a:picLocks noChangeAspect="1"/>
          </p:cNvPicPr>
          <p:nvPr/>
        </p:nvPicPr>
        <p:blipFill>
          <a:blip r:embed="rId2"/>
          <a:stretch>
            <a:fillRect/>
          </a:stretch>
        </p:blipFill>
        <p:spPr>
          <a:xfrm>
            <a:off x="304800" y="1066800"/>
            <a:ext cx="8610600" cy="3962400"/>
          </a:xfrm>
          <a:prstGeom prst="rect">
            <a:avLst/>
          </a:prstGeom>
        </p:spPr>
      </p:pic>
      <p:pic>
        <p:nvPicPr>
          <p:cNvPr id="8" name="Picture 7">
            <a:extLst>
              <a:ext uri="{FF2B5EF4-FFF2-40B4-BE49-F238E27FC236}">
                <a16:creationId xmlns:a16="http://schemas.microsoft.com/office/drawing/2014/main" id="{5BBA2747-DF07-9D0B-841A-681F3A11A8D9}"/>
              </a:ext>
            </a:extLst>
          </p:cNvPr>
          <p:cNvPicPr>
            <a:picLocks noChangeAspect="1"/>
          </p:cNvPicPr>
          <p:nvPr/>
        </p:nvPicPr>
        <p:blipFill>
          <a:blip r:embed="rId3"/>
          <a:stretch>
            <a:fillRect/>
          </a:stretch>
        </p:blipFill>
        <p:spPr>
          <a:xfrm>
            <a:off x="533400" y="5046219"/>
            <a:ext cx="8229600" cy="1659381"/>
          </a:xfrm>
          <a:prstGeom prst="rect">
            <a:avLst/>
          </a:prstGeom>
        </p:spPr>
      </p:pic>
    </p:spTree>
    <p:extLst>
      <p:ext uri="{BB962C8B-B14F-4D97-AF65-F5344CB8AC3E}">
        <p14:creationId xmlns:p14="http://schemas.microsoft.com/office/powerpoint/2010/main" val="28798485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321310"/>
            <a:ext cx="8610600" cy="576071"/>
          </a:xfrm>
        </p:spPr>
        <p:txBody>
          <a:bodyPr>
            <a:normAutofit fontScale="90000"/>
          </a:bodyPr>
          <a:lstStyle/>
          <a:p>
            <a:r>
              <a:rPr lang="en-US" dirty="0">
                <a:solidFill>
                  <a:srgbClr val="FF0000"/>
                </a:solidFill>
              </a:rPr>
              <a:t>Linked List for Dynamic Partitioning </a:t>
            </a:r>
            <a:endParaRPr lang="en-IN" dirty="0">
              <a:solidFill>
                <a:srgbClr val="FF0000"/>
              </a:solidFill>
            </a:endParaRPr>
          </a:p>
        </p:txBody>
      </p:sp>
      <p:pic>
        <p:nvPicPr>
          <p:cNvPr id="5" name="Picture 4">
            <a:extLst>
              <a:ext uri="{FF2B5EF4-FFF2-40B4-BE49-F238E27FC236}">
                <a16:creationId xmlns:a16="http://schemas.microsoft.com/office/drawing/2014/main" id="{A9084860-9EFD-779E-A250-BB10C742DF21}"/>
              </a:ext>
            </a:extLst>
          </p:cNvPr>
          <p:cNvPicPr>
            <a:picLocks noChangeAspect="1"/>
          </p:cNvPicPr>
          <p:nvPr/>
        </p:nvPicPr>
        <p:blipFill>
          <a:blip r:embed="rId2"/>
          <a:stretch>
            <a:fillRect/>
          </a:stretch>
        </p:blipFill>
        <p:spPr>
          <a:xfrm>
            <a:off x="723900" y="1143000"/>
            <a:ext cx="7696200" cy="5257800"/>
          </a:xfrm>
          <a:prstGeom prst="rect">
            <a:avLst/>
          </a:prstGeom>
        </p:spPr>
      </p:pic>
    </p:spTree>
    <p:extLst>
      <p:ext uri="{BB962C8B-B14F-4D97-AF65-F5344CB8AC3E}">
        <p14:creationId xmlns:p14="http://schemas.microsoft.com/office/powerpoint/2010/main" val="20194378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457200" y="321310"/>
            <a:ext cx="8610600" cy="576071"/>
          </a:xfrm>
        </p:spPr>
        <p:txBody>
          <a:bodyPr>
            <a:normAutofit fontScale="90000"/>
          </a:bodyPr>
          <a:lstStyle/>
          <a:p>
            <a:r>
              <a:rPr lang="en-US" dirty="0">
                <a:solidFill>
                  <a:srgbClr val="FF0000"/>
                </a:solidFill>
              </a:rPr>
              <a:t>Algorithms on Linked List </a:t>
            </a:r>
            <a:endParaRPr lang="en-IN" dirty="0">
              <a:solidFill>
                <a:srgbClr val="FF0000"/>
              </a:solidFill>
            </a:endParaRPr>
          </a:p>
        </p:txBody>
      </p:sp>
      <p:sp>
        <p:nvSpPr>
          <p:cNvPr id="2" name="TextBox 1">
            <a:extLst>
              <a:ext uri="{FF2B5EF4-FFF2-40B4-BE49-F238E27FC236}">
                <a16:creationId xmlns:a16="http://schemas.microsoft.com/office/drawing/2014/main" id="{C32BD7C0-C956-B59C-2B10-8981851143BE}"/>
              </a:ext>
            </a:extLst>
          </p:cNvPr>
          <p:cNvSpPr txBox="1"/>
          <p:nvPr/>
        </p:nvSpPr>
        <p:spPr>
          <a:xfrm>
            <a:off x="304800" y="1219200"/>
            <a:ext cx="8458200" cy="4708981"/>
          </a:xfrm>
          <a:prstGeom prst="rect">
            <a:avLst/>
          </a:prstGeom>
          <a:noFill/>
        </p:spPr>
        <p:txBody>
          <a:bodyPr wrap="square" rtlCol="0">
            <a:spAutoFit/>
          </a:bodyPr>
          <a:lstStyle/>
          <a:p>
            <a:pPr marL="342900" indent="-342900" algn="just">
              <a:buAutoNum type="arabicPeriod"/>
            </a:pPr>
            <a:r>
              <a:rPr lang="en-US" sz="2000" dirty="0">
                <a:solidFill>
                  <a:srgbClr val="FF33CC"/>
                </a:solidFill>
                <a:latin typeface="Times New Roman" panose="02020603050405020304" pitchFamily="18" charset="0"/>
                <a:cs typeface="Times New Roman" panose="02020603050405020304" pitchFamily="18" charset="0"/>
              </a:rPr>
              <a:t>First Fit: </a:t>
            </a:r>
            <a:r>
              <a:rPr lang="en-US" sz="2000" dirty="0">
                <a:latin typeface="Times New Roman" panose="02020603050405020304" pitchFamily="18" charset="0"/>
                <a:cs typeface="Times New Roman" panose="02020603050405020304" pitchFamily="18" charset="0"/>
              </a:rPr>
              <a:t>Scan the entire list and when you find first hole which is big enough to hold a process.</a:t>
            </a:r>
          </a:p>
          <a:p>
            <a:pPr marL="342900" indent="-342900" algn="just">
              <a:buAutoNum type="arabicPeriod"/>
            </a:pPr>
            <a:endParaRPr lang="en-US" sz="2000" dirty="0">
              <a:latin typeface="Times New Roman" panose="02020603050405020304" pitchFamily="18" charset="0"/>
              <a:cs typeface="Times New Roman" panose="02020603050405020304" pitchFamily="18" charset="0"/>
            </a:endParaRPr>
          </a:p>
          <a:p>
            <a:pPr marL="342900" indent="-342900" algn="just">
              <a:buAutoNum type="arabicPeriod"/>
            </a:pPr>
            <a:r>
              <a:rPr lang="en-US" sz="2000" dirty="0">
                <a:solidFill>
                  <a:srgbClr val="FF33CC"/>
                </a:solidFill>
                <a:latin typeface="Times New Roman" panose="02020603050405020304" pitchFamily="18" charset="0"/>
                <a:cs typeface="Times New Roman" panose="02020603050405020304" pitchFamily="18" charset="0"/>
              </a:rPr>
              <a:t>Next Fit: </a:t>
            </a:r>
            <a:r>
              <a:rPr lang="en-US" sz="2000" dirty="0">
                <a:latin typeface="Times New Roman" panose="02020603050405020304" pitchFamily="18" charset="0"/>
                <a:cs typeface="Times New Roman" panose="02020603050405020304" pitchFamily="18" charset="0"/>
              </a:rPr>
              <a:t>This is similar to First Fit algorithm, but instead of starting from the first node, we start scanning the list from a point where we have left it earlier.</a:t>
            </a:r>
          </a:p>
          <a:p>
            <a:pPr marL="342900" indent="-342900" algn="just">
              <a:buAutoNum type="arabicPeriod"/>
            </a:pPr>
            <a:endParaRPr lang="en-US" sz="2000" dirty="0">
              <a:latin typeface="Times New Roman" panose="02020603050405020304" pitchFamily="18" charset="0"/>
              <a:cs typeface="Times New Roman" panose="02020603050405020304" pitchFamily="18" charset="0"/>
            </a:endParaRPr>
          </a:p>
          <a:p>
            <a:pPr marL="342900" indent="-342900" algn="just">
              <a:buAutoNum type="arabicPeriod"/>
            </a:pPr>
            <a:r>
              <a:rPr lang="en-US" sz="2000" dirty="0">
                <a:solidFill>
                  <a:srgbClr val="FF33CC"/>
                </a:solidFill>
                <a:latin typeface="Times New Roman" panose="02020603050405020304" pitchFamily="18" charset="0"/>
                <a:cs typeface="Times New Roman" panose="02020603050405020304" pitchFamily="18" charset="0"/>
              </a:rPr>
              <a:t>Best Fit: </a:t>
            </a:r>
            <a:r>
              <a:rPr lang="en-US" sz="2000" dirty="0">
                <a:latin typeface="Times New Roman" panose="02020603050405020304" pitchFamily="18" charset="0"/>
                <a:cs typeface="Times New Roman" panose="02020603050405020304" pitchFamily="18" charset="0"/>
              </a:rPr>
              <a:t>Among all the holes which are present in the linked list we find the smallest hole which can accommodate the process.</a:t>
            </a:r>
          </a:p>
          <a:p>
            <a:pPr marL="342900" indent="-342900" algn="just">
              <a:buAutoNum type="arabicPeriod"/>
            </a:pPr>
            <a:endParaRPr lang="en-US" sz="2000" dirty="0">
              <a:latin typeface="Times New Roman" panose="02020603050405020304" pitchFamily="18" charset="0"/>
              <a:cs typeface="Times New Roman" panose="02020603050405020304" pitchFamily="18" charset="0"/>
            </a:endParaRPr>
          </a:p>
          <a:p>
            <a:pPr marL="342900" indent="-342900" algn="just">
              <a:buAutoNum type="arabicPeriod"/>
            </a:pPr>
            <a:r>
              <a:rPr lang="en-US" sz="2000" dirty="0">
                <a:solidFill>
                  <a:srgbClr val="FF33CC"/>
                </a:solidFill>
                <a:latin typeface="Times New Roman" panose="02020603050405020304" pitchFamily="18" charset="0"/>
                <a:cs typeface="Times New Roman" panose="02020603050405020304" pitchFamily="18" charset="0"/>
              </a:rPr>
              <a:t>Worst Fit: </a:t>
            </a:r>
            <a:r>
              <a:rPr lang="en-US" sz="2000" dirty="0">
                <a:latin typeface="Times New Roman" panose="02020603050405020304" pitchFamily="18" charset="0"/>
                <a:cs typeface="Times New Roman" panose="02020603050405020304" pitchFamily="18" charset="0"/>
              </a:rPr>
              <a:t>Scan the entire list from the beginning, then find out the biggest hole possible and assign it to process.</a:t>
            </a:r>
          </a:p>
          <a:p>
            <a:pPr marL="342900" indent="-342900" algn="just">
              <a:buAutoNum type="arabicPeriod"/>
            </a:pPr>
            <a:endParaRPr lang="en-US" sz="2000" dirty="0">
              <a:latin typeface="Times New Roman" panose="02020603050405020304" pitchFamily="18" charset="0"/>
              <a:cs typeface="Times New Roman" panose="02020603050405020304" pitchFamily="18" charset="0"/>
            </a:endParaRPr>
          </a:p>
          <a:p>
            <a:pPr marL="342900" indent="-342900" algn="just">
              <a:buAutoNum type="arabicPeriod"/>
            </a:pPr>
            <a:r>
              <a:rPr lang="en-US" sz="2000" dirty="0">
                <a:solidFill>
                  <a:srgbClr val="FF33CC"/>
                </a:solidFill>
                <a:latin typeface="Times New Roman" panose="02020603050405020304" pitchFamily="18" charset="0"/>
                <a:cs typeface="Times New Roman" panose="02020603050405020304" pitchFamily="18" charset="0"/>
              </a:rPr>
              <a:t>Quick Fit: </a:t>
            </a:r>
            <a:r>
              <a:rPr lang="en-US" sz="2000" dirty="0">
                <a:latin typeface="Times New Roman" panose="02020603050405020304" pitchFamily="18" charset="0"/>
                <a:cs typeface="Times New Roman" panose="02020603050405020304" pitchFamily="18" charset="0"/>
              </a:rPr>
              <a:t>It says that there are normally some “processes sizes” which are most frequently used, therefore it says that for all the most frequently used sizes we maintain linked list.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36331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76200" y="33529"/>
            <a:ext cx="8915400" cy="576071"/>
          </a:xfrm>
        </p:spPr>
        <p:txBody>
          <a:bodyPr>
            <a:normAutofit fontScale="90000"/>
          </a:bodyPr>
          <a:lstStyle/>
          <a:p>
            <a:r>
              <a:rPr lang="en-IN" dirty="0">
                <a:solidFill>
                  <a:srgbClr val="FF0000"/>
                </a:solidFill>
              </a:rPr>
              <a:t>Address Translation in CMA</a:t>
            </a:r>
          </a:p>
        </p:txBody>
      </p:sp>
      <p:pic>
        <p:nvPicPr>
          <p:cNvPr id="7" name="Picture 6">
            <a:extLst>
              <a:ext uri="{FF2B5EF4-FFF2-40B4-BE49-F238E27FC236}">
                <a16:creationId xmlns:a16="http://schemas.microsoft.com/office/drawing/2014/main" id="{5CE173A3-7FB5-DA71-861D-176574D772CA}"/>
              </a:ext>
            </a:extLst>
          </p:cNvPr>
          <p:cNvPicPr>
            <a:picLocks noChangeAspect="1"/>
          </p:cNvPicPr>
          <p:nvPr/>
        </p:nvPicPr>
        <p:blipFill>
          <a:blip r:embed="rId2"/>
          <a:stretch>
            <a:fillRect/>
          </a:stretch>
        </p:blipFill>
        <p:spPr>
          <a:xfrm>
            <a:off x="1143000" y="3886201"/>
            <a:ext cx="6457950" cy="2938270"/>
          </a:xfrm>
          <a:prstGeom prst="rect">
            <a:avLst/>
          </a:prstGeom>
        </p:spPr>
      </p:pic>
      <p:pic>
        <p:nvPicPr>
          <p:cNvPr id="9" name="Picture 8">
            <a:extLst>
              <a:ext uri="{FF2B5EF4-FFF2-40B4-BE49-F238E27FC236}">
                <a16:creationId xmlns:a16="http://schemas.microsoft.com/office/drawing/2014/main" id="{E8761A44-32CA-2558-A334-C5570F93B660}"/>
              </a:ext>
            </a:extLst>
          </p:cNvPr>
          <p:cNvPicPr>
            <a:picLocks noChangeAspect="1"/>
          </p:cNvPicPr>
          <p:nvPr/>
        </p:nvPicPr>
        <p:blipFill>
          <a:blip r:embed="rId3"/>
          <a:stretch>
            <a:fillRect/>
          </a:stretch>
        </p:blipFill>
        <p:spPr>
          <a:xfrm>
            <a:off x="304800" y="762000"/>
            <a:ext cx="7467599" cy="3124200"/>
          </a:xfrm>
          <a:prstGeom prst="rect">
            <a:avLst/>
          </a:prstGeom>
        </p:spPr>
      </p:pic>
    </p:spTree>
    <p:extLst>
      <p:ext uri="{BB962C8B-B14F-4D97-AF65-F5344CB8AC3E}">
        <p14:creationId xmlns:p14="http://schemas.microsoft.com/office/powerpoint/2010/main" val="14472447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76200" y="33529"/>
            <a:ext cx="8915400" cy="576071"/>
          </a:xfrm>
        </p:spPr>
        <p:txBody>
          <a:bodyPr>
            <a:normAutofit fontScale="90000"/>
          </a:bodyPr>
          <a:lstStyle/>
          <a:p>
            <a:r>
              <a:rPr lang="en-IN" dirty="0">
                <a:solidFill>
                  <a:srgbClr val="FF0000"/>
                </a:solidFill>
              </a:rPr>
              <a:t>Address Translation in CMA</a:t>
            </a:r>
          </a:p>
        </p:txBody>
      </p:sp>
      <p:pic>
        <p:nvPicPr>
          <p:cNvPr id="4" name="Picture 3">
            <a:extLst>
              <a:ext uri="{FF2B5EF4-FFF2-40B4-BE49-F238E27FC236}">
                <a16:creationId xmlns:a16="http://schemas.microsoft.com/office/drawing/2014/main" id="{0CD63889-15EC-4883-55F3-1952C550E544}"/>
              </a:ext>
            </a:extLst>
          </p:cNvPr>
          <p:cNvPicPr>
            <a:picLocks noChangeAspect="1"/>
          </p:cNvPicPr>
          <p:nvPr/>
        </p:nvPicPr>
        <p:blipFill>
          <a:blip r:embed="rId2"/>
          <a:stretch>
            <a:fillRect/>
          </a:stretch>
        </p:blipFill>
        <p:spPr>
          <a:xfrm>
            <a:off x="533400" y="1295400"/>
            <a:ext cx="8077200" cy="4800600"/>
          </a:xfrm>
          <a:prstGeom prst="rect">
            <a:avLst/>
          </a:prstGeom>
        </p:spPr>
      </p:pic>
    </p:spTree>
    <p:extLst>
      <p:ext uri="{BB962C8B-B14F-4D97-AF65-F5344CB8AC3E}">
        <p14:creationId xmlns:p14="http://schemas.microsoft.com/office/powerpoint/2010/main" val="30317370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76200" y="33529"/>
            <a:ext cx="8915400" cy="576071"/>
          </a:xfrm>
        </p:spPr>
        <p:txBody>
          <a:bodyPr>
            <a:normAutofit fontScale="90000"/>
          </a:bodyPr>
          <a:lstStyle/>
          <a:p>
            <a:r>
              <a:rPr lang="en-IN" dirty="0">
                <a:solidFill>
                  <a:srgbClr val="FF0000"/>
                </a:solidFill>
              </a:rPr>
              <a:t>Address Translation in CMA</a:t>
            </a:r>
          </a:p>
        </p:txBody>
      </p:sp>
      <p:pic>
        <p:nvPicPr>
          <p:cNvPr id="5" name="Picture 4">
            <a:extLst>
              <a:ext uri="{FF2B5EF4-FFF2-40B4-BE49-F238E27FC236}">
                <a16:creationId xmlns:a16="http://schemas.microsoft.com/office/drawing/2014/main" id="{65815C53-C908-3C0A-DDBB-F5A30CFDF139}"/>
              </a:ext>
            </a:extLst>
          </p:cNvPr>
          <p:cNvPicPr>
            <a:picLocks noChangeAspect="1"/>
          </p:cNvPicPr>
          <p:nvPr/>
        </p:nvPicPr>
        <p:blipFill>
          <a:blip r:embed="rId2"/>
          <a:stretch>
            <a:fillRect/>
          </a:stretch>
        </p:blipFill>
        <p:spPr>
          <a:xfrm>
            <a:off x="304800" y="457200"/>
            <a:ext cx="8077200" cy="1319212"/>
          </a:xfrm>
          <a:prstGeom prst="rect">
            <a:avLst/>
          </a:prstGeom>
        </p:spPr>
      </p:pic>
      <p:pic>
        <p:nvPicPr>
          <p:cNvPr id="7" name="Picture 6">
            <a:extLst>
              <a:ext uri="{FF2B5EF4-FFF2-40B4-BE49-F238E27FC236}">
                <a16:creationId xmlns:a16="http://schemas.microsoft.com/office/drawing/2014/main" id="{8E5D20A7-2168-45B2-D6B2-D464A839A218}"/>
              </a:ext>
            </a:extLst>
          </p:cNvPr>
          <p:cNvPicPr>
            <a:picLocks noChangeAspect="1"/>
          </p:cNvPicPr>
          <p:nvPr/>
        </p:nvPicPr>
        <p:blipFill>
          <a:blip r:embed="rId3"/>
          <a:stretch>
            <a:fillRect/>
          </a:stretch>
        </p:blipFill>
        <p:spPr>
          <a:xfrm>
            <a:off x="533400" y="1676399"/>
            <a:ext cx="7848600" cy="5148071"/>
          </a:xfrm>
          <a:prstGeom prst="rect">
            <a:avLst/>
          </a:prstGeom>
        </p:spPr>
      </p:pic>
    </p:spTree>
    <p:extLst>
      <p:ext uri="{BB962C8B-B14F-4D97-AF65-F5344CB8AC3E}">
        <p14:creationId xmlns:p14="http://schemas.microsoft.com/office/powerpoint/2010/main" val="9419877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76200" y="33529"/>
            <a:ext cx="8915400" cy="576071"/>
          </a:xfrm>
        </p:spPr>
        <p:txBody>
          <a:bodyPr>
            <a:normAutofit fontScale="90000"/>
          </a:bodyPr>
          <a:lstStyle/>
          <a:p>
            <a:r>
              <a:rPr lang="en-IN" dirty="0">
                <a:solidFill>
                  <a:srgbClr val="FF0000"/>
                </a:solidFill>
              </a:rPr>
              <a:t>Problem 1:</a:t>
            </a:r>
          </a:p>
        </p:txBody>
      </p:sp>
      <p:pic>
        <p:nvPicPr>
          <p:cNvPr id="4" name="Picture 3">
            <a:extLst>
              <a:ext uri="{FF2B5EF4-FFF2-40B4-BE49-F238E27FC236}">
                <a16:creationId xmlns:a16="http://schemas.microsoft.com/office/drawing/2014/main" id="{3F6F8912-449A-C25B-CAAB-97D926809F34}"/>
              </a:ext>
            </a:extLst>
          </p:cNvPr>
          <p:cNvPicPr>
            <a:picLocks noChangeAspect="1"/>
          </p:cNvPicPr>
          <p:nvPr/>
        </p:nvPicPr>
        <p:blipFill>
          <a:blip r:embed="rId2"/>
          <a:stretch>
            <a:fillRect/>
          </a:stretch>
        </p:blipFill>
        <p:spPr>
          <a:xfrm>
            <a:off x="304800" y="1447801"/>
            <a:ext cx="8229599" cy="2438399"/>
          </a:xfrm>
          <a:prstGeom prst="rect">
            <a:avLst/>
          </a:prstGeom>
        </p:spPr>
      </p:pic>
    </p:spTree>
    <p:extLst>
      <p:ext uri="{BB962C8B-B14F-4D97-AF65-F5344CB8AC3E}">
        <p14:creationId xmlns:p14="http://schemas.microsoft.com/office/powerpoint/2010/main" val="3213322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397F5-4B29-2E98-BDCA-50FEF5C8B13B}"/>
              </a:ext>
            </a:extLst>
          </p:cNvPr>
          <p:cNvSpPr>
            <a:spLocks noGrp="1"/>
          </p:cNvSpPr>
          <p:nvPr>
            <p:ph type="title"/>
          </p:nvPr>
        </p:nvSpPr>
        <p:spPr>
          <a:xfrm>
            <a:off x="76200" y="33529"/>
            <a:ext cx="8915400" cy="576071"/>
          </a:xfrm>
        </p:spPr>
        <p:txBody>
          <a:bodyPr>
            <a:normAutofit fontScale="90000"/>
          </a:bodyPr>
          <a:lstStyle/>
          <a:p>
            <a:r>
              <a:rPr lang="en-IN" dirty="0">
                <a:solidFill>
                  <a:srgbClr val="FF0000"/>
                </a:solidFill>
              </a:rPr>
              <a:t>Solution:</a:t>
            </a:r>
          </a:p>
        </p:txBody>
      </p:sp>
      <p:pic>
        <p:nvPicPr>
          <p:cNvPr id="5" name="Picture 4">
            <a:extLst>
              <a:ext uri="{FF2B5EF4-FFF2-40B4-BE49-F238E27FC236}">
                <a16:creationId xmlns:a16="http://schemas.microsoft.com/office/drawing/2014/main" id="{8A2F10D5-5754-E8CB-278D-695791DA3785}"/>
              </a:ext>
            </a:extLst>
          </p:cNvPr>
          <p:cNvPicPr>
            <a:picLocks noChangeAspect="1"/>
          </p:cNvPicPr>
          <p:nvPr/>
        </p:nvPicPr>
        <p:blipFill>
          <a:blip r:embed="rId2"/>
          <a:stretch>
            <a:fillRect/>
          </a:stretch>
        </p:blipFill>
        <p:spPr>
          <a:xfrm>
            <a:off x="609600" y="838200"/>
            <a:ext cx="8001000" cy="5486399"/>
          </a:xfrm>
          <a:prstGeom prst="rect">
            <a:avLst/>
          </a:prstGeom>
        </p:spPr>
      </p:pic>
    </p:spTree>
    <p:extLst>
      <p:ext uri="{BB962C8B-B14F-4D97-AF65-F5344CB8AC3E}">
        <p14:creationId xmlns:p14="http://schemas.microsoft.com/office/powerpoint/2010/main" val="28958725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ED158D-4E7B-B58A-6DE2-658DF26F3760}"/>
              </a:ext>
            </a:extLst>
          </p:cNvPr>
          <p:cNvPicPr>
            <a:picLocks noChangeAspect="1"/>
          </p:cNvPicPr>
          <p:nvPr/>
        </p:nvPicPr>
        <p:blipFill>
          <a:blip r:embed="rId2"/>
          <a:stretch>
            <a:fillRect/>
          </a:stretch>
        </p:blipFill>
        <p:spPr>
          <a:xfrm>
            <a:off x="457200" y="762000"/>
            <a:ext cx="8000999" cy="5791200"/>
          </a:xfrm>
          <a:prstGeom prst="rect">
            <a:avLst/>
          </a:prstGeom>
        </p:spPr>
      </p:pic>
    </p:spTree>
    <p:extLst>
      <p:ext uri="{BB962C8B-B14F-4D97-AF65-F5344CB8AC3E}">
        <p14:creationId xmlns:p14="http://schemas.microsoft.com/office/powerpoint/2010/main" val="32680259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C03670-7B1C-97E2-F8F2-957781419DB7}"/>
              </a:ext>
            </a:extLst>
          </p:cNvPr>
          <p:cNvPicPr>
            <a:picLocks noChangeAspect="1"/>
          </p:cNvPicPr>
          <p:nvPr/>
        </p:nvPicPr>
        <p:blipFill>
          <a:blip r:embed="rId2"/>
          <a:stretch>
            <a:fillRect/>
          </a:stretch>
        </p:blipFill>
        <p:spPr>
          <a:xfrm>
            <a:off x="533400" y="381000"/>
            <a:ext cx="8305800" cy="6172200"/>
          </a:xfrm>
          <a:prstGeom prst="rect">
            <a:avLst/>
          </a:prstGeom>
        </p:spPr>
      </p:pic>
    </p:spTree>
    <p:extLst>
      <p:ext uri="{BB962C8B-B14F-4D97-AF65-F5344CB8AC3E}">
        <p14:creationId xmlns:p14="http://schemas.microsoft.com/office/powerpoint/2010/main" val="29473600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5F098B-CA1A-B7B9-3322-3200839B8B12}"/>
              </a:ext>
            </a:extLst>
          </p:cNvPr>
          <p:cNvPicPr>
            <a:picLocks noChangeAspect="1"/>
          </p:cNvPicPr>
          <p:nvPr/>
        </p:nvPicPr>
        <p:blipFill>
          <a:blip r:embed="rId2"/>
          <a:stretch>
            <a:fillRect/>
          </a:stretch>
        </p:blipFill>
        <p:spPr>
          <a:xfrm>
            <a:off x="457200" y="381000"/>
            <a:ext cx="7620000" cy="4495801"/>
          </a:xfrm>
          <a:prstGeom prst="rect">
            <a:avLst/>
          </a:prstGeom>
        </p:spPr>
      </p:pic>
      <p:pic>
        <p:nvPicPr>
          <p:cNvPr id="6" name="Picture 5">
            <a:extLst>
              <a:ext uri="{FF2B5EF4-FFF2-40B4-BE49-F238E27FC236}">
                <a16:creationId xmlns:a16="http://schemas.microsoft.com/office/drawing/2014/main" id="{1E0A186D-2F78-A7EB-1B90-17EE002A573C}"/>
              </a:ext>
            </a:extLst>
          </p:cNvPr>
          <p:cNvPicPr>
            <a:picLocks noChangeAspect="1"/>
          </p:cNvPicPr>
          <p:nvPr/>
        </p:nvPicPr>
        <p:blipFill>
          <a:blip r:embed="rId3"/>
          <a:stretch>
            <a:fillRect/>
          </a:stretch>
        </p:blipFill>
        <p:spPr>
          <a:xfrm>
            <a:off x="457200" y="4953000"/>
            <a:ext cx="8077200" cy="1600200"/>
          </a:xfrm>
          <a:prstGeom prst="rect">
            <a:avLst/>
          </a:prstGeom>
        </p:spPr>
      </p:pic>
    </p:spTree>
    <p:extLst>
      <p:ext uri="{BB962C8B-B14F-4D97-AF65-F5344CB8AC3E}">
        <p14:creationId xmlns:p14="http://schemas.microsoft.com/office/powerpoint/2010/main" val="2722912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CCF984-C0F1-0B29-B79F-15FD4F450A6B}"/>
              </a:ext>
            </a:extLst>
          </p:cNvPr>
          <p:cNvPicPr>
            <a:picLocks noChangeAspect="1"/>
          </p:cNvPicPr>
          <p:nvPr/>
        </p:nvPicPr>
        <p:blipFill>
          <a:blip r:embed="rId2"/>
          <a:stretch>
            <a:fillRect/>
          </a:stretch>
        </p:blipFill>
        <p:spPr>
          <a:xfrm>
            <a:off x="457200" y="304800"/>
            <a:ext cx="8305800" cy="4191000"/>
          </a:xfrm>
          <a:prstGeom prst="rect">
            <a:avLst/>
          </a:prstGeom>
        </p:spPr>
      </p:pic>
      <p:pic>
        <p:nvPicPr>
          <p:cNvPr id="7" name="Picture 6">
            <a:extLst>
              <a:ext uri="{FF2B5EF4-FFF2-40B4-BE49-F238E27FC236}">
                <a16:creationId xmlns:a16="http://schemas.microsoft.com/office/drawing/2014/main" id="{98E92060-AF7A-85E0-59B8-35C4F90ECCC2}"/>
              </a:ext>
            </a:extLst>
          </p:cNvPr>
          <p:cNvPicPr>
            <a:picLocks noChangeAspect="1"/>
          </p:cNvPicPr>
          <p:nvPr/>
        </p:nvPicPr>
        <p:blipFill>
          <a:blip r:embed="rId3"/>
          <a:stretch>
            <a:fillRect/>
          </a:stretch>
        </p:blipFill>
        <p:spPr>
          <a:xfrm>
            <a:off x="457200" y="4724397"/>
            <a:ext cx="8305800" cy="1676403"/>
          </a:xfrm>
          <a:prstGeom prst="rect">
            <a:avLst/>
          </a:prstGeom>
        </p:spPr>
      </p:pic>
    </p:spTree>
    <p:extLst>
      <p:ext uri="{BB962C8B-B14F-4D97-AF65-F5344CB8AC3E}">
        <p14:creationId xmlns:p14="http://schemas.microsoft.com/office/powerpoint/2010/main" val="36976908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52CFE4-2A4B-BCA3-8475-A08DED55D286}"/>
              </a:ext>
            </a:extLst>
          </p:cNvPr>
          <p:cNvPicPr>
            <a:picLocks noChangeAspect="1"/>
          </p:cNvPicPr>
          <p:nvPr/>
        </p:nvPicPr>
        <p:blipFill>
          <a:blip r:embed="rId2"/>
          <a:stretch>
            <a:fillRect/>
          </a:stretch>
        </p:blipFill>
        <p:spPr>
          <a:xfrm>
            <a:off x="381000" y="685800"/>
            <a:ext cx="8305799" cy="5791200"/>
          </a:xfrm>
          <a:prstGeom prst="rect">
            <a:avLst/>
          </a:prstGeom>
        </p:spPr>
      </p:pic>
    </p:spTree>
    <p:extLst>
      <p:ext uri="{BB962C8B-B14F-4D97-AF65-F5344CB8AC3E}">
        <p14:creationId xmlns:p14="http://schemas.microsoft.com/office/powerpoint/2010/main" val="13220574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6A4E02-7955-EBBB-28F7-6FE6042C63E1}"/>
              </a:ext>
            </a:extLst>
          </p:cNvPr>
          <p:cNvPicPr>
            <a:picLocks noChangeAspect="1"/>
          </p:cNvPicPr>
          <p:nvPr/>
        </p:nvPicPr>
        <p:blipFill>
          <a:blip r:embed="rId2"/>
          <a:stretch>
            <a:fillRect/>
          </a:stretch>
        </p:blipFill>
        <p:spPr>
          <a:xfrm>
            <a:off x="304800" y="304800"/>
            <a:ext cx="8305800" cy="6248400"/>
          </a:xfrm>
          <a:prstGeom prst="rect">
            <a:avLst/>
          </a:prstGeom>
        </p:spPr>
      </p:pic>
    </p:spTree>
    <p:extLst>
      <p:ext uri="{BB962C8B-B14F-4D97-AF65-F5344CB8AC3E}">
        <p14:creationId xmlns:p14="http://schemas.microsoft.com/office/powerpoint/2010/main" val="827469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95E11C-BFDD-42CA-7BB0-8D3CBFE787F3}"/>
              </a:ext>
            </a:extLst>
          </p:cNvPr>
          <p:cNvPicPr>
            <a:picLocks noChangeAspect="1"/>
          </p:cNvPicPr>
          <p:nvPr/>
        </p:nvPicPr>
        <p:blipFill>
          <a:blip r:embed="rId2"/>
          <a:stretch>
            <a:fillRect/>
          </a:stretch>
        </p:blipFill>
        <p:spPr>
          <a:xfrm>
            <a:off x="381000" y="457200"/>
            <a:ext cx="8458200" cy="6172200"/>
          </a:xfrm>
          <a:prstGeom prst="rect">
            <a:avLst/>
          </a:prstGeom>
        </p:spPr>
      </p:pic>
    </p:spTree>
    <p:extLst>
      <p:ext uri="{BB962C8B-B14F-4D97-AF65-F5344CB8AC3E}">
        <p14:creationId xmlns:p14="http://schemas.microsoft.com/office/powerpoint/2010/main" val="24185631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mages.jpg"/>
          <p:cNvPicPr>
            <a:picLocks noGrp="1" noChangeAspect="1"/>
          </p:cNvPicPr>
          <p:nvPr>
            <p:ph idx="1"/>
          </p:nvPr>
        </p:nvPicPr>
        <p:blipFill>
          <a:blip r:embed="rId2"/>
          <a:stretch>
            <a:fillRect/>
          </a:stretch>
        </p:blipFill>
        <p:spPr>
          <a:xfrm>
            <a:off x="609600" y="1219200"/>
            <a:ext cx="8001000" cy="3962400"/>
          </a:xfr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ownload.jpg"/>
          <p:cNvPicPr>
            <a:picLocks noGrp="1" noChangeAspect="1"/>
          </p:cNvPicPr>
          <p:nvPr>
            <p:ph idx="1"/>
          </p:nvPr>
        </p:nvPicPr>
        <p:blipFill>
          <a:blip r:embed="rId2"/>
          <a:stretch>
            <a:fillRect/>
          </a:stretch>
        </p:blipFill>
        <p:spPr>
          <a:xfrm>
            <a:off x="1676400" y="457200"/>
            <a:ext cx="5638800" cy="5486400"/>
          </a:xfr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8877</TotalTime>
  <Words>1511</Words>
  <Application>Microsoft Office PowerPoint</Application>
  <PresentationFormat>On-screen Show (4:3)</PresentationFormat>
  <Paragraphs>211</Paragraphs>
  <Slides>47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Cambria Math</vt:lpstr>
      <vt:lpstr>Lucida Sans Unicode</vt:lpstr>
      <vt:lpstr>Microsoft Sans Serif</vt:lpstr>
      <vt:lpstr>Times New Roman</vt:lpstr>
      <vt:lpstr>Verdana</vt:lpstr>
      <vt:lpstr>Wingdings</vt:lpstr>
      <vt:lpstr>Wingdings 2</vt:lpstr>
      <vt:lpstr>Wingdings 3</vt:lpstr>
      <vt:lpstr>Concourse</vt:lpstr>
      <vt:lpstr>Memory Management</vt:lpstr>
      <vt:lpstr>Need for Multiprogramming &amp; MM</vt:lpstr>
      <vt:lpstr>Size of MM vs. CPU Efficiency</vt:lpstr>
      <vt:lpstr>Size of MM vs. CPU Efficiency</vt:lpstr>
      <vt:lpstr>Size of MM vs. CPU Efficiency</vt:lpstr>
      <vt:lpstr>Size of MM vs. CPU Efficiency</vt:lpstr>
      <vt:lpstr>Problem</vt:lpstr>
      <vt:lpstr>Criteria:</vt:lpstr>
      <vt:lpstr>Criteria:</vt:lpstr>
      <vt:lpstr>Object Code, Relocation &amp; Linker</vt:lpstr>
      <vt:lpstr>Object Code, Relocation &amp; Linker</vt:lpstr>
      <vt:lpstr>Object Code, Relocation &amp; Linker</vt:lpstr>
      <vt:lpstr>Loader</vt:lpstr>
      <vt:lpstr>Key Terms:</vt:lpstr>
      <vt:lpstr>Two Important Methods:</vt:lpstr>
      <vt:lpstr>Contiguous Memory Allocation</vt:lpstr>
      <vt:lpstr>Fixed or Static Partition</vt:lpstr>
      <vt:lpstr>Fixed or Static Partition</vt:lpstr>
      <vt:lpstr>Fixed or Static Partition</vt:lpstr>
      <vt:lpstr>Problem with Fixed Partition</vt:lpstr>
      <vt:lpstr>Problem with Fixed Partition</vt:lpstr>
      <vt:lpstr>Fixed or Static Partition</vt:lpstr>
      <vt:lpstr>Fixed or Static Partition</vt:lpstr>
      <vt:lpstr>Dynamic or variable Partition</vt:lpstr>
      <vt:lpstr>Dynamic Partition</vt:lpstr>
      <vt:lpstr>Dynamic or variable Partition</vt:lpstr>
      <vt:lpstr>Deallocated Holes: Dynamic Method</vt:lpstr>
      <vt:lpstr>Compaction </vt:lpstr>
      <vt:lpstr>Bit Map for Dynamic Partitioning </vt:lpstr>
      <vt:lpstr>Bit Map for Dynamic Partitioning </vt:lpstr>
      <vt:lpstr>Linked List for Dynamic Partitioning </vt:lpstr>
      <vt:lpstr>Linked List for Dynamic Partitioning </vt:lpstr>
      <vt:lpstr>Algorithms on Linked List </vt:lpstr>
      <vt:lpstr>Address Translation in CMA</vt:lpstr>
      <vt:lpstr>Address Translation in CMA</vt:lpstr>
      <vt:lpstr>Address Translation in CMA</vt:lpstr>
      <vt:lpstr>Problem 1:</vt:lpstr>
      <vt:lpstr>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SEPARABLE REVERSIBLE DATA HIDING IN ENCRYPTED IMAGE</dc:title>
  <dc:creator>Nadeem</dc:creator>
  <cp:lastModifiedBy>Khursheed Ahmad Bhat</cp:lastModifiedBy>
  <cp:revision>317</cp:revision>
  <dcterms:created xsi:type="dcterms:W3CDTF">2013-03-01T01:22:51Z</dcterms:created>
  <dcterms:modified xsi:type="dcterms:W3CDTF">2025-11-11T02:20:58Z</dcterms:modified>
</cp:coreProperties>
</file>