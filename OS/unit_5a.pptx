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350" r:id="rId2"/>
    <p:sldId id="407" r:id="rId3"/>
    <p:sldId id="408" r:id="rId4"/>
    <p:sldId id="409" r:id="rId5"/>
    <p:sldId id="410" r:id="rId6"/>
    <p:sldId id="411" r:id="rId7"/>
    <p:sldId id="412" r:id="rId8"/>
    <p:sldId id="418" r:id="rId9"/>
    <p:sldId id="419" r:id="rId10"/>
    <p:sldId id="257" r:id="rId11"/>
    <p:sldId id="259" r:id="rId12"/>
    <p:sldId id="258" r:id="rId13"/>
    <p:sldId id="256" r:id="rId14"/>
    <p:sldId id="340" r:id="rId15"/>
    <p:sldId id="341" r:id="rId16"/>
    <p:sldId id="349" r:id="rId17"/>
    <p:sldId id="342" r:id="rId18"/>
    <p:sldId id="432" r:id="rId19"/>
    <p:sldId id="420" r:id="rId20"/>
    <p:sldId id="426" r:id="rId21"/>
    <p:sldId id="427" r:id="rId22"/>
    <p:sldId id="428" r:id="rId23"/>
    <p:sldId id="429" r:id="rId24"/>
    <p:sldId id="431" r:id="rId25"/>
    <p:sldId id="430" r:id="rId26"/>
    <p:sldId id="433" r:id="rId27"/>
    <p:sldId id="445" r:id="rId28"/>
    <p:sldId id="446" r:id="rId29"/>
    <p:sldId id="448" r:id="rId30"/>
    <p:sldId id="449" r:id="rId31"/>
    <p:sldId id="450" r:id="rId32"/>
    <p:sldId id="260" r:id="rId33"/>
    <p:sldId id="451" r:id="rId34"/>
    <p:sldId id="452" r:id="rId35"/>
    <p:sldId id="453" r:id="rId36"/>
    <p:sldId id="454"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D1EF44-36DF-4B08-8C22-5A79A506F877}" type="datetimeFigureOut">
              <a:rPr lang="en-US" smtClean="0"/>
              <a:t>11/19/2025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E0F1B8-00CC-40C5-B1C6-0861B2CC8CD5}" type="slidenum">
              <a:rPr lang="en-US" smtClean="0"/>
              <a:t>‹#›</a:t>
            </a:fld>
            <a:endParaRPr lang="en-US"/>
          </a:p>
        </p:txBody>
      </p:sp>
    </p:spTree>
    <p:extLst>
      <p:ext uri="{BB962C8B-B14F-4D97-AF65-F5344CB8AC3E}">
        <p14:creationId xmlns:p14="http://schemas.microsoft.com/office/powerpoint/2010/main" val="3560131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88A20251-A093-4172-BD74-A36C2A3F8B9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EEF4FF4-C9FD-46D9-BF24-6598973F25B8}" type="slidenum">
              <a:rPr lang="en-US" altLang="en-US">
                <a:latin typeface="Helvetica" panose="020B0604020202020204" pitchFamily="34" charset="0"/>
              </a:rPr>
              <a:pPr/>
              <a:t>14</a:t>
            </a:fld>
            <a:endParaRPr lang="en-US" altLang="en-US">
              <a:latin typeface="Helvetica" panose="020B0604020202020204" pitchFamily="34" charset="0"/>
            </a:endParaRPr>
          </a:p>
        </p:txBody>
      </p:sp>
      <p:sp>
        <p:nvSpPr>
          <p:cNvPr id="79875" name="Rectangle 2">
            <a:extLst>
              <a:ext uri="{FF2B5EF4-FFF2-40B4-BE49-F238E27FC236}">
                <a16:creationId xmlns:a16="http://schemas.microsoft.com/office/drawing/2014/main" id="{6BD19E41-E753-43B4-A52C-F3C0FDC8098C}"/>
              </a:ext>
            </a:extLst>
          </p:cNvPr>
          <p:cNvSpPr>
            <a:spLocks noGrp="1" noRot="1" noChangeAspect="1" noChangeArrowheads="1" noTextEdit="1"/>
          </p:cNvSpPr>
          <p:nvPr>
            <p:ph type="sldImg"/>
          </p:nvPr>
        </p:nvSpPr>
        <p:spPr>
          <a:ln/>
        </p:spPr>
      </p:sp>
      <p:sp>
        <p:nvSpPr>
          <p:cNvPr id="79876" name="Rectangle 3">
            <a:extLst>
              <a:ext uri="{FF2B5EF4-FFF2-40B4-BE49-F238E27FC236}">
                <a16:creationId xmlns:a16="http://schemas.microsoft.com/office/drawing/2014/main" id="{AFC68E5A-AEFD-4D41-934B-C0BEE57967D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92D03978-248F-4696-B60F-15CD45A7CC0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A5C935A-6734-4108-A7F7-F209D07F3D5B}" type="slidenum">
              <a:rPr lang="en-US" altLang="en-US">
                <a:latin typeface="Helvetica" panose="020B0604020202020204" pitchFamily="34" charset="0"/>
              </a:rPr>
              <a:pPr/>
              <a:t>15</a:t>
            </a:fld>
            <a:endParaRPr lang="en-US" altLang="en-US">
              <a:latin typeface="Helvetica" panose="020B0604020202020204" pitchFamily="34" charset="0"/>
            </a:endParaRPr>
          </a:p>
        </p:txBody>
      </p:sp>
      <p:sp>
        <p:nvSpPr>
          <p:cNvPr id="80899" name="Rectangle 2">
            <a:extLst>
              <a:ext uri="{FF2B5EF4-FFF2-40B4-BE49-F238E27FC236}">
                <a16:creationId xmlns:a16="http://schemas.microsoft.com/office/drawing/2014/main" id="{14A40313-58A0-42FC-AA3D-425318110877}"/>
              </a:ext>
            </a:extLst>
          </p:cNvPr>
          <p:cNvSpPr>
            <a:spLocks noGrp="1" noRot="1" noChangeAspect="1" noChangeArrowheads="1" noTextEdit="1"/>
          </p:cNvSpPr>
          <p:nvPr>
            <p:ph type="sldImg"/>
          </p:nvPr>
        </p:nvSpPr>
        <p:spPr>
          <a:ln/>
        </p:spPr>
      </p:sp>
      <p:sp>
        <p:nvSpPr>
          <p:cNvPr id="80900" name="Rectangle 3">
            <a:extLst>
              <a:ext uri="{FF2B5EF4-FFF2-40B4-BE49-F238E27FC236}">
                <a16:creationId xmlns:a16="http://schemas.microsoft.com/office/drawing/2014/main" id="{BA8BA248-769F-4CA6-AD44-A8BE8C9CDC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23FCA68B-76DE-4E19-AFEB-C704D673A8D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BAA47A3-9678-4904-932E-9EDB75B03B24}" type="slidenum">
              <a:rPr lang="en-US" altLang="en-US">
                <a:latin typeface="Helvetica" panose="020B0604020202020204" pitchFamily="34" charset="0"/>
              </a:rPr>
              <a:pPr/>
              <a:t>16</a:t>
            </a:fld>
            <a:endParaRPr lang="en-US" altLang="en-US">
              <a:latin typeface="Helvetica" panose="020B0604020202020204" pitchFamily="34" charset="0"/>
            </a:endParaRPr>
          </a:p>
        </p:txBody>
      </p:sp>
      <p:sp>
        <p:nvSpPr>
          <p:cNvPr id="88067" name="Rectangle 2">
            <a:extLst>
              <a:ext uri="{FF2B5EF4-FFF2-40B4-BE49-F238E27FC236}">
                <a16:creationId xmlns:a16="http://schemas.microsoft.com/office/drawing/2014/main" id="{2DA20A22-D5AD-48A6-BFB6-E91F19D04240}"/>
              </a:ext>
            </a:extLst>
          </p:cNvPr>
          <p:cNvSpPr>
            <a:spLocks noGrp="1" noRot="1" noChangeAspect="1" noChangeArrowheads="1" noTextEdit="1"/>
          </p:cNvSpPr>
          <p:nvPr>
            <p:ph type="sldImg"/>
          </p:nvPr>
        </p:nvSpPr>
        <p:spPr>
          <a:ln/>
        </p:spPr>
      </p:sp>
      <p:sp>
        <p:nvSpPr>
          <p:cNvPr id="88068" name="Rectangle 3">
            <a:extLst>
              <a:ext uri="{FF2B5EF4-FFF2-40B4-BE49-F238E27FC236}">
                <a16:creationId xmlns:a16="http://schemas.microsoft.com/office/drawing/2014/main" id="{3B366905-0837-46D1-8A35-E7D3946BBF0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1B43D4C6-B078-49B2-94A6-F75E8608119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EA43B7E-7F16-4CAA-8D0B-87BEF463E3F2}" type="slidenum">
              <a:rPr lang="en-US" altLang="en-US">
                <a:latin typeface="Helvetica" panose="020B0604020202020204" pitchFamily="34" charset="0"/>
              </a:rPr>
              <a:pPr/>
              <a:t>17</a:t>
            </a:fld>
            <a:endParaRPr lang="en-US" altLang="en-US">
              <a:latin typeface="Helvetica" panose="020B0604020202020204" pitchFamily="34" charset="0"/>
            </a:endParaRPr>
          </a:p>
        </p:txBody>
      </p:sp>
      <p:sp>
        <p:nvSpPr>
          <p:cNvPr id="83971" name="Rectangle 2">
            <a:extLst>
              <a:ext uri="{FF2B5EF4-FFF2-40B4-BE49-F238E27FC236}">
                <a16:creationId xmlns:a16="http://schemas.microsoft.com/office/drawing/2014/main" id="{E292BC99-152D-4943-9445-C6754FFD279D}"/>
              </a:ext>
            </a:extLst>
          </p:cNvPr>
          <p:cNvSpPr>
            <a:spLocks noGrp="1" noRot="1" noChangeAspect="1" noChangeArrowheads="1" noTextEdit="1"/>
          </p:cNvSpPr>
          <p:nvPr>
            <p:ph type="sldImg"/>
          </p:nvPr>
        </p:nvSpPr>
        <p:spPr>
          <a:ln/>
        </p:spPr>
      </p:sp>
      <p:sp>
        <p:nvSpPr>
          <p:cNvPr id="83972" name="Rectangle 3">
            <a:extLst>
              <a:ext uri="{FF2B5EF4-FFF2-40B4-BE49-F238E27FC236}">
                <a16:creationId xmlns:a16="http://schemas.microsoft.com/office/drawing/2014/main" id="{9E8606BA-AF5C-481E-B48E-40B54C2A2B9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E0F1B8-00CC-40C5-B1C6-0861B2CC8CD5}" type="slidenum">
              <a:rPr lang="en-US" smtClean="0"/>
              <a:t>27</a:t>
            </a:fld>
            <a:endParaRPr lang="en-US"/>
          </a:p>
        </p:txBody>
      </p:sp>
    </p:spTree>
    <p:extLst>
      <p:ext uri="{BB962C8B-B14F-4D97-AF65-F5344CB8AC3E}">
        <p14:creationId xmlns:p14="http://schemas.microsoft.com/office/powerpoint/2010/main" val="34461741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F05D90-6594-4135-A5CF-7C507109441C}" type="slidenum">
              <a:rPr lang="en-US" smtClean="0"/>
              <a:t>30</a:t>
            </a:fld>
            <a:endParaRPr lang="en-US"/>
          </a:p>
        </p:txBody>
      </p:sp>
    </p:spTree>
    <p:extLst>
      <p:ext uri="{BB962C8B-B14F-4D97-AF65-F5344CB8AC3E}">
        <p14:creationId xmlns:p14="http://schemas.microsoft.com/office/powerpoint/2010/main" val="15609239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4E9FB-A585-2DCD-DA16-F600135C329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4CB7EFF-760A-0890-42FC-D24F32F1365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F93700E-E37C-6212-443B-F9E3BCA52D5C}"/>
              </a:ext>
            </a:extLst>
          </p:cNvPr>
          <p:cNvSpPr>
            <a:spLocks noGrp="1"/>
          </p:cNvSpPr>
          <p:nvPr>
            <p:ph type="dt" sz="half" idx="10"/>
          </p:nvPr>
        </p:nvSpPr>
        <p:spPr/>
        <p:txBody>
          <a:bodyPr/>
          <a:lstStyle/>
          <a:p>
            <a:fld id="{43EFAE44-B22D-4764-AF50-4FBE18C1B166}" type="datetimeFigureOut">
              <a:rPr lang="en-US" smtClean="0"/>
              <a:t>11/19/2025</a:t>
            </a:fld>
            <a:endParaRPr lang="en-US"/>
          </a:p>
        </p:txBody>
      </p:sp>
      <p:sp>
        <p:nvSpPr>
          <p:cNvPr id="5" name="Footer Placeholder 4">
            <a:extLst>
              <a:ext uri="{FF2B5EF4-FFF2-40B4-BE49-F238E27FC236}">
                <a16:creationId xmlns:a16="http://schemas.microsoft.com/office/drawing/2014/main" id="{6E0E6B75-73C5-E946-686C-163C7A6696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A53E40-6A6C-58AC-53C1-3A6390276FDF}"/>
              </a:ext>
            </a:extLst>
          </p:cNvPr>
          <p:cNvSpPr>
            <a:spLocks noGrp="1"/>
          </p:cNvSpPr>
          <p:nvPr>
            <p:ph type="sldNum" sz="quarter" idx="12"/>
          </p:nvPr>
        </p:nvSpPr>
        <p:spPr/>
        <p:txBody>
          <a:bodyPr/>
          <a:lstStyle/>
          <a:p>
            <a:fld id="{FCB66A60-0091-4522-A6AF-80CBF2A65961}" type="slidenum">
              <a:rPr lang="en-US" smtClean="0"/>
              <a:t>‹#›</a:t>
            </a:fld>
            <a:endParaRPr lang="en-US"/>
          </a:p>
        </p:txBody>
      </p:sp>
    </p:spTree>
    <p:extLst>
      <p:ext uri="{BB962C8B-B14F-4D97-AF65-F5344CB8AC3E}">
        <p14:creationId xmlns:p14="http://schemas.microsoft.com/office/powerpoint/2010/main" val="3734816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BE82D-4E66-AC83-1534-57BD5E92E30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A8B8BC9-9BDA-1AB3-A7C7-0DC8777EF7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FCC17E-C3C1-3F46-E7E5-7A4247EA2048}"/>
              </a:ext>
            </a:extLst>
          </p:cNvPr>
          <p:cNvSpPr>
            <a:spLocks noGrp="1"/>
          </p:cNvSpPr>
          <p:nvPr>
            <p:ph type="dt" sz="half" idx="10"/>
          </p:nvPr>
        </p:nvSpPr>
        <p:spPr/>
        <p:txBody>
          <a:bodyPr/>
          <a:lstStyle/>
          <a:p>
            <a:fld id="{43EFAE44-B22D-4764-AF50-4FBE18C1B166}" type="datetimeFigureOut">
              <a:rPr lang="en-US" smtClean="0"/>
              <a:t>11/19/2025</a:t>
            </a:fld>
            <a:endParaRPr lang="en-US"/>
          </a:p>
        </p:txBody>
      </p:sp>
      <p:sp>
        <p:nvSpPr>
          <p:cNvPr id="5" name="Footer Placeholder 4">
            <a:extLst>
              <a:ext uri="{FF2B5EF4-FFF2-40B4-BE49-F238E27FC236}">
                <a16:creationId xmlns:a16="http://schemas.microsoft.com/office/drawing/2014/main" id="{8286A44B-A284-F92B-B64D-2CE92526FE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F0F616-A5FC-0861-0BEF-4985B85E937E}"/>
              </a:ext>
            </a:extLst>
          </p:cNvPr>
          <p:cNvSpPr>
            <a:spLocks noGrp="1"/>
          </p:cNvSpPr>
          <p:nvPr>
            <p:ph type="sldNum" sz="quarter" idx="12"/>
          </p:nvPr>
        </p:nvSpPr>
        <p:spPr/>
        <p:txBody>
          <a:bodyPr/>
          <a:lstStyle/>
          <a:p>
            <a:fld id="{FCB66A60-0091-4522-A6AF-80CBF2A65961}" type="slidenum">
              <a:rPr lang="en-US" smtClean="0"/>
              <a:t>‹#›</a:t>
            </a:fld>
            <a:endParaRPr lang="en-US"/>
          </a:p>
        </p:txBody>
      </p:sp>
    </p:spTree>
    <p:extLst>
      <p:ext uri="{BB962C8B-B14F-4D97-AF65-F5344CB8AC3E}">
        <p14:creationId xmlns:p14="http://schemas.microsoft.com/office/powerpoint/2010/main" val="18052752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57781-52A1-F714-6B15-CE4D39B1A8A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61BC386-468E-4377-52CC-FA991F38FA1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8AD88CB-526E-7FA7-5F05-F0AC915FAEA4}"/>
              </a:ext>
            </a:extLst>
          </p:cNvPr>
          <p:cNvSpPr>
            <a:spLocks noGrp="1"/>
          </p:cNvSpPr>
          <p:nvPr>
            <p:ph type="dt" sz="half" idx="10"/>
          </p:nvPr>
        </p:nvSpPr>
        <p:spPr/>
        <p:txBody>
          <a:bodyPr/>
          <a:lstStyle/>
          <a:p>
            <a:fld id="{43EFAE44-B22D-4764-AF50-4FBE18C1B166}" type="datetimeFigureOut">
              <a:rPr lang="en-US" smtClean="0"/>
              <a:t>11/19/2025</a:t>
            </a:fld>
            <a:endParaRPr lang="en-US"/>
          </a:p>
        </p:txBody>
      </p:sp>
      <p:sp>
        <p:nvSpPr>
          <p:cNvPr id="5" name="Footer Placeholder 4">
            <a:extLst>
              <a:ext uri="{FF2B5EF4-FFF2-40B4-BE49-F238E27FC236}">
                <a16:creationId xmlns:a16="http://schemas.microsoft.com/office/drawing/2014/main" id="{0D7FAA75-D798-2795-7CD1-0E67E3A3C8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31ECEA-9CC1-ED8C-4DF8-6B66FCA177E9}"/>
              </a:ext>
            </a:extLst>
          </p:cNvPr>
          <p:cNvSpPr>
            <a:spLocks noGrp="1"/>
          </p:cNvSpPr>
          <p:nvPr>
            <p:ph type="sldNum" sz="quarter" idx="12"/>
          </p:nvPr>
        </p:nvSpPr>
        <p:spPr/>
        <p:txBody>
          <a:bodyPr/>
          <a:lstStyle/>
          <a:p>
            <a:fld id="{FCB66A60-0091-4522-A6AF-80CBF2A65961}" type="slidenum">
              <a:rPr lang="en-US" smtClean="0"/>
              <a:t>‹#›</a:t>
            </a:fld>
            <a:endParaRPr lang="en-US"/>
          </a:p>
        </p:txBody>
      </p:sp>
    </p:spTree>
    <p:extLst>
      <p:ext uri="{BB962C8B-B14F-4D97-AF65-F5344CB8AC3E}">
        <p14:creationId xmlns:p14="http://schemas.microsoft.com/office/powerpoint/2010/main" val="31757405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632C6-DFE3-E3BF-2E7F-B4E04A50E9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4472A8-B403-1EB0-4E7E-08E1F9D70A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C1701E3-53F3-F2A7-8012-D85096F38D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33D125C-842A-9E67-77DF-E66AB2465C0B}"/>
              </a:ext>
            </a:extLst>
          </p:cNvPr>
          <p:cNvSpPr>
            <a:spLocks noGrp="1"/>
          </p:cNvSpPr>
          <p:nvPr>
            <p:ph type="dt" sz="half" idx="10"/>
          </p:nvPr>
        </p:nvSpPr>
        <p:spPr/>
        <p:txBody>
          <a:bodyPr/>
          <a:lstStyle/>
          <a:p>
            <a:fld id="{43EFAE44-B22D-4764-AF50-4FBE18C1B166}" type="datetimeFigureOut">
              <a:rPr lang="en-US" smtClean="0"/>
              <a:t>11/19/2025</a:t>
            </a:fld>
            <a:endParaRPr lang="en-US"/>
          </a:p>
        </p:txBody>
      </p:sp>
      <p:sp>
        <p:nvSpPr>
          <p:cNvPr id="6" name="Footer Placeholder 5">
            <a:extLst>
              <a:ext uri="{FF2B5EF4-FFF2-40B4-BE49-F238E27FC236}">
                <a16:creationId xmlns:a16="http://schemas.microsoft.com/office/drawing/2014/main" id="{3CC0CA49-3896-A622-74FC-3D1ED2F1DD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52A781-5539-262B-FD7D-D0BAF5076C79}"/>
              </a:ext>
            </a:extLst>
          </p:cNvPr>
          <p:cNvSpPr>
            <a:spLocks noGrp="1"/>
          </p:cNvSpPr>
          <p:nvPr>
            <p:ph type="sldNum" sz="quarter" idx="12"/>
          </p:nvPr>
        </p:nvSpPr>
        <p:spPr/>
        <p:txBody>
          <a:bodyPr/>
          <a:lstStyle/>
          <a:p>
            <a:fld id="{FCB66A60-0091-4522-A6AF-80CBF2A65961}" type="slidenum">
              <a:rPr lang="en-US" smtClean="0"/>
              <a:t>‹#›</a:t>
            </a:fld>
            <a:endParaRPr lang="en-US"/>
          </a:p>
        </p:txBody>
      </p:sp>
    </p:spTree>
    <p:extLst>
      <p:ext uri="{BB962C8B-B14F-4D97-AF65-F5344CB8AC3E}">
        <p14:creationId xmlns:p14="http://schemas.microsoft.com/office/powerpoint/2010/main" val="21525102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E09D2-FD1D-ED7D-A5D5-E8BFE971924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B0F71D8-CEA4-7345-6621-DDEF925EC34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4AFB44F-3E4A-38C2-B41B-173789914DB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DA52AB2-B2A3-170D-949D-6E93E360DA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CC4C15B-BF84-755B-2060-DC9F4F5910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7539BA-E682-916D-84AF-3A9CB71CF104}"/>
              </a:ext>
            </a:extLst>
          </p:cNvPr>
          <p:cNvSpPr>
            <a:spLocks noGrp="1"/>
          </p:cNvSpPr>
          <p:nvPr>
            <p:ph type="dt" sz="half" idx="10"/>
          </p:nvPr>
        </p:nvSpPr>
        <p:spPr/>
        <p:txBody>
          <a:bodyPr/>
          <a:lstStyle/>
          <a:p>
            <a:fld id="{43EFAE44-B22D-4764-AF50-4FBE18C1B166}" type="datetimeFigureOut">
              <a:rPr lang="en-US" smtClean="0"/>
              <a:t>11/19/2025</a:t>
            </a:fld>
            <a:endParaRPr lang="en-US"/>
          </a:p>
        </p:txBody>
      </p:sp>
      <p:sp>
        <p:nvSpPr>
          <p:cNvPr id="8" name="Footer Placeholder 7">
            <a:extLst>
              <a:ext uri="{FF2B5EF4-FFF2-40B4-BE49-F238E27FC236}">
                <a16:creationId xmlns:a16="http://schemas.microsoft.com/office/drawing/2014/main" id="{94F74A08-AEA7-D395-2E53-CA4DF0E37E6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BBC9A40-926D-6CF3-FD25-F0E87A142789}"/>
              </a:ext>
            </a:extLst>
          </p:cNvPr>
          <p:cNvSpPr>
            <a:spLocks noGrp="1"/>
          </p:cNvSpPr>
          <p:nvPr>
            <p:ph type="sldNum" sz="quarter" idx="12"/>
          </p:nvPr>
        </p:nvSpPr>
        <p:spPr/>
        <p:txBody>
          <a:bodyPr/>
          <a:lstStyle/>
          <a:p>
            <a:fld id="{FCB66A60-0091-4522-A6AF-80CBF2A65961}" type="slidenum">
              <a:rPr lang="en-US" smtClean="0"/>
              <a:t>‹#›</a:t>
            </a:fld>
            <a:endParaRPr lang="en-US"/>
          </a:p>
        </p:txBody>
      </p:sp>
    </p:spTree>
    <p:extLst>
      <p:ext uri="{BB962C8B-B14F-4D97-AF65-F5344CB8AC3E}">
        <p14:creationId xmlns:p14="http://schemas.microsoft.com/office/powerpoint/2010/main" val="28404488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29BB4-3156-EA49-A694-2081C2853E8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A60BC5F-E5E8-E457-6B4C-12D338458E7E}"/>
              </a:ext>
            </a:extLst>
          </p:cNvPr>
          <p:cNvSpPr>
            <a:spLocks noGrp="1"/>
          </p:cNvSpPr>
          <p:nvPr>
            <p:ph type="dt" sz="half" idx="10"/>
          </p:nvPr>
        </p:nvSpPr>
        <p:spPr/>
        <p:txBody>
          <a:bodyPr/>
          <a:lstStyle/>
          <a:p>
            <a:fld id="{43EFAE44-B22D-4764-AF50-4FBE18C1B166}" type="datetimeFigureOut">
              <a:rPr lang="en-US" smtClean="0"/>
              <a:t>11/19/2025</a:t>
            </a:fld>
            <a:endParaRPr lang="en-US"/>
          </a:p>
        </p:txBody>
      </p:sp>
      <p:sp>
        <p:nvSpPr>
          <p:cNvPr id="4" name="Footer Placeholder 3">
            <a:extLst>
              <a:ext uri="{FF2B5EF4-FFF2-40B4-BE49-F238E27FC236}">
                <a16:creationId xmlns:a16="http://schemas.microsoft.com/office/drawing/2014/main" id="{3FA4AB41-A500-A204-2DD7-B5B370F1662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A31B7C5-1176-8307-9D7A-4FCA52C2F2AB}"/>
              </a:ext>
            </a:extLst>
          </p:cNvPr>
          <p:cNvSpPr>
            <a:spLocks noGrp="1"/>
          </p:cNvSpPr>
          <p:nvPr>
            <p:ph type="sldNum" sz="quarter" idx="12"/>
          </p:nvPr>
        </p:nvSpPr>
        <p:spPr/>
        <p:txBody>
          <a:bodyPr/>
          <a:lstStyle/>
          <a:p>
            <a:fld id="{FCB66A60-0091-4522-A6AF-80CBF2A65961}" type="slidenum">
              <a:rPr lang="en-US" smtClean="0"/>
              <a:t>‹#›</a:t>
            </a:fld>
            <a:endParaRPr lang="en-US"/>
          </a:p>
        </p:txBody>
      </p:sp>
    </p:spTree>
    <p:extLst>
      <p:ext uri="{BB962C8B-B14F-4D97-AF65-F5344CB8AC3E}">
        <p14:creationId xmlns:p14="http://schemas.microsoft.com/office/powerpoint/2010/main" val="2804793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3303CB-A461-F1CF-97C1-A3EC919771C1}"/>
              </a:ext>
            </a:extLst>
          </p:cNvPr>
          <p:cNvSpPr>
            <a:spLocks noGrp="1"/>
          </p:cNvSpPr>
          <p:nvPr>
            <p:ph type="dt" sz="half" idx="10"/>
          </p:nvPr>
        </p:nvSpPr>
        <p:spPr/>
        <p:txBody>
          <a:bodyPr/>
          <a:lstStyle/>
          <a:p>
            <a:fld id="{43EFAE44-B22D-4764-AF50-4FBE18C1B166}" type="datetimeFigureOut">
              <a:rPr lang="en-US" smtClean="0"/>
              <a:t>11/19/2025</a:t>
            </a:fld>
            <a:endParaRPr lang="en-US"/>
          </a:p>
        </p:txBody>
      </p:sp>
      <p:sp>
        <p:nvSpPr>
          <p:cNvPr id="3" name="Footer Placeholder 2">
            <a:extLst>
              <a:ext uri="{FF2B5EF4-FFF2-40B4-BE49-F238E27FC236}">
                <a16:creationId xmlns:a16="http://schemas.microsoft.com/office/drawing/2014/main" id="{171D6821-5258-42AB-6DCC-E5D993C9E40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20DC2F8-20E3-C250-9B58-5E396AEE1929}"/>
              </a:ext>
            </a:extLst>
          </p:cNvPr>
          <p:cNvSpPr>
            <a:spLocks noGrp="1"/>
          </p:cNvSpPr>
          <p:nvPr>
            <p:ph type="sldNum" sz="quarter" idx="12"/>
          </p:nvPr>
        </p:nvSpPr>
        <p:spPr/>
        <p:txBody>
          <a:bodyPr/>
          <a:lstStyle/>
          <a:p>
            <a:fld id="{FCB66A60-0091-4522-A6AF-80CBF2A65961}" type="slidenum">
              <a:rPr lang="en-US" smtClean="0"/>
              <a:t>‹#›</a:t>
            </a:fld>
            <a:endParaRPr lang="en-US"/>
          </a:p>
        </p:txBody>
      </p:sp>
    </p:spTree>
    <p:extLst>
      <p:ext uri="{BB962C8B-B14F-4D97-AF65-F5344CB8AC3E}">
        <p14:creationId xmlns:p14="http://schemas.microsoft.com/office/powerpoint/2010/main" val="1984367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525C0-208D-DDFC-1571-55B7D8A9D7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5E15C54-78CE-175F-DD54-71C4F31DA3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F402464-E41A-4BFA-8A7F-F13C67D2F4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F71B1D-8B71-FA2C-89FE-6BB110E6B71B}"/>
              </a:ext>
            </a:extLst>
          </p:cNvPr>
          <p:cNvSpPr>
            <a:spLocks noGrp="1"/>
          </p:cNvSpPr>
          <p:nvPr>
            <p:ph type="dt" sz="half" idx="10"/>
          </p:nvPr>
        </p:nvSpPr>
        <p:spPr/>
        <p:txBody>
          <a:bodyPr/>
          <a:lstStyle/>
          <a:p>
            <a:fld id="{43EFAE44-B22D-4764-AF50-4FBE18C1B166}" type="datetimeFigureOut">
              <a:rPr lang="en-US" smtClean="0"/>
              <a:t>11/19/2025</a:t>
            </a:fld>
            <a:endParaRPr lang="en-US"/>
          </a:p>
        </p:txBody>
      </p:sp>
      <p:sp>
        <p:nvSpPr>
          <p:cNvPr id="6" name="Footer Placeholder 5">
            <a:extLst>
              <a:ext uri="{FF2B5EF4-FFF2-40B4-BE49-F238E27FC236}">
                <a16:creationId xmlns:a16="http://schemas.microsoft.com/office/drawing/2014/main" id="{7A1B9FEA-DA76-4CF2-4C7D-A0DE7B5A6D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423C69-4CCA-3D0A-DC4F-6942BF846DEE}"/>
              </a:ext>
            </a:extLst>
          </p:cNvPr>
          <p:cNvSpPr>
            <a:spLocks noGrp="1"/>
          </p:cNvSpPr>
          <p:nvPr>
            <p:ph type="sldNum" sz="quarter" idx="12"/>
          </p:nvPr>
        </p:nvSpPr>
        <p:spPr/>
        <p:txBody>
          <a:bodyPr/>
          <a:lstStyle/>
          <a:p>
            <a:fld id="{FCB66A60-0091-4522-A6AF-80CBF2A65961}" type="slidenum">
              <a:rPr lang="en-US" smtClean="0"/>
              <a:t>‹#›</a:t>
            </a:fld>
            <a:endParaRPr lang="en-US"/>
          </a:p>
        </p:txBody>
      </p:sp>
    </p:spTree>
    <p:extLst>
      <p:ext uri="{BB962C8B-B14F-4D97-AF65-F5344CB8AC3E}">
        <p14:creationId xmlns:p14="http://schemas.microsoft.com/office/powerpoint/2010/main" val="26630801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DD766-5531-825D-0491-1174F1F8FB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0ED0C00-73F4-D591-F509-E8F6E621A5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EB9D0D-4D6E-2C06-8555-B3511C0099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2AB926-D572-CF30-69CD-2464674AE9AF}"/>
              </a:ext>
            </a:extLst>
          </p:cNvPr>
          <p:cNvSpPr>
            <a:spLocks noGrp="1"/>
          </p:cNvSpPr>
          <p:nvPr>
            <p:ph type="dt" sz="half" idx="10"/>
          </p:nvPr>
        </p:nvSpPr>
        <p:spPr/>
        <p:txBody>
          <a:bodyPr/>
          <a:lstStyle/>
          <a:p>
            <a:fld id="{43EFAE44-B22D-4764-AF50-4FBE18C1B166}" type="datetimeFigureOut">
              <a:rPr lang="en-US" smtClean="0"/>
              <a:t>11/19/2025</a:t>
            </a:fld>
            <a:endParaRPr lang="en-US"/>
          </a:p>
        </p:txBody>
      </p:sp>
      <p:sp>
        <p:nvSpPr>
          <p:cNvPr id="6" name="Footer Placeholder 5">
            <a:extLst>
              <a:ext uri="{FF2B5EF4-FFF2-40B4-BE49-F238E27FC236}">
                <a16:creationId xmlns:a16="http://schemas.microsoft.com/office/drawing/2014/main" id="{7D51C9F1-B436-9C5E-85E9-59E5B9AE3E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A55686-B2D4-E39A-C19C-45E5858827A7}"/>
              </a:ext>
            </a:extLst>
          </p:cNvPr>
          <p:cNvSpPr>
            <a:spLocks noGrp="1"/>
          </p:cNvSpPr>
          <p:nvPr>
            <p:ph type="sldNum" sz="quarter" idx="12"/>
          </p:nvPr>
        </p:nvSpPr>
        <p:spPr/>
        <p:txBody>
          <a:bodyPr/>
          <a:lstStyle/>
          <a:p>
            <a:fld id="{FCB66A60-0091-4522-A6AF-80CBF2A65961}" type="slidenum">
              <a:rPr lang="en-US" smtClean="0"/>
              <a:t>‹#›</a:t>
            </a:fld>
            <a:endParaRPr lang="en-US"/>
          </a:p>
        </p:txBody>
      </p:sp>
    </p:spTree>
    <p:extLst>
      <p:ext uri="{BB962C8B-B14F-4D97-AF65-F5344CB8AC3E}">
        <p14:creationId xmlns:p14="http://schemas.microsoft.com/office/powerpoint/2010/main" val="28316533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9836A-5A7A-31C5-1561-7A8C29045F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40322F5-4E38-4331-BB42-97EF9F21A4B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2C21B6-333A-4507-BF9B-DB4B29003216}"/>
              </a:ext>
            </a:extLst>
          </p:cNvPr>
          <p:cNvSpPr>
            <a:spLocks noGrp="1"/>
          </p:cNvSpPr>
          <p:nvPr>
            <p:ph type="dt" sz="half" idx="10"/>
          </p:nvPr>
        </p:nvSpPr>
        <p:spPr/>
        <p:txBody>
          <a:bodyPr/>
          <a:lstStyle/>
          <a:p>
            <a:fld id="{43EFAE44-B22D-4764-AF50-4FBE18C1B166}" type="datetimeFigureOut">
              <a:rPr lang="en-US" smtClean="0"/>
              <a:t>11/19/2025</a:t>
            </a:fld>
            <a:endParaRPr lang="en-US"/>
          </a:p>
        </p:txBody>
      </p:sp>
      <p:sp>
        <p:nvSpPr>
          <p:cNvPr id="5" name="Footer Placeholder 4">
            <a:extLst>
              <a:ext uri="{FF2B5EF4-FFF2-40B4-BE49-F238E27FC236}">
                <a16:creationId xmlns:a16="http://schemas.microsoft.com/office/drawing/2014/main" id="{B54900CE-42B5-EBCC-FB2C-81DEA5B28E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23994E-B449-2FD9-05A3-5BBC5EFADD0A}"/>
              </a:ext>
            </a:extLst>
          </p:cNvPr>
          <p:cNvSpPr>
            <a:spLocks noGrp="1"/>
          </p:cNvSpPr>
          <p:nvPr>
            <p:ph type="sldNum" sz="quarter" idx="12"/>
          </p:nvPr>
        </p:nvSpPr>
        <p:spPr/>
        <p:txBody>
          <a:bodyPr/>
          <a:lstStyle/>
          <a:p>
            <a:fld id="{FCB66A60-0091-4522-A6AF-80CBF2A65961}" type="slidenum">
              <a:rPr lang="en-US" smtClean="0"/>
              <a:t>‹#›</a:t>
            </a:fld>
            <a:endParaRPr lang="en-US"/>
          </a:p>
        </p:txBody>
      </p:sp>
    </p:spTree>
    <p:extLst>
      <p:ext uri="{BB962C8B-B14F-4D97-AF65-F5344CB8AC3E}">
        <p14:creationId xmlns:p14="http://schemas.microsoft.com/office/powerpoint/2010/main" val="20076592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691C96F-91F0-D729-2B4D-2EC4E72126C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D41F037-D317-9943-93AB-9A5FFFD79AB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0F0B94-1094-95AB-B38C-91ECCEC381C2}"/>
              </a:ext>
            </a:extLst>
          </p:cNvPr>
          <p:cNvSpPr>
            <a:spLocks noGrp="1"/>
          </p:cNvSpPr>
          <p:nvPr>
            <p:ph type="dt" sz="half" idx="10"/>
          </p:nvPr>
        </p:nvSpPr>
        <p:spPr/>
        <p:txBody>
          <a:bodyPr/>
          <a:lstStyle/>
          <a:p>
            <a:fld id="{43EFAE44-B22D-4764-AF50-4FBE18C1B166}" type="datetimeFigureOut">
              <a:rPr lang="en-US" smtClean="0"/>
              <a:t>11/19/2025</a:t>
            </a:fld>
            <a:endParaRPr lang="en-US"/>
          </a:p>
        </p:txBody>
      </p:sp>
      <p:sp>
        <p:nvSpPr>
          <p:cNvPr id="5" name="Footer Placeholder 4">
            <a:extLst>
              <a:ext uri="{FF2B5EF4-FFF2-40B4-BE49-F238E27FC236}">
                <a16:creationId xmlns:a16="http://schemas.microsoft.com/office/drawing/2014/main" id="{6DEEACD0-5AB9-DCA6-DED7-5EA2457964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82B0B7-47F1-74CF-BEF1-E02FD17AB670}"/>
              </a:ext>
            </a:extLst>
          </p:cNvPr>
          <p:cNvSpPr>
            <a:spLocks noGrp="1"/>
          </p:cNvSpPr>
          <p:nvPr>
            <p:ph type="sldNum" sz="quarter" idx="12"/>
          </p:nvPr>
        </p:nvSpPr>
        <p:spPr/>
        <p:txBody>
          <a:bodyPr/>
          <a:lstStyle/>
          <a:p>
            <a:fld id="{FCB66A60-0091-4522-A6AF-80CBF2A65961}" type="slidenum">
              <a:rPr lang="en-US" smtClean="0"/>
              <a:t>‹#›</a:t>
            </a:fld>
            <a:endParaRPr lang="en-US"/>
          </a:p>
        </p:txBody>
      </p:sp>
    </p:spTree>
    <p:extLst>
      <p:ext uri="{BB962C8B-B14F-4D97-AF65-F5344CB8AC3E}">
        <p14:creationId xmlns:p14="http://schemas.microsoft.com/office/powerpoint/2010/main" val="6594996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9BC6B47-F4CA-49A4-61FB-873B261173C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BE4ABFB-9D36-D374-A67F-68E830EE1C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D64B3B-677D-2553-1F9E-819F0BC3839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3EFAE44-B22D-4764-AF50-4FBE18C1B166}" type="datetimeFigureOut">
              <a:rPr lang="en-US" smtClean="0"/>
              <a:t>11/19/2025</a:t>
            </a:fld>
            <a:endParaRPr lang="en-US"/>
          </a:p>
        </p:txBody>
      </p:sp>
      <p:sp>
        <p:nvSpPr>
          <p:cNvPr id="5" name="Footer Placeholder 4">
            <a:extLst>
              <a:ext uri="{FF2B5EF4-FFF2-40B4-BE49-F238E27FC236}">
                <a16:creationId xmlns:a16="http://schemas.microsoft.com/office/drawing/2014/main" id="{717ACB86-4EC5-3A8F-64B9-FAE6ABEEA8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79D75BF-A447-B404-B585-777072BD08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CB66A60-0091-4522-A6AF-80CBF2A65961}" type="slidenum">
              <a:rPr lang="en-US" smtClean="0"/>
              <a:t>‹#›</a:t>
            </a:fld>
            <a:endParaRPr lang="en-US"/>
          </a:p>
        </p:txBody>
      </p:sp>
    </p:spTree>
    <p:extLst>
      <p:ext uri="{BB962C8B-B14F-4D97-AF65-F5344CB8AC3E}">
        <p14:creationId xmlns:p14="http://schemas.microsoft.com/office/powerpoint/2010/main" val="2688426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8.jpeg"/></Relationships>
</file>

<file path=ppt/slides/_rels/slide1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 Id="rId4" Type="http://schemas.openxmlformats.org/officeDocument/2006/relationships/hyperlink" Target="https://www.gatevidyalay.com/page-table-paging-in-operating-system/" TargetMode="Externa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98847-9657-3BA9-CEAD-C68F725BC768}"/>
              </a:ext>
            </a:extLst>
          </p:cNvPr>
          <p:cNvSpPr>
            <a:spLocks noGrp="1"/>
          </p:cNvSpPr>
          <p:nvPr>
            <p:ph type="title"/>
          </p:nvPr>
        </p:nvSpPr>
        <p:spPr>
          <a:xfrm>
            <a:off x="660400" y="1482725"/>
            <a:ext cx="10515600" cy="1946275"/>
          </a:xfrm>
        </p:spPr>
        <p:txBody>
          <a:bodyPr>
            <a:normAutofit/>
          </a:bodyPr>
          <a:lstStyle/>
          <a:p>
            <a:pPr algn="ctr"/>
            <a:r>
              <a:rPr lang="en-US" b="1" dirty="0"/>
              <a:t>Memory Management</a:t>
            </a:r>
            <a:br>
              <a:rPr lang="en-US" b="1" dirty="0"/>
            </a:br>
            <a:br>
              <a:rPr lang="en-US" b="1" dirty="0"/>
            </a:br>
            <a:r>
              <a:rPr lang="en-US" b="1" dirty="0"/>
              <a:t>Unit V</a:t>
            </a:r>
          </a:p>
        </p:txBody>
      </p:sp>
    </p:spTree>
    <p:extLst>
      <p:ext uri="{BB962C8B-B14F-4D97-AF65-F5344CB8AC3E}">
        <p14:creationId xmlns:p14="http://schemas.microsoft.com/office/powerpoint/2010/main" val="25695360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6DA1ADC-A72E-7F8A-4997-EDD75344805F}"/>
              </a:ext>
            </a:extLst>
          </p:cNvPr>
          <p:cNvSpPr>
            <a:spLocks noGrp="1"/>
          </p:cNvSpPr>
          <p:nvPr>
            <p:ph idx="1"/>
          </p:nvPr>
        </p:nvSpPr>
        <p:spPr>
          <a:xfrm>
            <a:off x="355600" y="863600"/>
            <a:ext cx="10515600" cy="4351338"/>
          </a:xfrm>
        </p:spPr>
        <p:txBody>
          <a:bodyPr/>
          <a:lstStyle/>
          <a:p>
            <a:r>
              <a:rPr lang="en-IN" dirty="0">
                <a:latin typeface="Times New Roman" panose="02020603050405020304" pitchFamily="18" charset="0"/>
                <a:cs typeface="Times New Roman" panose="02020603050405020304" pitchFamily="18" charset="0"/>
              </a:rPr>
              <a:t>CPU can directly access </a:t>
            </a:r>
            <a:r>
              <a:rPr lang="en-IN" dirty="0">
                <a:solidFill>
                  <a:srgbClr val="FF0000"/>
                </a:solidFill>
                <a:latin typeface="Times New Roman" panose="02020603050405020304" pitchFamily="18" charset="0"/>
                <a:cs typeface="Times New Roman" panose="02020603050405020304" pitchFamily="18" charset="0"/>
              </a:rPr>
              <a:t>Registers</a:t>
            </a:r>
            <a:r>
              <a:rPr lang="en-IN" dirty="0">
                <a:latin typeface="Times New Roman" panose="02020603050405020304" pitchFamily="18" charset="0"/>
                <a:cs typeface="Times New Roman" panose="02020603050405020304" pitchFamily="18" charset="0"/>
              </a:rPr>
              <a:t>, </a:t>
            </a:r>
            <a:r>
              <a:rPr lang="en-IN" dirty="0">
                <a:solidFill>
                  <a:srgbClr val="FF0000"/>
                </a:solidFill>
                <a:latin typeface="Times New Roman" panose="02020603050405020304" pitchFamily="18" charset="0"/>
                <a:cs typeface="Times New Roman" panose="02020603050405020304" pitchFamily="18" charset="0"/>
              </a:rPr>
              <a:t>Cache</a:t>
            </a:r>
            <a:r>
              <a:rPr lang="en-IN" dirty="0">
                <a:latin typeface="Times New Roman" panose="02020603050405020304" pitchFamily="18" charset="0"/>
                <a:cs typeface="Times New Roman" panose="02020603050405020304" pitchFamily="18" charset="0"/>
              </a:rPr>
              <a:t>, and </a:t>
            </a:r>
            <a:r>
              <a:rPr lang="en-IN" dirty="0">
                <a:solidFill>
                  <a:srgbClr val="FF0000"/>
                </a:solidFill>
                <a:latin typeface="Times New Roman" panose="02020603050405020304" pitchFamily="18" charset="0"/>
                <a:cs typeface="Times New Roman" panose="02020603050405020304" pitchFamily="18" charset="0"/>
              </a:rPr>
              <a:t>Main Memory</a:t>
            </a:r>
            <a:r>
              <a:rPr lang="en-IN" dirty="0">
                <a:latin typeface="Times New Roman" panose="02020603050405020304" pitchFamily="18" charset="0"/>
                <a:cs typeface="Times New Roman" panose="02020603050405020304" pitchFamily="18" charset="0"/>
              </a:rPr>
              <a:t>.</a:t>
            </a:r>
          </a:p>
          <a:p>
            <a:pPr marL="109728" indent="0">
              <a:buNone/>
            </a:pPr>
            <a:endParaRPr lang="en-IN" dirty="0">
              <a:latin typeface="Times New Roman" panose="02020603050405020304" pitchFamily="18" charset="0"/>
              <a:cs typeface="Times New Roman" panose="02020603050405020304" pitchFamily="18" charset="0"/>
            </a:endParaRPr>
          </a:p>
          <a:p>
            <a:r>
              <a:rPr lang="en-IN" dirty="0">
                <a:solidFill>
                  <a:srgbClr val="0070C0"/>
                </a:solidFill>
                <a:latin typeface="Times New Roman" panose="02020603050405020304" pitchFamily="18" charset="0"/>
                <a:cs typeface="Times New Roman" panose="02020603050405020304" pitchFamily="18" charset="0"/>
              </a:rPr>
              <a:t>Directly</a:t>
            </a:r>
            <a:r>
              <a:rPr lang="en-IN" dirty="0">
                <a:latin typeface="Times New Roman" panose="02020603050405020304" pitchFamily="18" charset="0"/>
                <a:cs typeface="Times New Roman" panose="02020603050405020304" pitchFamily="18" charset="0"/>
              </a:rPr>
              <a:t> </a:t>
            </a:r>
            <a:r>
              <a:rPr lang="en-IN" dirty="0">
                <a:solidFill>
                  <a:srgbClr val="FF0000"/>
                </a:solidFill>
                <a:latin typeface="Times New Roman" panose="02020603050405020304" pitchFamily="18" charset="0"/>
                <a:cs typeface="Times New Roman" panose="02020603050405020304" pitchFamily="18" charset="0"/>
              </a:rPr>
              <a:t>data</a:t>
            </a:r>
            <a:r>
              <a:rPr lang="en-IN" dirty="0">
                <a:latin typeface="Times New Roman" panose="02020603050405020304" pitchFamily="18" charset="0"/>
                <a:cs typeface="Times New Roman" panose="02020603050405020304" pitchFamily="18" charset="0"/>
              </a:rPr>
              <a:t> and </a:t>
            </a:r>
            <a:r>
              <a:rPr lang="en-IN" dirty="0">
                <a:solidFill>
                  <a:srgbClr val="FF0000"/>
                </a:solidFill>
                <a:latin typeface="Times New Roman" panose="02020603050405020304" pitchFamily="18" charset="0"/>
                <a:cs typeface="Times New Roman" panose="02020603050405020304" pitchFamily="18" charset="0"/>
              </a:rPr>
              <a:t>instructions</a:t>
            </a:r>
            <a:r>
              <a:rPr lang="en-IN" dirty="0">
                <a:latin typeface="Times New Roman" panose="02020603050405020304" pitchFamily="18" charset="0"/>
                <a:cs typeface="Times New Roman" panose="02020603050405020304" pitchFamily="18" charset="0"/>
              </a:rPr>
              <a:t> can be put in these elements.</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Problems are  </a:t>
            </a:r>
            <a:r>
              <a:rPr lang="en-IN" dirty="0">
                <a:solidFill>
                  <a:srgbClr val="FF0000"/>
                </a:solidFill>
                <a:latin typeface="Times New Roman" panose="02020603050405020304" pitchFamily="18" charset="0"/>
                <a:cs typeface="Times New Roman" panose="02020603050405020304" pitchFamily="18" charset="0"/>
              </a:rPr>
              <a:t>Size and Cost Constraints</a:t>
            </a:r>
            <a:r>
              <a:rPr lang="en-IN" dirty="0">
                <a:latin typeface="Times New Roman" panose="02020603050405020304" pitchFamily="18" charset="0"/>
                <a:cs typeface="Times New Roman" panose="02020603050405020304" pitchFamily="18" charset="0"/>
              </a:rPr>
              <a:t>.</a:t>
            </a:r>
          </a:p>
        </p:txBody>
      </p:sp>
      <p:sp>
        <p:nvSpPr>
          <p:cNvPr id="3" name="Title 2">
            <a:extLst>
              <a:ext uri="{FF2B5EF4-FFF2-40B4-BE49-F238E27FC236}">
                <a16:creationId xmlns:a16="http://schemas.microsoft.com/office/drawing/2014/main" id="{C53C4B5A-0BBA-259C-AED4-569874C8C5AE}"/>
              </a:ext>
            </a:extLst>
          </p:cNvPr>
          <p:cNvSpPr>
            <a:spLocks noGrp="1"/>
          </p:cNvSpPr>
          <p:nvPr>
            <p:ph type="title"/>
          </p:nvPr>
        </p:nvSpPr>
        <p:spPr>
          <a:xfrm>
            <a:off x="355600" y="149225"/>
            <a:ext cx="10515600" cy="714375"/>
          </a:xfrm>
        </p:spPr>
        <p:txBody>
          <a:bodyPr>
            <a:normAutofit/>
          </a:bodyPr>
          <a:lstStyle/>
          <a:p>
            <a:r>
              <a:rPr lang="en-IN" sz="4000" dirty="0"/>
              <a:t>Need for Multiprogramming &amp; Main Memory (MM)</a:t>
            </a:r>
          </a:p>
        </p:txBody>
      </p:sp>
    </p:spTree>
    <p:extLst>
      <p:ext uri="{BB962C8B-B14F-4D97-AF65-F5344CB8AC3E}">
        <p14:creationId xmlns:p14="http://schemas.microsoft.com/office/powerpoint/2010/main" val="27741509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6DA1ADC-A72E-7F8A-4997-EDD75344805F}"/>
              </a:ext>
            </a:extLst>
          </p:cNvPr>
          <p:cNvSpPr>
            <a:spLocks noGrp="1"/>
          </p:cNvSpPr>
          <p:nvPr>
            <p:ph idx="1"/>
          </p:nvPr>
        </p:nvSpPr>
        <p:spPr>
          <a:xfrm>
            <a:off x="508000" y="1253331"/>
            <a:ext cx="10515600" cy="4351338"/>
          </a:xfrm>
        </p:spPr>
        <p:txBody>
          <a:bodyPr>
            <a:normAutofit/>
          </a:bodyPr>
          <a:lstStyle/>
          <a:p>
            <a:r>
              <a:rPr lang="en-IN" sz="2400" dirty="0">
                <a:latin typeface="Times New Roman" panose="02020603050405020304" pitchFamily="18" charset="0"/>
                <a:cs typeface="Times New Roman" panose="02020603050405020304" pitchFamily="18" charset="0"/>
              </a:rPr>
              <a:t>Bigger </a:t>
            </a:r>
            <a:r>
              <a:rPr lang="en-IN" sz="2400" dirty="0">
                <a:solidFill>
                  <a:srgbClr val="FF0000"/>
                </a:solidFill>
                <a:latin typeface="Times New Roman" panose="02020603050405020304" pitchFamily="18" charset="0"/>
                <a:cs typeface="Times New Roman" panose="02020603050405020304" pitchFamily="18" charset="0"/>
              </a:rPr>
              <a:t>Main Memory </a:t>
            </a:r>
            <a:r>
              <a:rPr lang="en-IN" sz="2400" dirty="0">
                <a:latin typeface="Times New Roman" panose="02020603050405020304" pitchFamily="18" charset="0"/>
                <a:cs typeface="Times New Roman" panose="02020603050405020304" pitchFamily="18" charset="0"/>
              </a:rPr>
              <a:t>means more Processes can be loaded, hence </a:t>
            </a:r>
            <a:r>
              <a:rPr lang="en-IN" sz="2400" dirty="0">
                <a:solidFill>
                  <a:srgbClr val="FF0000"/>
                </a:solidFill>
                <a:latin typeface="Times New Roman" panose="02020603050405020304" pitchFamily="18" charset="0"/>
                <a:cs typeface="Times New Roman" panose="02020603050405020304" pitchFamily="18" charset="0"/>
              </a:rPr>
              <a:t>maximum</a:t>
            </a:r>
            <a:r>
              <a:rPr lang="en-IN" sz="2400" dirty="0">
                <a:latin typeface="Times New Roman" panose="02020603050405020304" pitchFamily="18" charset="0"/>
                <a:cs typeface="Times New Roman" panose="02020603050405020304" pitchFamily="18" charset="0"/>
              </a:rPr>
              <a:t> CPU utilization.</a:t>
            </a:r>
          </a:p>
          <a:p>
            <a:pPr marL="109728" indent="0">
              <a:buNone/>
            </a:pPr>
            <a:endParaRPr lang="en-IN" sz="2400" dirty="0">
              <a:latin typeface="Times New Roman" panose="02020603050405020304" pitchFamily="18" charset="0"/>
              <a:cs typeface="Times New Roman" panose="02020603050405020304" pitchFamily="18" charset="0"/>
            </a:endParaRPr>
          </a:p>
          <a:p>
            <a:r>
              <a:rPr lang="en-IN" sz="2400" dirty="0">
                <a:solidFill>
                  <a:srgbClr val="0070C0"/>
                </a:solidFill>
                <a:latin typeface="Times New Roman" panose="02020603050405020304" pitchFamily="18" charset="0"/>
                <a:cs typeface="Times New Roman" panose="02020603050405020304" pitchFamily="18" charset="0"/>
              </a:rPr>
              <a:t>Example 1: </a:t>
            </a:r>
            <a:r>
              <a:rPr lang="en-IN" sz="2400" dirty="0">
                <a:latin typeface="Times New Roman" panose="02020603050405020304" pitchFamily="18" charset="0"/>
                <a:cs typeface="Times New Roman" panose="02020603050405020304" pitchFamily="18" charset="0"/>
              </a:rPr>
              <a:t>Main memory </a:t>
            </a:r>
            <a:r>
              <a:rPr lang="en-IN" sz="2400" dirty="0">
                <a:solidFill>
                  <a:srgbClr val="FF0000"/>
                </a:solidFill>
                <a:latin typeface="Times New Roman" panose="02020603050405020304" pitchFamily="18" charset="0"/>
                <a:cs typeface="Times New Roman" panose="02020603050405020304" pitchFamily="18" charset="0"/>
              </a:rPr>
              <a:t>4MB</a:t>
            </a:r>
            <a:r>
              <a:rPr lang="en-IN" sz="2400" dirty="0">
                <a:latin typeface="Times New Roman" panose="02020603050405020304" pitchFamily="18" charset="0"/>
                <a:cs typeface="Times New Roman" panose="02020603050405020304" pitchFamily="18" charset="0"/>
              </a:rPr>
              <a:t> and Process Size </a:t>
            </a:r>
            <a:r>
              <a:rPr lang="en-IN" sz="2400" dirty="0">
                <a:solidFill>
                  <a:srgbClr val="FF0000"/>
                </a:solidFill>
                <a:latin typeface="Times New Roman" panose="02020603050405020304" pitchFamily="18" charset="0"/>
                <a:cs typeface="Times New Roman" panose="02020603050405020304" pitchFamily="18" charset="0"/>
              </a:rPr>
              <a:t>4MB, </a:t>
            </a:r>
            <a:r>
              <a:rPr lang="en-IN" sz="2400" dirty="0">
                <a:latin typeface="Times New Roman" panose="02020603050405020304" pitchFamily="18" charset="0"/>
                <a:cs typeface="Times New Roman" panose="02020603050405020304" pitchFamily="18" charset="0"/>
              </a:rPr>
              <a:t> Assume we have only one process and one processor. </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Suppose Process spends fraction of “P” time doing I/O.</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Then </a:t>
            </a:r>
            <a:r>
              <a:rPr lang="en-IN" sz="2400" dirty="0">
                <a:solidFill>
                  <a:srgbClr val="FF0000"/>
                </a:solidFill>
                <a:latin typeface="Times New Roman" panose="02020603050405020304" pitchFamily="18" charset="0"/>
                <a:cs typeface="Times New Roman" panose="02020603050405020304" pitchFamily="18" charset="0"/>
              </a:rPr>
              <a:t>CPU Utilization = (1-P)</a:t>
            </a:r>
            <a:endParaRPr lang="en-IN"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C53C4B5A-0BBA-259C-AED4-569874C8C5AE}"/>
              </a:ext>
            </a:extLst>
          </p:cNvPr>
          <p:cNvSpPr>
            <a:spLocks noGrp="1"/>
          </p:cNvSpPr>
          <p:nvPr>
            <p:ph type="title"/>
          </p:nvPr>
        </p:nvSpPr>
        <p:spPr>
          <a:xfrm>
            <a:off x="508000" y="187325"/>
            <a:ext cx="10515600" cy="1325563"/>
          </a:xfrm>
        </p:spPr>
        <p:txBody>
          <a:bodyPr>
            <a:normAutofit/>
          </a:bodyPr>
          <a:lstStyle/>
          <a:p>
            <a:r>
              <a:rPr lang="en-IN" dirty="0"/>
              <a:t>Size of MM vs. CPU Efficiency</a:t>
            </a:r>
          </a:p>
        </p:txBody>
      </p:sp>
    </p:spTree>
    <p:extLst>
      <p:ext uri="{BB962C8B-B14F-4D97-AF65-F5344CB8AC3E}">
        <p14:creationId xmlns:p14="http://schemas.microsoft.com/office/powerpoint/2010/main" val="13546207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16DA1ADC-A72E-7F8A-4997-EDD75344805F}"/>
                  </a:ext>
                </a:extLst>
              </p:cNvPr>
              <p:cNvSpPr>
                <a:spLocks noGrp="1"/>
              </p:cNvSpPr>
              <p:nvPr>
                <p:ph idx="1"/>
              </p:nvPr>
            </p:nvSpPr>
            <p:spPr>
              <a:xfrm>
                <a:off x="927100" y="1379728"/>
                <a:ext cx="8382000" cy="4767072"/>
              </a:xfrm>
            </p:spPr>
            <p:txBody>
              <a:bodyPr>
                <a:normAutofit fontScale="55000" lnSpcReduction="20000"/>
              </a:bodyPr>
              <a:lstStyle/>
              <a:p>
                <a:r>
                  <a:rPr lang="en-IN" dirty="0">
                    <a:latin typeface="Times New Roman" panose="02020603050405020304" pitchFamily="18" charset="0"/>
                    <a:cs typeface="Times New Roman" panose="02020603050405020304" pitchFamily="18" charset="0"/>
                  </a:rPr>
                  <a:t>Suppose </a:t>
                </a:r>
                <a:r>
                  <a:rPr lang="en-IN" dirty="0">
                    <a:solidFill>
                      <a:srgbClr val="FF0000"/>
                    </a:solidFill>
                    <a:latin typeface="Times New Roman" panose="02020603050405020304" pitchFamily="18" charset="0"/>
                    <a:cs typeface="Times New Roman" panose="02020603050405020304" pitchFamily="18" charset="0"/>
                  </a:rPr>
                  <a:t>P = 80%</a:t>
                </a:r>
              </a:p>
              <a:p>
                <a:endParaRPr lang="en-IN" dirty="0">
                  <a:solidFill>
                    <a:srgbClr val="FF0000"/>
                  </a:solidFill>
                  <a:latin typeface="Times New Roman" panose="02020603050405020304" pitchFamily="18" charset="0"/>
                  <a:cs typeface="Times New Roman" panose="02020603050405020304" pitchFamily="18" charset="0"/>
                </a:endParaRPr>
              </a:p>
              <a:p>
                <a:r>
                  <a:rPr lang="en-IN" dirty="0">
                    <a:solidFill>
                      <a:srgbClr val="FF0000"/>
                    </a:solidFill>
                    <a:latin typeface="Times New Roman" panose="02020603050405020304" pitchFamily="18" charset="0"/>
                    <a:cs typeface="Times New Roman" panose="02020603050405020304" pitchFamily="18" charset="0"/>
                  </a:rPr>
                  <a:t>CPU Utilization = (1-80%) = 20%</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solidFill>
                      <a:srgbClr val="0070C0"/>
                    </a:solidFill>
                    <a:latin typeface="Times New Roman" panose="02020603050405020304" pitchFamily="18" charset="0"/>
                    <a:cs typeface="Times New Roman" panose="02020603050405020304" pitchFamily="18" charset="0"/>
                  </a:rPr>
                  <a:t>Example 2: </a:t>
                </a:r>
                <a:r>
                  <a:rPr lang="en-IN" dirty="0">
                    <a:latin typeface="Times New Roman" panose="02020603050405020304" pitchFamily="18" charset="0"/>
                    <a:cs typeface="Times New Roman" panose="02020603050405020304" pitchFamily="18" charset="0"/>
                  </a:rPr>
                  <a:t>Main memory </a:t>
                </a:r>
                <a:r>
                  <a:rPr lang="en-IN" dirty="0">
                    <a:solidFill>
                      <a:srgbClr val="FF0000"/>
                    </a:solidFill>
                    <a:latin typeface="Times New Roman" panose="02020603050405020304" pitchFamily="18" charset="0"/>
                    <a:cs typeface="Times New Roman" panose="02020603050405020304" pitchFamily="18" charset="0"/>
                  </a:rPr>
                  <a:t>16MB</a:t>
                </a:r>
                <a:r>
                  <a:rPr lang="en-IN" dirty="0">
                    <a:latin typeface="Times New Roman" panose="02020603050405020304" pitchFamily="18" charset="0"/>
                    <a:cs typeface="Times New Roman" panose="02020603050405020304" pitchFamily="18" charset="0"/>
                  </a:rPr>
                  <a:t> and Process Size </a:t>
                </a:r>
                <a:r>
                  <a:rPr lang="en-IN" dirty="0">
                    <a:solidFill>
                      <a:srgbClr val="FF0000"/>
                    </a:solidFill>
                    <a:latin typeface="Times New Roman" panose="02020603050405020304" pitchFamily="18" charset="0"/>
                    <a:cs typeface="Times New Roman" panose="02020603050405020304" pitchFamily="18" charset="0"/>
                  </a:rPr>
                  <a:t>4MB, </a:t>
                </a:r>
                <a:r>
                  <a:rPr lang="en-IN" dirty="0">
                    <a:latin typeface="Times New Roman" panose="02020603050405020304" pitchFamily="18" charset="0"/>
                    <a:cs typeface="Times New Roman" panose="02020603050405020304" pitchFamily="18" charset="0"/>
                  </a:rPr>
                  <a:t>and </a:t>
                </a:r>
              </a:p>
              <a:p>
                <a:r>
                  <a:rPr lang="en-IN" dirty="0">
                    <a:latin typeface="Times New Roman" panose="02020603050405020304" pitchFamily="18" charset="0"/>
                    <a:cs typeface="Times New Roman" panose="02020603050405020304" pitchFamily="18" charset="0"/>
                  </a:rPr>
                  <a:t>Assume P= 80% for each process.</a:t>
                </a:r>
                <a:endParaRPr lang="en-IN" dirty="0">
                  <a:solidFill>
                    <a:srgbClr val="FF0000"/>
                  </a:solidFill>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Therefore, No. of processes = </a:t>
                </a:r>
                <a14:m>
                  <m:oMath xmlns:m="http://schemas.openxmlformats.org/officeDocument/2006/math">
                    <m:f>
                      <m:fPr>
                        <m:ctrlPr>
                          <a:rPr lang="en-IN" i="1" smtClean="0">
                            <a:latin typeface="Cambria Math" panose="02040503050406030204" pitchFamily="18" charset="0"/>
                            <a:cs typeface="Times New Roman" panose="02020603050405020304" pitchFamily="18" charset="0"/>
                          </a:rPr>
                        </m:ctrlPr>
                      </m:fPr>
                      <m:num>
                        <m:r>
                          <a:rPr lang="en-IN" b="0" i="1" smtClean="0">
                            <a:latin typeface="Cambria Math" panose="02040503050406030204" pitchFamily="18" charset="0"/>
                            <a:cs typeface="Times New Roman" panose="02020603050405020304" pitchFamily="18" charset="0"/>
                          </a:rPr>
                          <m:t>𝑀𝑎𝑖𝑛</m:t>
                        </m:r>
                        <m:r>
                          <a:rPr lang="en-IN" b="0" i="1" smtClean="0">
                            <a:latin typeface="Cambria Math" panose="02040503050406030204" pitchFamily="18" charset="0"/>
                            <a:cs typeface="Times New Roman" panose="02020603050405020304" pitchFamily="18" charset="0"/>
                          </a:rPr>
                          <m:t> </m:t>
                        </m:r>
                        <m:r>
                          <a:rPr lang="en-IN" b="0" i="1" smtClean="0">
                            <a:latin typeface="Cambria Math" panose="02040503050406030204" pitchFamily="18" charset="0"/>
                            <a:cs typeface="Times New Roman" panose="02020603050405020304" pitchFamily="18" charset="0"/>
                          </a:rPr>
                          <m:t>𝑀𝑒𝑚𝑜𝑟𝑦</m:t>
                        </m:r>
                        <m:r>
                          <a:rPr lang="en-IN" b="0" i="1" smtClean="0">
                            <a:latin typeface="Cambria Math" panose="02040503050406030204" pitchFamily="18" charset="0"/>
                            <a:cs typeface="Times New Roman" panose="02020603050405020304" pitchFamily="18" charset="0"/>
                          </a:rPr>
                          <m:t> </m:t>
                        </m:r>
                        <m:r>
                          <a:rPr lang="en-IN" b="0" i="1" smtClean="0">
                            <a:latin typeface="Cambria Math" panose="02040503050406030204" pitchFamily="18" charset="0"/>
                            <a:cs typeface="Times New Roman" panose="02020603050405020304" pitchFamily="18" charset="0"/>
                          </a:rPr>
                          <m:t>𝑆𝑖𝑧𝑒</m:t>
                        </m:r>
                      </m:num>
                      <m:den>
                        <m:r>
                          <a:rPr lang="en-IN" b="0" i="1" smtClean="0">
                            <a:latin typeface="Cambria Math" panose="02040503050406030204" pitchFamily="18" charset="0"/>
                            <a:cs typeface="Times New Roman" panose="02020603050405020304" pitchFamily="18" charset="0"/>
                          </a:rPr>
                          <m:t>𝑃𝑟𝑜𝑐𝑒𝑠𝑠</m:t>
                        </m:r>
                        <m:r>
                          <a:rPr lang="en-IN" b="0" i="1" smtClean="0">
                            <a:latin typeface="Cambria Math" panose="02040503050406030204" pitchFamily="18" charset="0"/>
                            <a:cs typeface="Times New Roman" panose="02020603050405020304" pitchFamily="18" charset="0"/>
                          </a:rPr>
                          <m:t> </m:t>
                        </m:r>
                        <m:r>
                          <a:rPr lang="en-IN" b="0" i="1" smtClean="0">
                            <a:latin typeface="Cambria Math" panose="02040503050406030204" pitchFamily="18" charset="0"/>
                            <a:cs typeface="Times New Roman" panose="02020603050405020304" pitchFamily="18" charset="0"/>
                          </a:rPr>
                          <m:t>𝑆𝑖𝑧𝑒</m:t>
                        </m:r>
                      </m:den>
                    </m:f>
                  </m:oMath>
                </a14:m>
                <a:r>
                  <a:rPr lang="en-IN" dirty="0">
                    <a:latin typeface="Times New Roman" panose="02020603050405020304" pitchFamily="18" charset="0"/>
                    <a:cs typeface="Times New Roman" panose="02020603050405020304" pitchFamily="18" charset="0"/>
                  </a:rPr>
                  <a:t> = </a:t>
                </a:r>
                <a14:m>
                  <m:oMath xmlns:m="http://schemas.openxmlformats.org/officeDocument/2006/math">
                    <m:f>
                      <m:fPr>
                        <m:ctrlPr>
                          <a:rPr lang="en-IN" i="1" smtClean="0">
                            <a:latin typeface="Cambria Math" panose="02040503050406030204" pitchFamily="18" charset="0"/>
                            <a:cs typeface="Times New Roman" panose="02020603050405020304" pitchFamily="18" charset="0"/>
                          </a:rPr>
                        </m:ctrlPr>
                      </m:fPr>
                      <m:num>
                        <m:r>
                          <a:rPr lang="en-IN" b="0" i="1" smtClean="0">
                            <a:latin typeface="Cambria Math" panose="02040503050406030204" pitchFamily="18" charset="0"/>
                            <a:cs typeface="Times New Roman" panose="02020603050405020304" pitchFamily="18" charset="0"/>
                          </a:rPr>
                          <m:t>16</m:t>
                        </m:r>
                        <m:r>
                          <a:rPr lang="en-IN" b="0" i="1" smtClean="0">
                            <a:latin typeface="Cambria Math" panose="02040503050406030204" pitchFamily="18" charset="0"/>
                            <a:cs typeface="Times New Roman" panose="02020603050405020304" pitchFamily="18" charset="0"/>
                          </a:rPr>
                          <m:t>𝑀𝐵</m:t>
                        </m:r>
                      </m:num>
                      <m:den>
                        <m:r>
                          <a:rPr lang="en-IN" b="0" i="1" smtClean="0">
                            <a:latin typeface="Cambria Math" panose="02040503050406030204" pitchFamily="18" charset="0"/>
                            <a:cs typeface="Times New Roman" panose="02020603050405020304" pitchFamily="18" charset="0"/>
                          </a:rPr>
                          <m:t>4</m:t>
                        </m:r>
                        <m:r>
                          <a:rPr lang="en-IN" b="0" i="1" smtClean="0">
                            <a:latin typeface="Cambria Math" panose="02040503050406030204" pitchFamily="18" charset="0"/>
                            <a:cs typeface="Times New Roman" panose="02020603050405020304" pitchFamily="18" charset="0"/>
                          </a:rPr>
                          <m:t>𝑀𝐵</m:t>
                        </m:r>
                      </m:den>
                    </m:f>
                  </m:oMath>
                </a14:m>
                <a:r>
                  <a:rPr lang="en-IN" dirty="0">
                    <a:latin typeface="Times New Roman" panose="02020603050405020304" pitchFamily="18" charset="0"/>
                    <a:cs typeface="Times New Roman" panose="02020603050405020304" pitchFamily="18" charset="0"/>
                  </a:rPr>
                  <a:t> = 4</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All process will do the I/O at the same time = </a:t>
                </a:r>
                <a14:m>
                  <m:oMath xmlns:m="http://schemas.openxmlformats.org/officeDocument/2006/math">
                    <m:sSup>
                      <m:sSupPr>
                        <m:ctrlPr>
                          <a:rPr lang="en-IN" i="1" smtClean="0">
                            <a:latin typeface="Cambria Math" panose="02040503050406030204" pitchFamily="18" charset="0"/>
                            <a:cs typeface="Times New Roman" panose="02020603050405020304" pitchFamily="18" charset="0"/>
                          </a:rPr>
                        </m:ctrlPr>
                      </m:sSupPr>
                      <m:e>
                        <m:r>
                          <a:rPr lang="en-IN" b="0" i="1" smtClean="0">
                            <a:latin typeface="Cambria Math" panose="02040503050406030204" pitchFamily="18" charset="0"/>
                            <a:cs typeface="Times New Roman" panose="02020603050405020304" pitchFamily="18" charset="0"/>
                          </a:rPr>
                          <m:t>(</m:t>
                        </m:r>
                        <m:r>
                          <a:rPr lang="en-IN" b="0" i="1" smtClean="0">
                            <a:latin typeface="Cambria Math" panose="02040503050406030204" pitchFamily="18" charset="0"/>
                            <a:cs typeface="Times New Roman" panose="02020603050405020304" pitchFamily="18" charset="0"/>
                          </a:rPr>
                          <m:t>𝑃</m:t>
                        </m:r>
                        <m:r>
                          <a:rPr lang="en-IN" b="0" i="1" smtClean="0">
                            <a:latin typeface="Cambria Math" panose="02040503050406030204" pitchFamily="18" charset="0"/>
                            <a:cs typeface="Times New Roman" panose="02020603050405020304" pitchFamily="18" charset="0"/>
                          </a:rPr>
                          <m:t>)</m:t>
                        </m:r>
                      </m:e>
                      <m:sup>
                        <m:r>
                          <a:rPr lang="en-IN" b="0" i="1" smtClean="0">
                            <a:latin typeface="Cambria Math" panose="02040503050406030204" pitchFamily="18" charset="0"/>
                            <a:cs typeface="Times New Roman" panose="02020603050405020304" pitchFamily="18" charset="0"/>
                          </a:rPr>
                          <m:t>4</m:t>
                        </m:r>
                      </m:sup>
                    </m:sSup>
                  </m:oMath>
                </a14:m>
                <a:r>
                  <a:rPr lang="en-IN"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Then </a:t>
                </a:r>
                <a:r>
                  <a:rPr lang="en-IN" dirty="0">
                    <a:solidFill>
                      <a:srgbClr val="FF0000"/>
                    </a:solidFill>
                    <a:latin typeface="Times New Roman" panose="02020603050405020304" pitchFamily="18" charset="0"/>
                    <a:cs typeface="Times New Roman" panose="02020603050405020304" pitchFamily="18" charset="0"/>
                  </a:rPr>
                  <a:t>CPU Utilization = (1-</a:t>
                </a:r>
                <a:r>
                  <a:rPr lang="en-IN" dirty="0">
                    <a:cs typeface="Times New Roman" panose="02020603050405020304" pitchFamily="18" charset="0"/>
                  </a:rPr>
                  <a:t> </a:t>
                </a:r>
                <a14:m>
                  <m:oMath xmlns:m="http://schemas.openxmlformats.org/officeDocument/2006/math">
                    <m:sSup>
                      <m:sSupPr>
                        <m:ctrlPr>
                          <a:rPr lang="en-IN" i="1" smtClean="0">
                            <a:latin typeface="Cambria Math" panose="02040503050406030204" pitchFamily="18" charset="0"/>
                            <a:cs typeface="Times New Roman" panose="02020603050405020304" pitchFamily="18" charset="0"/>
                          </a:rPr>
                        </m:ctrlPr>
                      </m:sSupPr>
                      <m:e>
                        <m:r>
                          <a:rPr lang="en-IN" b="0" i="1" smtClean="0">
                            <a:latin typeface="Cambria Math" panose="02040503050406030204" pitchFamily="18" charset="0"/>
                            <a:cs typeface="Times New Roman" panose="02020603050405020304" pitchFamily="18" charset="0"/>
                          </a:rPr>
                          <m:t>𝑃</m:t>
                        </m:r>
                      </m:e>
                      <m:sup>
                        <m:r>
                          <a:rPr lang="en-IN" b="0" i="1" smtClean="0">
                            <a:latin typeface="Cambria Math" panose="02040503050406030204" pitchFamily="18" charset="0"/>
                            <a:cs typeface="Times New Roman" panose="02020603050405020304" pitchFamily="18" charset="0"/>
                          </a:rPr>
                          <m:t>4</m:t>
                        </m:r>
                      </m:sup>
                    </m:sSup>
                  </m:oMath>
                </a14:m>
                <a:r>
                  <a:rPr lang="en-IN" dirty="0">
                    <a:solidFill>
                      <a:srgbClr val="FF0000"/>
                    </a:solidFill>
                    <a:latin typeface="Times New Roman" panose="02020603050405020304" pitchFamily="18" charset="0"/>
                    <a:cs typeface="Times New Roman" panose="02020603050405020304" pitchFamily="18" charset="0"/>
                  </a:rPr>
                  <a:t>) = (1 – </a:t>
                </a:r>
                <a14:m>
                  <m:oMath xmlns:m="http://schemas.openxmlformats.org/officeDocument/2006/math">
                    <m:sSup>
                      <m:sSupPr>
                        <m:ctrlPr>
                          <a:rPr lang="en-IN" i="1">
                            <a:latin typeface="Cambria Math" panose="02040503050406030204" pitchFamily="18" charset="0"/>
                            <a:cs typeface="Times New Roman" panose="02020603050405020304" pitchFamily="18" charset="0"/>
                          </a:rPr>
                        </m:ctrlPr>
                      </m:sSupPr>
                      <m:e>
                        <m:r>
                          <m:rPr>
                            <m:nor/>
                          </m:rPr>
                          <a:rPr lang="en-IN" dirty="0">
                            <a:solidFill>
                              <a:srgbClr val="FF0000"/>
                            </a:solidFill>
                            <a:latin typeface="Times New Roman" panose="02020603050405020304" pitchFamily="18" charset="0"/>
                            <a:cs typeface="Times New Roman" panose="02020603050405020304" pitchFamily="18" charset="0"/>
                          </a:rPr>
                          <m:t>(</m:t>
                        </m:r>
                        <m:f>
                          <m:fPr>
                            <m:ctrlPr>
                              <a:rPr lang="en-IN" i="1">
                                <a:solidFill>
                                  <a:srgbClr val="FF0000"/>
                                </a:solidFill>
                                <a:latin typeface="Cambria Math" panose="02040503050406030204" pitchFamily="18" charset="0"/>
                                <a:cs typeface="Times New Roman" panose="02020603050405020304" pitchFamily="18" charset="0"/>
                              </a:rPr>
                            </m:ctrlPr>
                          </m:fPr>
                          <m:num>
                            <m:r>
                              <a:rPr lang="en-IN" i="1">
                                <a:solidFill>
                                  <a:srgbClr val="FF0000"/>
                                </a:solidFill>
                                <a:latin typeface="Cambria Math" panose="02040503050406030204" pitchFamily="18" charset="0"/>
                                <a:cs typeface="Times New Roman" panose="02020603050405020304" pitchFamily="18" charset="0"/>
                              </a:rPr>
                              <m:t>80</m:t>
                            </m:r>
                          </m:num>
                          <m:den>
                            <m:r>
                              <a:rPr lang="en-IN" i="1">
                                <a:solidFill>
                                  <a:srgbClr val="FF0000"/>
                                </a:solidFill>
                                <a:latin typeface="Cambria Math" panose="02040503050406030204" pitchFamily="18" charset="0"/>
                                <a:cs typeface="Times New Roman" panose="02020603050405020304" pitchFamily="18" charset="0"/>
                              </a:rPr>
                              <m:t>100</m:t>
                            </m:r>
                          </m:den>
                        </m:f>
                        <m:r>
                          <m:rPr>
                            <m:nor/>
                          </m:rPr>
                          <a:rPr lang="en-IN" dirty="0">
                            <a:solidFill>
                              <a:srgbClr val="FF0000"/>
                            </a:solidFill>
                            <a:latin typeface="Times New Roman" panose="02020603050405020304" pitchFamily="18" charset="0"/>
                            <a:cs typeface="Times New Roman" panose="02020603050405020304" pitchFamily="18" charset="0"/>
                          </a:rPr>
                          <m:t>)</m:t>
                        </m:r>
                      </m:e>
                      <m:sup>
                        <m:r>
                          <a:rPr lang="en-IN" i="1">
                            <a:latin typeface="Cambria Math" panose="02040503050406030204" pitchFamily="18" charset="0"/>
                            <a:cs typeface="Times New Roman" panose="02020603050405020304" pitchFamily="18" charset="0"/>
                          </a:rPr>
                          <m:t>4</m:t>
                        </m:r>
                      </m:sup>
                    </m:sSup>
                    <m:r>
                      <a:rPr lang="en-IN" i="1">
                        <a:latin typeface="Cambria Math" panose="02040503050406030204" pitchFamily="18" charset="0"/>
                        <a:cs typeface="Times New Roman" panose="02020603050405020304" pitchFamily="18" charset="0"/>
                      </a:rPr>
                      <m:t> </m:t>
                    </m:r>
                  </m:oMath>
                </a14:m>
                <a:r>
                  <a:rPr lang="en-IN" dirty="0">
                    <a:solidFill>
                      <a:srgbClr val="FF0000"/>
                    </a:solidFill>
                    <a:latin typeface="Times New Roman" panose="02020603050405020304" pitchFamily="18" charset="0"/>
                    <a:cs typeface="Times New Roman" panose="02020603050405020304" pitchFamily="18" charset="0"/>
                  </a:rPr>
                  <a:t>) = 60%</a:t>
                </a:r>
              </a:p>
              <a:p>
                <a:endParaRPr lang="en-IN" dirty="0">
                  <a:solidFill>
                    <a:srgbClr val="FF0000"/>
                  </a:solidFill>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So, utilization has increased from 20% to 60%, by increasing number of processes from 1 to 4.</a:t>
                </a:r>
              </a:p>
            </p:txBody>
          </p:sp>
        </mc:Choice>
        <mc:Fallback xmlns="">
          <p:sp>
            <p:nvSpPr>
              <p:cNvPr id="2" name="Content Placeholder 1">
                <a:extLst>
                  <a:ext uri="{FF2B5EF4-FFF2-40B4-BE49-F238E27FC236}">
                    <a16:creationId xmlns:a16="http://schemas.microsoft.com/office/drawing/2014/main" id="{16DA1ADC-A72E-7F8A-4997-EDD75344805F}"/>
                  </a:ext>
                </a:extLst>
              </p:cNvPr>
              <p:cNvSpPr>
                <a:spLocks noGrp="1" noRot="1" noChangeAspect="1" noMove="1" noResize="1" noEditPoints="1" noAdjustHandles="1" noChangeArrowheads="1" noChangeShapeType="1" noTextEdit="1"/>
              </p:cNvSpPr>
              <p:nvPr>
                <p:ph idx="1"/>
              </p:nvPr>
            </p:nvSpPr>
            <p:spPr>
              <a:xfrm>
                <a:off x="927100" y="1379728"/>
                <a:ext cx="8382000" cy="4767072"/>
              </a:xfrm>
              <a:blipFill>
                <a:blip r:embed="rId2"/>
                <a:stretch>
                  <a:fillRect l="-218" t="-1535"/>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C53C4B5A-0BBA-259C-AED4-569874C8C5AE}"/>
              </a:ext>
            </a:extLst>
          </p:cNvPr>
          <p:cNvSpPr>
            <a:spLocks noGrp="1"/>
          </p:cNvSpPr>
          <p:nvPr>
            <p:ph type="title"/>
          </p:nvPr>
        </p:nvSpPr>
        <p:spPr/>
        <p:txBody>
          <a:bodyPr>
            <a:normAutofit/>
          </a:bodyPr>
          <a:lstStyle/>
          <a:p>
            <a:r>
              <a:rPr lang="en-IN" dirty="0"/>
              <a:t>Size of MM vs. CPU Efficiency</a:t>
            </a:r>
          </a:p>
        </p:txBody>
      </p:sp>
    </p:spTree>
    <p:extLst>
      <p:ext uri="{BB962C8B-B14F-4D97-AF65-F5344CB8AC3E}">
        <p14:creationId xmlns:p14="http://schemas.microsoft.com/office/powerpoint/2010/main" val="2367229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16DA1ADC-A72E-7F8A-4997-EDD75344805F}"/>
                  </a:ext>
                </a:extLst>
              </p:cNvPr>
              <p:cNvSpPr>
                <a:spLocks noGrp="1"/>
              </p:cNvSpPr>
              <p:nvPr>
                <p:ph idx="1"/>
              </p:nvPr>
            </p:nvSpPr>
            <p:spPr>
              <a:xfrm>
                <a:off x="508000" y="909828"/>
                <a:ext cx="10541000" cy="4767072"/>
              </a:xfrm>
            </p:spPr>
            <p:txBody>
              <a:bodyPr>
                <a:normAutofit/>
              </a:bodyPr>
              <a:lstStyle/>
              <a:p>
                <a:r>
                  <a:rPr lang="en-IN" sz="1800" dirty="0">
                    <a:solidFill>
                      <a:srgbClr val="0070C0"/>
                    </a:solidFill>
                    <a:latin typeface="Times New Roman" panose="02020603050405020304" pitchFamily="18" charset="0"/>
                    <a:cs typeface="Times New Roman" panose="02020603050405020304" pitchFamily="18" charset="0"/>
                  </a:rPr>
                  <a:t>Example 3: </a:t>
                </a:r>
                <a:r>
                  <a:rPr lang="en-IN" sz="1800" dirty="0">
                    <a:latin typeface="Times New Roman" panose="02020603050405020304" pitchFamily="18" charset="0"/>
                    <a:cs typeface="Times New Roman" panose="02020603050405020304" pitchFamily="18" charset="0"/>
                  </a:rPr>
                  <a:t>Main memory </a:t>
                </a:r>
                <a:r>
                  <a:rPr lang="en-IN" sz="1800" dirty="0">
                    <a:solidFill>
                      <a:srgbClr val="FF0000"/>
                    </a:solidFill>
                    <a:latin typeface="Times New Roman" panose="02020603050405020304" pitchFamily="18" charset="0"/>
                    <a:cs typeface="Times New Roman" panose="02020603050405020304" pitchFamily="18" charset="0"/>
                  </a:rPr>
                  <a:t>32MB</a:t>
                </a:r>
                <a:r>
                  <a:rPr lang="en-IN" sz="1800" dirty="0">
                    <a:latin typeface="Times New Roman" panose="02020603050405020304" pitchFamily="18" charset="0"/>
                    <a:cs typeface="Times New Roman" panose="02020603050405020304" pitchFamily="18" charset="0"/>
                  </a:rPr>
                  <a:t> and Process Size </a:t>
                </a:r>
                <a:r>
                  <a:rPr lang="en-IN" sz="1800" dirty="0">
                    <a:solidFill>
                      <a:srgbClr val="FF0000"/>
                    </a:solidFill>
                    <a:latin typeface="Times New Roman" panose="02020603050405020304" pitchFamily="18" charset="0"/>
                    <a:cs typeface="Times New Roman" panose="02020603050405020304" pitchFamily="18" charset="0"/>
                  </a:rPr>
                  <a:t>4MB, </a:t>
                </a:r>
                <a:r>
                  <a:rPr lang="en-IN" sz="1800" dirty="0">
                    <a:latin typeface="Times New Roman" panose="02020603050405020304" pitchFamily="18" charset="0"/>
                    <a:cs typeface="Times New Roman" panose="02020603050405020304" pitchFamily="18" charset="0"/>
                  </a:rPr>
                  <a:t>and </a:t>
                </a:r>
              </a:p>
              <a:p>
                <a:r>
                  <a:rPr lang="en-IN" sz="1800" dirty="0">
                    <a:latin typeface="Times New Roman" panose="02020603050405020304" pitchFamily="18" charset="0"/>
                    <a:cs typeface="Times New Roman" panose="02020603050405020304" pitchFamily="18" charset="0"/>
                  </a:rPr>
                  <a:t>Assume P= 80% for each process.</a:t>
                </a:r>
                <a:endParaRPr lang="en-IN" sz="1800" dirty="0">
                  <a:solidFill>
                    <a:srgbClr val="FF0000"/>
                  </a:solidFill>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Therefore, No. of processes = </a:t>
                </a:r>
                <a14:m>
                  <m:oMath xmlns:m="http://schemas.openxmlformats.org/officeDocument/2006/math">
                    <m:f>
                      <m:fPr>
                        <m:ctrlPr>
                          <a:rPr lang="en-IN" sz="1800" i="1" smtClean="0">
                            <a:latin typeface="Cambria Math" panose="02040503050406030204" pitchFamily="18" charset="0"/>
                            <a:cs typeface="Times New Roman" panose="02020603050405020304" pitchFamily="18" charset="0"/>
                          </a:rPr>
                        </m:ctrlPr>
                      </m:fPr>
                      <m:num>
                        <m:r>
                          <a:rPr lang="en-IN" sz="1800" b="0" i="1" smtClean="0">
                            <a:latin typeface="Cambria Math" panose="02040503050406030204" pitchFamily="18" charset="0"/>
                            <a:cs typeface="Times New Roman" panose="02020603050405020304" pitchFamily="18" charset="0"/>
                          </a:rPr>
                          <m:t>𝑀𝑎𝑖𝑛</m:t>
                        </m:r>
                        <m:r>
                          <a:rPr lang="en-IN" sz="1800" b="0" i="1" smtClean="0">
                            <a:latin typeface="Cambria Math" panose="02040503050406030204" pitchFamily="18" charset="0"/>
                            <a:cs typeface="Times New Roman" panose="02020603050405020304" pitchFamily="18" charset="0"/>
                          </a:rPr>
                          <m:t> </m:t>
                        </m:r>
                        <m:r>
                          <a:rPr lang="en-IN" sz="1800" b="0" i="1" smtClean="0">
                            <a:latin typeface="Cambria Math" panose="02040503050406030204" pitchFamily="18" charset="0"/>
                            <a:cs typeface="Times New Roman" panose="02020603050405020304" pitchFamily="18" charset="0"/>
                          </a:rPr>
                          <m:t>𝑀𝑒𝑚𝑜𝑟𝑦</m:t>
                        </m:r>
                        <m:r>
                          <a:rPr lang="en-IN" sz="1800" b="0" i="1" smtClean="0">
                            <a:latin typeface="Cambria Math" panose="02040503050406030204" pitchFamily="18" charset="0"/>
                            <a:cs typeface="Times New Roman" panose="02020603050405020304" pitchFamily="18" charset="0"/>
                          </a:rPr>
                          <m:t> </m:t>
                        </m:r>
                        <m:r>
                          <a:rPr lang="en-IN" sz="1800" b="0" i="1" smtClean="0">
                            <a:latin typeface="Cambria Math" panose="02040503050406030204" pitchFamily="18" charset="0"/>
                            <a:cs typeface="Times New Roman" panose="02020603050405020304" pitchFamily="18" charset="0"/>
                          </a:rPr>
                          <m:t>𝑆𝑖𝑧𝑒</m:t>
                        </m:r>
                      </m:num>
                      <m:den>
                        <m:r>
                          <a:rPr lang="en-IN" sz="1800" b="0" i="1" smtClean="0">
                            <a:latin typeface="Cambria Math" panose="02040503050406030204" pitchFamily="18" charset="0"/>
                            <a:cs typeface="Times New Roman" panose="02020603050405020304" pitchFamily="18" charset="0"/>
                          </a:rPr>
                          <m:t>𝑃𝑟𝑜𝑐𝑒𝑠𝑠</m:t>
                        </m:r>
                        <m:r>
                          <a:rPr lang="en-IN" sz="1800" b="0" i="1" smtClean="0">
                            <a:latin typeface="Cambria Math" panose="02040503050406030204" pitchFamily="18" charset="0"/>
                            <a:cs typeface="Times New Roman" panose="02020603050405020304" pitchFamily="18" charset="0"/>
                          </a:rPr>
                          <m:t> </m:t>
                        </m:r>
                        <m:r>
                          <a:rPr lang="en-IN" sz="1800" b="0" i="1" smtClean="0">
                            <a:latin typeface="Cambria Math" panose="02040503050406030204" pitchFamily="18" charset="0"/>
                            <a:cs typeface="Times New Roman" panose="02020603050405020304" pitchFamily="18" charset="0"/>
                          </a:rPr>
                          <m:t>𝑆𝑖𝑧𝑒</m:t>
                        </m:r>
                      </m:den>
                    </m:f>
                  </m:oMath>
                </a14:m>
                <a:r>
                  <a:rPr lang="en-IN" sz="1800" dirty="0">
                    <a:latin typeface="Times New Roman" panose="02020603050405020304" pitchFamily="18" charset="0"/>
                    <a:cs typeface="Times New Roman" panose="02020603050405020304" pitchFamily="18" charset="0"/>
                  </a:rPr>
                  <a:t> = </a:t>
                </a:r>
                <a14:m>
                  <m:oMath xmlns:m="http://schemas.openxmlformats.org/officeDocument/2006/math">
                    <m:f>
                      <m:fPr>
                        <m:ctrlPr>
                          <a:rPr lang="en-IN" sz="1800" i="1" smtClean="0">
                            <a:latin typeface="Cambria Math" panose="02040503050406030204" pitchFamily="18" charset="0"/>
                            <a:cs typeface="Times New Roman" panose="02020603050405020304" pitchFamily="18" charset="0"/>
                          </a:rPr>
                        </m:ctrlPr>
                      </m:fPr>
                      <m:num>
                        <m:r>
                          <a:rPr lang="en-IN" sz="1800" b="0" i="1" smtClean="0">
                            <a:latin typeface="Cambria Math" panose="02040503050406030204" pitchFamily="18" charset="0"/>
                            <a:cs typeface="Times New Roman" panose="02020603050405020304" pitchFamily="18" charset="0"/>
                          </a:rPr>
                          <m:t>32</m:t>
                        </m:r>
                        <m:r>
                          <a:rPr lang="en-IN" sz="1800" b="0" i="1" smtClean="0">
                            <a:latin typeface="Cambria Math" panose="02040503050406030204" pitchFamily="18" charset="0"/>
                            <a:cs typeface="Times New Roman" panose="02020603050405020304" pitchFamily="18" charset="0"/>
                          </a:rPr>
                          <m:t>𝑀𝐵</m:t>
                        </m:r>
                      </m:num>
                      <m:den>
                        <m:r>
                          <a:rPr lang="en-IN" sz="1800" b="0" i="1" smtClean="0">
                            <a:latin typeface="Cambria Math" panose="02040503050406030204" pitchFamily="18" charset="0"/>
                            <a:cs typeface="Times New Roman" panose="02020603050405020304" pitchFamily="18" charset="0"/>
                          </a:rPr>
                          <m:t>4</m:t>
                        </m:r>
                        <m:r>
                          <a:rPr lang="en-IN" sz="1800" b="0" i="1" smtClean="0">
                            <a:latin typeface="Cambria Math" panose="02040503050406030204" pitchFamily="18" charset="0"/>
                            <a:cs typeface="Times New Roman" panose="02020603050405020304" pitchFamily="18" charset="0"/>
                          </a:rPr>
                          <m:t>𝑀𝐵</m:t>
                        </m:r>
                      </m:den>
                    </m:f>
                  </m:oMath>
                </a14:m>
                <a:r>
                  <a:rPr lang="en-IN" sz="1800" dirty="0">
                    <a:latin typeface="Times New Roman" panose="02020603050405020304" pitchFamily="18" charset="0"/>
                    <a:cs typeface="Times New Roman" panose="02020603050405020304" pitchFamily="18" charset="0"/>
                  </a:rPr>
                  <a:t> = 8</a:t>
                </a:r>
              </a:p>
              <a:p>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All process will do the I/O at the same time = </a:t>
                </a:r>
                <a14:m>
                  <m:oMath xmlns:m="http://schemas.openxmlformats.org/officeDocument/2006/math">
                    <m:sSup>
                      <m:sSupPr>
                        <m:ctrlPr>
                          <a:rPr lang="en-IN" sz="1800" i="1" smtClean="0">
                            <a:latin typeface="Cambria Math" panose="02040503050406030204" pitchFamily="18" charset="0"/>
                            <a:cs typeface="Times New Roman" panose="02020603050405020304" pitchFamily="18" charset="0"/>
                          </a:rPr>
                        </m:ctrlPr>
                      </m:sSupPr>
                      <m:e>
                        <m:r>
                          <a:rPr lang="en-IN" sz="1800" b="0" i="1" smtClean="0">
                            <a:latin typeface="Cambria Math" panose="02040503050406030204" pitchFamily="18" charset="0"/>
                            <a:cs typeface="Times New Roman" panose="02020603050405020304" pitchFamily="18" charset="0"/>
                          </a:rPr>
                          <m:t>(</m:t>
                        </m:r>
                        <m:r>
                          <a:rPr lang="en-IN" sz="1800" b="0" i="1" smtClean="0">
                            <a:latin typeface="Cambria Math" panose="02040503050406030204" pitchFamily="18" charset="0"/>
                            <a:cs typeface="Times New Roman" panose="02020603050405020304" pitchFamily="18" charset="0"/>
                          </a:rPr>
                          <m:t>𝑃</m:t>
                        </m:r>
                        <m:r>
                          <a:rPr lang="en-IN" sz="1800" b="0" i="1" smtClean="0">
                            <a:latin typeface="Cambria Math" panose="02040503050406030204" pitchFamily="18" charset="0"/>
                            <a:cs typeface="Times New Roman" panose="02020603050405020304" pitchFamily="18" charset="0"/>
                          </a:rPr>
                          <m:t>)</m:t>
                        </m:r>
                      </m:e>
                      <m:sup>
                        <m:r>
                          <a:rPr lang="en-IN" sz="1800" b="0" i="1" smtClean="0">
                            <a:latin typeface="Cambria Math" panose="02040503050406030204" pitchFamily="18" charset="0"/>
                            <a:cs typeface="Times New Roman" panose="02020603050405020304" pitchFamily="18" charset="0"/>
                          </a:rPr>
                          <m:t>8</m:t>
                        </m:r>
                      </m:sup>
                    </m:sSup>
                  </m:oMath>
                </a14:m>
                <a:r>
                  <a:rPr lang="en-IN" sz="1800" dirty="0">
                    <a:latin typeface="Times New Roman" panose="02020603050405020304" pitchFamily="18" charset="0"/>
                    <a:cs typeface="Times New Roman" panose="02020603050405020304" pitchFamily="18" charset="0"/>
                  </a:rPr>
                  <a:t>.</a:t>
                </a:r>
              </a:p>
              <a:p>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Then </a:t>
                </a:r>
                <a:r>
                  <a:rPr lang="en-IN" sz="1800" dirty="0">
                    <a:solidFill>
                      <a:srgbClr val="FF0000"/>
                    </a:solidFill>
                    <a:latin typeface="Times New Roman" panose="02020603050405020304" pitchFamily="18" charset="0"/>
                    <a:cs typeface="Times New Roman" panose="02020603050405020304" pitchFamily="18" charset="0"/>
                  </a:rPr>
                  <a:t>CPU Utilization = (1-</a:t>
                </a:r>
                <a:r>
                  <a:rPr lang="en-IN" sz="1800" dirty="0">
                    <a:cs typeface="Times New Roman" panose="02020603050405020304" pitchFamily="18" charset="0"/>
                  </a:rPr>
                  <a:t> </a:t>
                </a:r>
                <a14:m>
                  <m:oMath xmlns:m="http://schemas.openxmlformats.org/officeDocument/2006/math">
                    <m:sSup>
                      <m:sSupPr>
                        <m:ctrlPr>
                          <a:rPr lang="en-IN" sz="1800" i="1" smtClean="0">
                            <a:latin typeface="Cambria Math" panose="02040503050406030204" pitchFamily="18" charset="0"/>
                            <a:cs typeface="Times New Roman" panose="02020603050405020304" pitchFamily="18" charset="0"/>
                          </a:rPr>
                        </m:ctrlPr>
                      </m:sSupPr>
                      <m:e>
                        <m:r>
                          <a:rPr lang="en-IN" sz="1800" b="0" i="1" smtClean="0">
                            <a:latin typeface="Cambria Math" panose="02040503050406030204" pitchFamily="18" charset="0"/>
                            <a:cs typeface="Times New Roman" panose="02020603050405020304" pitchFamily="18" charset="0"/>
                          </a:rPr>
                          <m:t>𝑃</m:t>
                        </m:r>
                      </m:e>
                      <m:sup>
                        <m:r>
                          <a:rPr lang="en-IN" sz="1800" b="0" i="1" smtClean="0">
                            <a:latin typeface="Cambria Math" panose="02040503050406030204" pitchFamily="18" charset="0"/>
                            <a:cs typeface="Times New Roman" panose="02020603050405020304" pitchFamily="18" charset="0"/>
                          </a:rPr>
                          <m:t>8</m:t>
                        </m:r>
                      </m:sup>
                    </m:sSup>
                  </m:oMath>
                </a14:m>
                <a:r>
                  <a:rPr lang="en-IN" sz="1800" dirty="0">
                    <a:solidFill>
                      <a:srgbClr val="FF0000"/>
                    </a:solidFill>
                    <a:latin typeface="Times New Roman" panose="02020603050405020304" pitchFamily="18" charset="0"/>
                    <a:cs typeface="Times New Roman" panose="02020603050405020304" pitchFamily="18" charset="0"/>
                  </a:rPr>
                  <a:t>) = (1 – </a:t>
                </a:r>
                <a14:m>
                  <m:oMath xmlns:m="http://schemas.openxmlformats.org/officeDocument/2006/math">
                    <m:sSup>
                      <m:sSupPr>
                        <m:ctrlPr>
                          <a:rPr lang="en-IN" sz="1800" i="1">
                            <a:latin typeface="Cambria Math" panose="02040503050406030204" pitchFamily="18" charset="0"/>
                            <a:cs typeface="Times New Roman" panose="02020603050405020304" pitchFamily="18" charset="0"/>
                          </a:rPr>
                        </m:ctrlPr>
                      </m:sSupPr>
                      <m:e>
                        <m:r>
                          <m:rPr>
                            <m:nor/>
                          </m:rPr>
                          <a:rPr lang="en-IN" sz="1800" dirty="0">
                            <a:solidFill>
                              <a:srgbClr val="FF0000"/>
                            </a:solidFill>
                            <a:latin typeface="Times New Roman" panose="02020603050405020304" pitchFamily="18" charset="0"/>
                            <a:cs typeface="Times New Roman" panose="02020603050405020304" pitchFamily="18" charset="0"/>
                          </a:rPr>
                          <m:t>(</m:t>
                        </m:r>
                        <m:f>
                          <m:fPr>
                            <m:ctrlPr>
                              <a:rPr lang="en-IN" sz="1800" i="1">
                                <a:solidFill>
                                  <a:srgbClr val="FF0000"/>
                                </a:solidFill>
                                <a:latin typeface="Cambria Math" panose="02040503050406030204" pitchFamily="18" charset="0"/>
                                <a:cs typeface="Times New Roman" panose="02020603050405020304" pitchFamily="18" charset="0"/>
                              </a:rPr>
                            </m:ctrlPr>
                          </m:fPr>
                          <m:num>
                            <m:r>
                              <a:rPr lang="en-IN" sz="1800" i="1">
                                <a:solidFill>
                                  <a:srgbClr val="FF0000"/>
                                </a:solidFill>
                                <a:latin typeface="Cambria Math" panose="02040503050406030204" pitchFamily="18" charset="0"/>
                                <a:cs typeface="Times New Roman" panose="02020603050405020304" pitchFamily="18" charset="0"/>
                              </a:rPr>
                              <m:t>80</m:t>
                            </m:r>
                          </m:num>
                          <m:den>
                            <m:r>
                              <a:rPr lang="en-IN" sz="1800" i="1">
                                <a:solidFill>
                                  <a:srgbClr val="FF0000"/>
                                </a:solidFill>
                                <a:latin typeface="Cambria Math" panose="02040503050406030204" pitchFamily="18" charset="0"/>
                                <a:cs typeface="Times New Roman" panose="02020603050405020304" pitchFamily="18" charset="0"/>
                              </a:rPr>
                              <m:t>100</m:t>
                            </m:r>
                          </m:den>
                        </m:f>
                        <m:r>
                          <m:rPr>
                            <m:nor/>
                          </m:rPr>
                          <a:rPr lang="en-IN" sz="1800" dirty="0">
                            <a:solidFill>
                              <a:srgbClr val="FF0000"/>
                            </a:solidFill>
                            <a:latin typeface="Times New Roman" panose="02020603050405020304" pitchFamily="18" charset="0"/>
                            <a:cs typeface="Times New Roman" panose="02020603050405020304" pitchFamily="18" charset="0"/>
                          </a:rPr>
                          <m:t>)</m:t>
                        </m:r>
                      </m:e>
                      <m:sup>
                        <m:r>
                          <a:rPr lang="en-IN" sz="1800" b="0" i="1" dirty="0" smtClean="0">
                            <a:solidFill>
                              <a:srgbClr val="FF0000"/>
                            </a:solidFill>
                            <a:latin typeface="Cambria Math" panose="02040503050406030204" pitchFamily="18" charset="0"/>
                            <a:cs typeface="Times New Roman" panose="02020603050405020304" pitchFamily="18" charset="0"/>
                          </a:rPr>
                          <m:t>8</m:t>
                        </m:r>
                      </m:sup>
                    </m:sSup>
                    <m:r>
                      <a:rPr lang="en-IN" sz="1800" i="1">
                        <a:latin typeface="Cambria Math" panose="02040503050406030204" pitchFamily="18" charset="0"/>
                        <a:cs typeface="Times New Roman" panose="02020603050405020304" pitchFamily="18" charset="0"/>
                      </a:rPr>
                      <m:t> </m:t>
                    </m:r>
                  </m:oMath>
                </a14:m>
                <a:r>
                  <a:rPr lang="en-IN" sz="1800" dirty="0">
                    <a:solidFill>
                      <a:srgbClr val="FF0000"/>
                    </a:solidFill>
                    <a:latin typeface="Times New Roman" panose="02020603050405020304" pitchFamily="18" charset="0"/>
                    <a:cs typeface="Times New Roman" panose="02020603050405020304" pitchFamily="18" charset="0"/>
                  </a:rPr>
                  <a:t>) = 83%</a:t>
                </a:r>
              </a:p>
              <a:p>
                <a:endParaRPr lang="en-IN" sz="1800" dirty="0">
                  <a:solidFill>
                    <a:srgbClr val="FF0000"/>
                  </a:solidFill>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So, utilization has increased from 20% to 83%, by increasing number of processes from 1 to 8.</a:t>
                </a:r>
              </a:p>
            </p:txBody>
          </p:sp>
        </mc:Choice>
        <mc:Fallback xmlns="">
          <p:sp>
            <p:nvSpPr>
              <p:cNvPr id="2" name="Content Placeholder 1">
                <a:extLst>
                  <a:ext uri="{FF2B5EF4-FFF2-40B4-BE49-F238E27FC236}">
                    <a16:creationId xmlns:a16="http://schemas.microsoft.com/office/drawing/2014/main" id="{16DA1ADC-A72E-7F8A-4997-EDD75344805F}"/>
                  </a:ext>
                </a:extLst>
              </p:cNvPr>
              <p:cNvSpPr>
                <a:spLocks noGrp="1" noRot="1" noChangeAspect="1" noMove="1" noResize="1" noEditPoints="1" noAdjustHandles="1" noChangeArrowheads="1" noChangeShapeType="1" noTextEdit="1"/>
              </p:cNvSpPr>
              <p:nvPr>
                <p:ph idx="1"/>
              </p:nvPr>
            </p:nvSpPr>
            <p:spPr>
              <a:xfrm>
                <a:off x="508000" y="909828"/>
                <a:ext cx="10541000" cy="4767072"/>
              </a:xfrm>
              <a:blipFill>
                <a:blip r:embed="rId2"/>
                <a:stretch>
                  <a:fillRect l="-347" t="-1151"/>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C53C4B5A-0BBA-259C-AED4-569874C8C5AE}"/>
              </a:ext>
            </a:extLst>
          </p:cNvPr>
          <p:cNvSpPr>
            <a:spLocks noGrp="1"/>
          </p:cNvSpPr>
          <p:nvPr>
            <p:ph type="title"/>
          </p:nvPr>
        </p:nvSpPr>
        <p:spPr>
          <a:xfrm>
            <a:off x="304800" y="0"/>
            <a:ext cx="7086600" cy="1325563"/>
          </a:xfrm>
        </p:spPr>
        <p:txBody>
          <a:bodyPr>
            <a:normAutofit/>
          </a:bodyPr>
          <a:lstStyle/>
          <a:p>
            <a:r>
              <a:rPr lang="en-IN" dirty="0"/>
              <a:t>Size of MM vs. CPU Efficiency</a:t>
            </a:r>
          </a:p>
        </p:txBody>
      </p:sp>
    </p:spTree>
    <p:extLst>
      <p:ext uri="{BB962C8B-B14F-4D97-AF65-F5344CB8AC3E}">
        <p14:creationId xmlns:p14="http://schemas.microsoft.com/office/powerpoint/2010/main" val="34391739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16DA1ADC-A72E-7F8A-4997-EDD75344805F}"/>
                  </a:ext>
                </a:extLst>
              </p:cNvPr>
              <p:cNvSpPr>
                <a:spLocks noGrp="1"/>
              </p:cNvSpPr>
              <p:nvPr>
                <p:ph idx="1"/>
              </p:nvPr>
            </p:nvSpPr>
            <p:spPr>
              <a:xfrm>
                <a:off x="495300" y="1278128"/>
                <a:ext cx="11290300" cy="3738372"/>
              </a:xfrm>
            </p:spPr>
            <p:txBody>
              <a:bodyPr>
                <a:normAutofit/>
              </a:bodyPr>
              <a:lstStyle/>
              <a:p>
                <a:r>
                  <a:rPr lang="en-IN" sz="2000" dirty="0">
                    <a:solidFill>
                      <a:srgbClr val="0070C0"/>
                    </a:solidFill>
                    <a:latin typeface="Times New Roman" panose="02020603050405020304" pitchFamily="18" charset="0"/>
                    <a:cs typeface="Times New Roman" panose="02020603050405020304" pitchFamily="18" charset="0"/>
                  </a:rPr>
                  <a:t>Conclusion: </a:t>
                </a:r>
                <a:r>
                  <a:rPr lang="en-IN" sz="2000" dirty="0">
                    <a:latin typeface="Times New Roman" panose="02020603050405020304" pitchFamily="18" charset="0"/>
                    <a:cs typeface="Times New Roman" panose="02020603050405020304" pitchFamily="18" charset="0"/>
                  </a:rPr>
                  <a:t>CPU utilization is not going to increase linearly with the increase in main memory.</a:t>
                </a:r>
              </a:p>
              <a:p>
                <a:pPr marL="109728" indent="0">
                  <a:buNone/>
                </a:pP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As </a:t>
                </a:r>
                <a:r>
                  <a:rPr lang="en-IN" sz="2000" dirty="0">
                    <a:solidFill>
                      <a:srgbClr val="FF0000"/>
                    </a:solidFill>
                    <a:latin typeface="Times New Roman" panose="02020603050405020304" pitchFamily="18" charset="0"/>
                    <a:cs typeface="Times New Roman" panose="02020603050405020304" pitchFamily="18" charset="0"/>
                  </a:rPr>
                  <a:t>CPU Utilization = (1-</a:t>
                </a:r>
                <a:r>
                  <a:rPr lang="en-IN" sz="2000" dirty="0">
                    <a:solidFill>
                      <a:srgbClr val="FF0000"/>
                    </a:solidFill>
                    <a:cs typeface="Times New Roman" panose="02020603050405020304" pitchFamily="18" charset="0"/>
                  </a:rPr>
                  <a:t> </a:t>
                </a:r>
                <a14:m>
                  <m:oMath xmlns:m="http://schemas.openxmlformats.org/officeDocument/2006/math">
                    <m:sSup>
                      <m:sSupPr>
                        <m:ctrlPr>
                          <a:rPr lang="en-IN" sz="2000" i="1" smtClean="0">
                            <a:solidFill>
                              <a:srgbClr val="FF0000"/>
                            </a:solidFill>
                            <a:latin typeface="Cambria Math" panose="02040503050406030204" pitchFamily="18" charset="0"/>
                            <a:cs typeface="Times New Roman" panose="02020603050405020304" pitchFamily="18" charset="0"/>
                          </a:rPr>
                        </m:ctrlPr>
                      </m:sSupPr>
                      <m:e>
                        <m:r>
                          <a:rPr lang="en-IN" sz="2000" b="0" i="1" smtClean="0">
                            <a:solidFill>
                              <a:srgbClr val="FF0000"/>
                            </a:solidFill>
                            <a:latin typeface="Cambria Math" panose="02040503050406030204" pitchFamily="18" charset="0"/>
                            <a:cs typeface="Times New Roman" panose="02020603050405020304" pitchFamily="18" charset="0"/>
                          </a:rPr>
                          <m:t>𝑃</m:t>
                        </m:r>
                      </m:e>
                      <m:sup>
                        <m:r>
                          <a:rPr lang="en-IN" sz="2000" b="0" i="1" smtClean="0">
                            <a:solidFill>
                              <a:srgbClr val="FF0000"/>
                            </a:solidFill>
                            <a:latin typeface="Cambria Math" panose="02040503050406030204" pitchFamily="18" charset="0"/>
                            <a:cs typeface="Times New Roman" panose="02020603050405020304" pitchFamily="18" charset="0"/>
                          </a:rPr>
                          <m:t>𝑛</m:t>
                        </m:r>
                      </m:sup>
                    </m:sSup>
                  </m:oMath>
                </a14:m>
                <a:r>
                  <a:rPr lang="en-IN" sz="2000" dirty="0">
                    <a:solidFill>
                      <a:srgbClr val="FF0000"/>
                    </a:solidFill>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where “n” is the number of processes that are present at any time in main memory.</a:t>
                </a:r>
              </a:p>
              <a:p>
                <a:endParaRPr lang="en-IN" sz="2000" dirty="0">
                  <a:solidFill>
                    <a:srgbClr val="FF0000"/>
                  </a:solidFill>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Hence, CPU Utilization increases with the </a:t>
                </a:r>
                <a:r>
                  <a:rPr lang="en-IN" sz="2000" dirty="0">
                    <a:solidFill>
                      <a:srgbClr val="FF0000"/>
                    </a:solidFill>
                    <a:latin typeface="Times New Roman" panose="02020603050405020304" pitchFamily="18" charset="0"/>
                    <a:cs typeface="Times New Roman" panose="02020603050405020304" pitchFamily="18" charset="0"/>
                  </a:rPr>
                  <a:t>Degree of Multiprogramming</a:t>
                </a:r>
                <a:r>
                  <a:rPr lang="en-IN" sz="2000" dirty="0">
                    <a:latin typeface="Times New Roman" panose="02020603050405020304" pitchFamily="18" charset="0"/>
                    <a:cs typeface="Times New Roman" panose="02020603050405020304" pitchFamily="18" charset="0"/>
                  </a:rPr>
                  <a:t>.</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So, MM is all about , how to increase the CPU utilization by putting as many processes in the main memory as possible.</a:t>
                </a:r>
              </a:p>
            </p:txBody>
          </p:sp>
        </mc:Choice>
        <mc:Fallback xmlns="">
          <p:sp>
            <p:nvSpPr>
              <p:cNvPr id="2" name="Content Placeholder 1">
                <a:extLst>
                  <a:ext uri="{FF2B5EF4-FFF2-40B4-BE49-F238E27FC236}">
                    <a16:creationId xmlns:a16="http://schemas.microsoft.com/office/drawing/2014/main" id="{16DA1ADC-A72E-7F8A-4997-EDD75344805F}"/>
                  </a:ext>
                </a:extLst>
              </p:cNvPr>
              <p:cNvSpPr>
                <a:spLocks noGrp="1" noRot="1" noChangeAspect="1" noMove="1" noResize="1" noEditPoints="1" noAdjustHandles="1" noChangeArrowheads="1" noChangeShapeType="1" noTextEdit="1"/>
              </p:cNvSpPr>
              <p:nvPr>
                <p:ph idx="1"/>
              </p:nvPr>
            </p:nvSpPr>
            <p:spPr>
              <a:xfrm>
                <a:off x="495300" y="1278128"/>
                <a:ext cx="11290300" cy="3738372"/>
              </a:xfrm>
              <a:blipFill>
                <a:blip r:embed="rId2"/>
                <a:stretch>
                  <a:fillRect l="-486" t="-1794"/>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C53C4B5A-0BBA-259C-AED4-569874C8C5AE}"/>
              </a:ext>
            </a:extLst>
          </p:cNvPr>
          <p:cNvSpPr>
            <a:spLocks noGrp="1"/>
          </p:cNvSpPr>
          <p:nvPr>
            <p:ph type="title"/>
          </p:nvPr>
        </p:nvSpPr>
        <p:spPr>
          <a:xfrm>
            <a:off x="165100" y="155765"/>
            <a:ext cx="7048500" cy="1325563"/>
          </a:xfrm>
        </p:spPr>
        <p:txBody>
          <a:bodyPr>
            <a:normAutofit/>
          </a:bodyPr>
          <a:lstStyle/>
          <a:p>
            <a:r>
              <a:rPr lang="en-IN" dirty="0"/>
              <a:t>Size of MM vs. CPU Efficiency</a:t>
            </a:r>
          </a:p>
        </p:txBody>
      </p:sp>
    </p:spTree>
    <p:extLst>
      <p:ext uri="{BB962C8B-B14F-4D97-AF65-F5344CB8AC3E}">
        <p14:creationId xmlns:p14="http://schemas.microsoft.com/office/powerpoint/2010/main" val="38832142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6DA1ADC-A72E-7F8A-4997-EDD75344805F}"/>
              </a:ext>
            </a:extLst>
          </p:cNvPr>
          <p:cNvSpPr>
            <a:spLocks noGrp="1"/>
          </p:cNvSpPr>
          <p:nvPr>
            <p:ph idx="1"/>
          </p:nvPr>
        </p:nvSpPr>
        <p:spPr>
          <a:xfrm>
            <a:off x="685800" y="1494028"/>
            <a:ext cx="10871200" cy="4767072"/>
          </a:xfrm>
        </p:spPr>
        <p:txBody>
          <a:bodyPr>
            <a:normAutofit/>
          </a:bodyPr>
          <a:lstStyle/>
          <a:p>
            <a:pPr algn="just"/>
            <a:r>
              <a:rPr lang="en-IN" dirty="0">
                <a:latin typeface="Times New Roman" panose="02020603050405020304" pitchFamily="18" charset="0"/>
                <a:cs typeface="Times New Roman" panose="02020603050405020304" pitchFamily="18" charset="0"/>
              </a:rPr>
              <a:t>When more than one processes are present </a:t>
            </a:r>
            <a:r>
              <a:rPr lang="en-IN" dirty="0">
                <a:solidFill>
                  <a:srgbClr val="0070C0"/>
                </a:solidFill>
                <a:latin typeface="Times New Roman" panose="02020603050405020304" pitchFamily="18" charset="0"/>
                <a:cs typeface="Times New Roman" panose="02020603050405020304" pitchFamily="18" charset="0"/>
              </a:rPr>
              <a:t>simultaneously</a:t>
            </a:r>
            <a:r>
              <a:rPr lang="en-IN" dirty="0">
                <a:latin typeface="Times New Roman" panose="02020603050405020304" pitchFamily="18" charset="0"/>
                <a:cs typeface="Times New Roman" panose="02020603050405020304" pitchFamily="18" charset="0"/>
              </a:rPr>
              <a:t> in the Main Memory, then: </a:t>
            </a:r>
          </a:p>
          <a:p>
            <a:pPr algn="just"/>
            <a:r>
              <a:rPr lang="en-IN" dirty="0">
                <a:solidFill>
                  <a:srgbClr val="FF0000"/>
                </a:solidFill>
                <a:latin typeface="Times New Roman" panose="02020603050405020304" pitchFamily="18" charset="0"/>
                <a:cs typeface="Times New Roman" panose="02020603050405020304" pitchFamily="18" charset="0"/>
              </a:rPr>
              <a:t>How much memory </a:t>
            </a:r>
            <a:r>
              <a:rPr lang="en-IN" dirty="0">
                <a:latin typeface="Times New Roman" panose="02020603050405020304" pitchFamily="18" charset="0"/>
                <a:cs typeface="Times New Roman" panose="02020603050405020304" pitchFamily="18" charset="0"/>
              </a:rPr>
              <a:t>space to be allocated to each process.</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How we are going to </a:t>
            </a:r>
            <a:r>
              <a:rPr lang="en-IN" dirty="0">
                <a:solidFill>
                  <a:srgbClr val="FF0000"/>
                </a:solidFill>
                <a:latin typeface="Times New Roman" panose="02020603050405020304" pitchFamily="18" charset="0"/>
                <a:cs typeface="Times New Roman" panose="02020603050405020304" pitchFamily="18" charset="0"/>
              </a:rPr>
              <a:t>Allocate</a:t>
            </a:r>
            <a:r>
              <a:rPr lang="en-IN" dirty="0">
                <a:latin typeface="Times New Roman" panose="02020603050405020304" pitchFamily="18" charset="0"/>
                <a:cs typeface="Times New Roman" panose="02020603050405020304" pitchFamily="18" charset="0"/>
              </a:rPr>
              <a:t> that space.</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How we are going to </a:t>
            </a:r>
            <a:r>
              <a:rPr lang="en-IN" dirty="0">
                <a:solidFill>
                  <a:srgbClr val="FF0000"/>
                </a:solidFill>
                <a:latin typeface="Times New Roman" panose="02020603050405020304" pitchFamily="18" charset="0"/>
                <a:cs typeface="Times New Roman" panose="02020603050405020304" pitchFamily="18" charset="0"/>
              </a:rPr>
              <a:t>De-Allocate</a:t>
            </a:r>
            <a:r>
              <a:rPr lang="en-IN" dirty="0">
                <a:latin typeface="Times New Roman" panose="02020603050405020304" pitchFamily="18" charset="0"/>
                <a:cs typeface="Times New Roman" panose="02020603050405020304" pitchFamily="18" charset="0"/>
              </a:rPr>
              <a:t> that Space.</a:t>
            </a:r>
          </a:p>
        </p:txBody>
      </p:sp>
      <p:sp>
        <p:nvSpPr>
          <p:cNvPr id="3" name="Title 2">
            <a:extLst>
              <a:ext uri="{FF2B5EF4-FFF2-40B4-BE49-F238E27FC236}">
                <a16:creationId xmlns:a16="http://schemas.microsoft.com/office/drawing/2014/main" id="{C53C4B5A-0BBA-259C-AED4-569874C8C5AE}"/>
              </a:ext>
            </a:extLst>
          </p:cNvPr>
          <p:cNvSpPr>
            <a:spLocks noGrp="1"/>
          </p:cNvSpPr>
          <p:nvPr>
            <p:ph type="title"/>
          </p:nvPr>
        </p:nvSpPr>
        <p:spPr/>
        <p:txBody>
          <a:bodyPr>
            <a:normAutofit/>
          </a:bodyPr>
          <a:lstStyle/>
          <a:p>
            <a:r>
              <a:rPr lang="en-IN" dirty="0"/>
              <a:t>Problem</a:t>
            </a:r>
          </a:p>
        </p:txBody>
      </p:sp>
    </p:spTree>
    <p:extLst>
      <p:ext uri="{BB962C8B-B14F-4D97-AF65-F5344CB8AC3E}">
        <p14:creationId xmlns:p14="http://schemas.microsoft.com/office/powerpoint/2010/main" val="20748656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6DA1ADC-A72E-7F8A-4997-EDD75344805F}"/>
              </a:ext>
            </a:extLst>
          </p:cNvPr>
          <p:cNvSpPr>
            <a:spLocks noGrp="1"/>
          </p:cNvSpPr>
          <p:nvPr>
            <p:ph idx="1"/>
          </p:nvPr>
        </p:nvSpPr>
        <p:spPr>
          <a:xfrm>
            <a:off x="512164" y="1298766"/>
            <a:ext cx="8229600" cy="4767072"/>
          </a:xfrm>
        </p:spPr>
        <p:txBody>
          <a:bodyPr>
            <a:normAutofit/>
          </a:bodyPr>
          <a:lstStyle/>
          <a:p>
            <a:pPr algn="just"/>
            <a:r>
              <a:rPr lang="en-IN" sz="2400" dirty="0">
                <a:latin typeface="Times New Roman" panose="02020603050405020304" pitchFamily="18" charset="0"/>
                <a:cs typeface="Times New Roman" panose="02020603050405020304" pitchFamily="18" charset="0"/>
              </a:rPr>
              <a:t>1. Access Time </a:t>
            </a:r>
            <a:r>
              <a:rPr lang="en-IN" sz="2400" dirty="0">
                <a:latin typeface="Times New Roman" panose="02020603050405020304" pitchFamily="18" charset="0"/>
                <a:cs typeface="Times New Roman" panose="02020603050405020304" pitchFamily="18" charset="0"/>
                <a:sym typeface="Wingdings" panose="05000000000000000000" pitchFamily="2" charset="2"/>
              </a:rPr>
              <a:t></a:t>
            </a:r>
            <a:r>
              <a:rPr lang="en-IN" sz="2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Less  </a:t>
            </a:r>
            <a:r>
              <a:rPr lang="en-IN" sz="2400" dirty="0">
                <a:latin typeface="Times New Roman" panose="02020603050405020304" pitchFamily="18" charset="0"/>
                <a:cs typeface="Times New Roman" panose="02020603050405020304" pitchFamily="18" charset="0"/>
                <a:sym typeface="Wingdings" panose="05000000000000000000" pitchFamily="2" charset="2"/>
              </a:rPr>
              <a:t>(Fast Access)</a:t>
            </a:r>
          </a:p>
          <a:p>
            <a:pPr algn="just"/>
            <a:endParaRPr lang="en-IN" sz="2400" dirty="0">
              <a:latin typeface="Times New Roman" panose="02020603050405020304" pitchFamily="18" charset="0"/>
              <a:cs typeface="Times New Roman" panose="02020603050405020304" pitchFamily="18" charset="0"/>
              <a:sym typeface="Wingdings" panose="05000000000000000000" pitchFamily="2" charset="2"/>
            </a:endParaRPr>
          </a:p>
          <a:p>
            <a:pPr algn="just"/>
            <a:r>
              <a:rPr lang="en-IN" sz="2400" dirty="0">
                <a:latin typeface="Times New Roman" panose="02020603050405020304" pitchFamily="18" charset="0"/>
                <a:cs typeface="Times New Roman" panose="02020603050405020304" pitchFamily="18" charset="0"/>
                <a:sym typeface="Wingdings" panose="05000000000000000000" pitchFamily="2" charset="2"/>
              </a:rPr>
              <a:t>2. Memory Size </a:t>
            </a:r>
            <a:r>
              <a:rPr lang="en-IN" sz="2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Large  </a:t>
            </a:r>
          </a:p>
          <a:p>
            <a:pPr marL="109728" indent="0" algn="just">
              <a:buNone/>
            </a:pPr>
            <a:r>
              <a:rPr lang="en-IN" sz="2400" dirty="0">
                <a:latin typeface="Times New Roman" panose="02020603050405020304" pitchFamily="18" charset="0"/>
                <a:cs typeface="Times New Roman" panose="02020603050405020304" pitchFamily="18" charset="0"/>
                <a:sym typeface="Wingdings" panose="05000000000000000000" pitchFamily="2" charset="2"/>
              </a:rPr>
              <a:t>	(when size is increased access time also increases)</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3. Cost per Unit area </a:t>
            </a:r>
            <a:r>
              <a:rPr lang="en-IN" sz="2400" dirty="0">
                <a:latin typeface="Times New Roman" panose="02020603050405020304" pitchFamily="18" charset="0"/>
                <a:cs typeface="Times New Roman" panose="02020603050405020304" pitchFamily="18" charset="0"/>
                <a:sym typeface="Wingdings" panose="05000000000000000000" pitchFamily="2" charset="2"/>
              </a:rPr>
              <a:t> </a:t>
            </a:r>
            <a:r>
              <a:rPr lang="en-IN" sz="2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Low</a:t>
            </a:r>
            <a:endParaRPr lang="en-IN" sz="2400" dirty="0">
              <a:latin typeface="Times New Roman" panose="02020603050405020304" pitchFamily="18" charset="0"/>
              <a:cs typeface="Times New Roman" panose="02020603050405020304" pitchFamily="18" charset="0"/>
            </a:endParaRPr>
          </a:p>
          <a:p>
            <a:pPr marL="109728" indent="0" algn="just">
              <a:buNone/>
            </a:pP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C53C4B5A-0BBA-259C-AED4-569874C8C5AE}"/>
              </a:ext>
            </a:extLst>
          </p:cNvPr>
          <p:cNvSpPr>
            <a:spLocks noGrp="1"/>
          </p:cNvSpPr>
          <p:nvPr>
            <p:ph type="title"/>
          </p:nvPr>
        </p:nvSpPr>
        <p:spPr>
          <a:xfrm>
            <a:off x="512164" y="373446"/>
            <a:ext cx="5583836" cy="715962"/>
          </a:xfrm>
        </p:spPr>
        <p:txBody>
          <a:bodyPr>
            <a:normAutofit/>
          </a:bodyPr>
          <a:lstStyle/>
          <a:p>
            <a:r>
              <a:rPr lang="en-IN" dirty="0"/>
              <a:t>Memory Criteria:</a:t>
            </a:r>
          </a:p>
        </p:txBody>
      </p:sp>
      <p:pic>
        <p:nvPicPr>
          <p:cNvPr id="5" name="Picture 4" descr="A diagram of a memory&#10;&#10;Description automatically generated">
            <a:extLst>
              <a:ext uri="{FF2B5EF4-FFF2-40B4-BE49-F238E27FC236}">
                <a16:creationId xmlns:a16="http://schemas.microsoft.com/office/drawing/2014/main" id="{E3B1F7B0-45D6-9224-3BB9-BBCECC9B08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0035" y="4197246"/>
            <a:ext cx="8892111" cy="2077950"/>
          </a:xfrm>
          <a:prstGeom prst="rect">
            <a:avLst/>
          </a:prstGeom>
        </p:spPr>
      </p:pic>
    </p:spTree>
    <p:extLst>
      <p:ext uri="{BB962C8B-B14F-4D97-AF65-F5344CB8AC3E}">
        <p14:creationId xmlns:p14="http://schemas.microsoft.com/office/powerpoint/2010/main" val="17935840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6DA1ADC-A72E-7F8A-4997-EDD75344805F}"/>
              </a:ext>
            </a:extLst>
          </p:cNvPr>
          <p:cNvSpPr>
            <a:spLocks noGrp="1"/>
          </p:cNvSpPr>
          <p:nvPr>
            <p:ph idx="1"/>
          </p:nvPr>
        </p:nvSpPr>
        <p:spPr>
          <a:xfrm>
            <a:off x="572123" y="1376397"/>
            <a:ext cx="11075233" cy="4767072"/>
          </a:xfrm>
        </p:spPr>
        <p:txBody>
          <a:bodyPr>
            <a:normAutofit/>
          </a:bodyPr>
          <a:lstStyle/>
          <a:p>
            <a:pPr algn="just"/>
            <a:r>
              <a:rPr lang="en-IN" dirty="0">
                <a:latin typeface="Times New Roman" panose="02020603050405020304" pitchFamily="18" charset="0"/>
                <a:cs typeface="Times New Roman" panose="02020603050405020304" pitchFamily="18" charset="0"/>
              </a:rPr>
              <a:t>Normally, the instructions are run in a sequential manner. </a:t>
            </a:r>
          </a:p>
          <a:p>
            <a:pPr algn="just"/>
            <a:endParaRPr lang="en-IN" dirty="0">
              <a:latin typeface="Times New Roman" panose="02020603050405020304" pitchFamily="18" charset="0"/>
              <a:cs typeface="Times New Roman" panose="02020603050405020304" pitchFamily="18" charset="0"/>
              <a:sym typeface="Wingdings" panose="05000000000000000000" pitchFamily="2" charset="2"/>
            </a:endParaRPr>
          </a:p>
          <a:p>
            <a:pPr algn="just"/>
            <a:r>
              <a:rPr lang="en-IN" dirty="0">
                <a:latin typeface="Times New Roman" panose="02020603050405020304" pitchFamily="18" charset="0"/>
                <a:cs typeface="Times New Roman" panose="02020603050405020304" pitchFamily="18" charset="0"/>
                <a:sym typeface="Wingdings" panose="05000000000000000000" pitchFamily="2" charset="2"/>
              </a:rPr>
              <a:t>Next coming possible instructions are shifted from secondary memory &amp; placed in part of main memory.</a:t>
            </a:r>
          </a:p>
          <a:p>
            <a:pPr algn="just"/>
            <a:endParaRPr lang="en-IN" dirty="0">
              <a:latin typeface="Times New Roman" panose="02020603050405020304" pitchFamily="18" charset="0"/>
              <a:cs typeface="Times New Roman" panose="02020603050405020304" pitchFamily="18" charset="0"/>
              <a:sym typeface="Wingdings" panose="05000000000000000000" pitchFamily="2" charset="2"/>
            </a:endParaRPr>
          </a:p>
          <a:p>
            <a:pPr algn="just"/>
            <a:r>
              <a:rPr lang="en-IN" dirty="0">
                <a:latin typeface="Times New Roman" panose="02020603050405020304" pitchFamily="18" charset="0"/>
                <a:cs typeface="Times New Roman" panose="02020603050405020304" pitchFamily="18" charset="0"/>
                <a:sym typeface="Wingdings" panose="05000000000000000000" pitchFamily="2" charset="2"/>
              </a:rPr>
              <a:t>Hence, for most frequently used instructions we use cache memory.</a:t>
            </a:r>
          </a:p>
          <a:p>
            <a:pPr algn="just"/>
            <a:endParaRPr lang="en-IN" dirty="0">
              <a:latin typeface="Times New Roman" panose="02020603050405020304" pitchFamily="18" charset="0"/>
              <a:cs typeface="Times New Roman" panose="02020603050405020304" pitchFamily="18" charset="0"/>
              <a:sym typeface="Wingdings" panose="05000000000000000000" pitchFamily="2" charset="2"/>
            </a:endParaRPr>
          </a:p>
          <a:p>
            <a:pPr algn="just"/>
            <a:r>
              <a:rPr lang="en-IN" dirty="0">
                <a:latin typeface="Times New Roman" panose="02020603050405020304" pitchFamily="18" charset="0"/>
                <a:cs typeface="Times New Roman" panose="02020603050405020304" pitchFamily="18" charset="0"/>
                <a:sym typeface="Wingdings" panose="05000000000000000000" pitchFamily="2" charset="2"/>
              </a:rPr>
              <a:t> Average Access time = h x (MM) + (1-h) x (Miss penalty)</a:t>
            </a:r>
          </a:p>
          <a:p>
            <a:pPr algn="just"/>
            <a:endParaRPr lang="en-IN" dirty="0">
              <a:latin typeface="Times New Roman" panose="02020603050405020304" pitchFamily="18" charset="0"/>
              <a:cs typeface="Times New Roman" panose="02020603050405020304" pitchFamily="18" charset="0"/>
              <a:sym typeface="Wingdings" panose="05000000000000000000" pitchFamily="2" charset="2"/>
            </a:endParaRPr>
          </a:p>
          <a:p>
            <a:pPr marL="109728" indent="0" algn="just">
              <a:buNone/>
            </a:pPr>
            <a:endParaRPr lang="en-IN" dirty="0">
              <a:latin typeface="Times New Roman" panose="02020603050405020304" pitchFamily="18" charset="0"/>
              <a:cs typeface="Times New Roman" panose="02020603050405020304" pitchFamily="18" charset="0"/>
            </a:endParaRPr>
          </a:p>
          <a:p>
            <a:pPr marL="109728" indent="0" algn="just">
              <a:buNone/>
            </a:pPr>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C53C4B5A-0BBA-259C-AED4-569874C8C5AE}"/>
              </a:ext>
            </a:extLst>
          </p:cNvPr>
          <p:cNvSpPr>
            <a:spLocks noGrp="1"/>
          </p:cNvSpPr>
          <p:nvPr>
            <p:ph type="title"/>
          </p:nvPr>
        </p:nvSpPr>
        <p:spPr>
          <a:xfrm>
            <a:off x="692046" y="356550"/>
            <a:ext cx="8229600" cy="715962"/>
          </a:xfrm>
        </p:spPr>
        <p:txBody>
          <a:bodyPr>
            <a:normAutofit/>
          </a:bodyPr>
          <a:lstStyle/>
          <a:p>
            <a:r>
              <a:rPr lang="en-IN" dirty="0"/>
              <a:t>Multiprogramming benefits</a:t>
            </a:r>
          </a:p>
        </p:txBody>
      </p:sp>
    </p:spTree>
    <p:extLst>
      <p:ext uri="{BB962C8B-B14F-4D97-AF65-F5344CB8AC3E}">
        <p14:creationId xmlns:p14="http://schemas.microsoft.com/office/powerpoint/2010/main" val="13605905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AC5C656-C9D4-6502-4864-DBC500083A7C}"/>
              </a:ext>
            </a:extLst>
          </p:cNvPr>
          <p:cNvSpPr txBox="1"/>
          <p:nvPr/>
        </p:nvSpPr>
        <p:spPr>
          <a:xfrm>
            <a:off x="441273" y="182592"/>
            <a:ext cx="3267023" cy="738664"/>
          </a:xfrm>
          <a:prstGeom prst="rect">
            <a:avLst/>
          </a:prstGeom>
          <a:noFill/>
        </p:spPr>
        <p:txBody>
          <a:bodyPr wrap="square">
            <a:spAutoFit/>
          </a:bodyPr>
          <a:lstStyle/>
          <a:p>
            <a:r>
              <a:rPr lang="en-US" sz="2800" b="1" u="sng" dirty="0"/>
              <a:t>Address Binding</a:t>
            </a:r>
          </a:p>
          <a:p>
            <a:endParaRPr lang="en-US" sz="1400" b="1" u="sng" dirty="0"/>
          </a:p>
        </p:txBody>
      </p:sp>
      <p:sp>
        <p:nvSpPr>
          <p:cNvPr id="5" name="TextBox 4">
            <a:extLst>
              <a:ext uri="{FF2B5EF4-FFF2-40B4-BE49-F238E27FC236}">
                <a16:creationId xmlns:a16="http://schemas.microsoft.com/office/drawing/2014/main" id="{A9355E39-898A-8FE6-64F2-8BD37FD79D6B}"/>
              </a:ext>
            </a:extLst>
          </p:cNvPr>
          <p:cNvSpPr txBox="1"/>
          <p:nvPr/>
        </p:nvSpPr>
        <p:spPr>
          <a:xfrm>
            <a:off x="441273" y="671846"/>
            <a:ext cx="11309454" cy="4801314"/>
          </a:xfrm>
          <a:prstGeom prst="rect">
            <a:avLst/>
          </a:prstGeom>
          <a:noFill/>
        </p:spPr>
        <p:txBody>
          <a:bodyPr wrap="square">
            <a:spAutoFit/>
          </a:bodyPr>
          <a:lstStyle/>
          <a:p>
            <a:r>
              <a:rPr kumimoji="0" lang="en-US" altLang="en-US" sz="2400" dirty="0"/>
              <a:t>Address binding of instructions and data to memory addresses can happen at three different stages</a:t>
            </a:r>
          </a:p>
          <a:p>
            <a:pPr lvl="1"/>
            <a:r>
              <a:rPr lang="en-US" altLang="en-US" sz="2400" b="1" dirty="0"/>
              <a:t>Compile time</a:t>
            </a:r>
            <a:r>
              <a:rPr lang="en-US" altLang="en-US" sz="2400" dirty="0"/>
              <a:t>:  If memory location known a priori, </a:t>
            </a:r>
            <a:r>
              <a:rPr lang="en-US" altLang="en-US" sz="2400" b="1" dirty="0">
                <a:solidFill>
                  <a:srgbClr val="006699"/>
                </a:solidFill>
                <a:latin typeface="+mj-lt"/>
              </a:rPr>
              <a:t>absolute code </a:t>
            </a:r>
            <a:r>
              <a:rPr lang="en-US" altLang="en-US" sz="2400" dirty="0"/>
              <a:t>can be generated; must recompile code if starting location changes.</a:t>
            </a:r>
          </a:p>
          <a:p>
            <a:pPr lvl="1"/>
            <a:r>
              <a:rPr lang="en-US" dirty="0"/>
              <a:t>For example, if you know that a user process will reside starting at location R, then the generated compiler code will start at that location and extend up from there. If, at some later time, the starting location changes, then it will be necessary to recompile this code.</a:t>
            </a:r>
          </a:p>
          <a:p>
            <a:pPr lvl="1"/>
            <a:endParaRPr lang="en-US" altLang="en-US" sz="2400" dirty="0"/>
          </a:p>
          <a:p>
            <a:pPr lvl="1"/>
            <a:r>
              <a:rPr lang="en-US" altLang="en-US" sz="2400" b="1" dirty="0"/>
              <a:t>Load time</a:t>
            </a:r>
            <a:r>
              <a:rPr lang="en-US" altLang="en-US" sz="2400" dirty="0"/>
              <a:t>:  </a:t>
            </a:r>
            <a:r>
              <a:rPr lang="en-US" dirty="0"/>
              <a:t>If it is not known at compile time where the process will reside in memory, then the compiler must generate relocatable code. In this case, final binding is delayed until load time. If the starting address changes, we need only reload the user code to incorporate this changed value.</a:t>
            </a:r>
            <a:endParaRPr lang="en-US" altLang="en-US" dirty="0"/>
          </a:p>
          <a:p>
            <a:pPr lvl="1"/>
            <a:r>
              <a:rPr lang="en-US" altLang="en-US" sz="2400" b="1" dirty="0"/>
              <a:t>Execution time</a:t>
            </a:r>
            <a:r>
              <a:rPr lang="en-US" altLang="en-US" sz="2400" dirty="0"/>
              <a:t>:  Binding delayed until run time if the process can be moved during its execution from one memory segment to another.</a:t>
            </a:r>
          </a:p>
          <a:p>
            <a:pPr lvl="2"/>
            <a:r>
              <a:rPr lang="en-US" altLang="en-US" sz="2400" dirty="0"/>
              <a:t>Need hardware support for address maps (e.g., base and limit</a:t>
            </a:r>
            <a:r>
              <a:rPr lang="en-US" altLang="en-US" sz="2400" i="1" dirty="0"/>
              <a:t> </a:t>
            </a:r>
            <a:r>
              <a:rPr lang="en-US" altLang="en-US" sz="2400" dirty="0"/>
              <a:t>registers)</a:t>
            </a:r>
          </a:p>
        </p:txBody>
      </p:sp>
    </p:spTree>
    <p:extLst>
      <p:ext uri="{BB962C8B-B14F-4D97-AF65-F5344CB8AC3E}">
        <p14:creationId xmlns:p14="http://schemas.microsoft.com/office/powerpoint/2010/main" val="28254096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4" descr="8">
            <a:extLst>
              <a:ext uri="{FF2B5EF4-FFF2-40B4-BE49-F238E27FC236}">
                <a16:creationId xmlns:a16="http://schemas.microsoft.com/office/drawing/2014/main" id="{D4AB63EC-334B-C22B-8C7E-F40DA64E1C6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869432" y="807733"/>
            <a:ext cx="3008376" cy="557106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D44029A1-6D28-E0F2-4E8C-908014B28D27}"/>
              </a:ext>
            </a:extLst>
          </p:cNvPr>
          <p:cNvSpPr txBox="1"/>
          <p:nvPr/>
        </p:nvSpPr>
        <p:spPr>
          <a:xfrm>
            <a:off x="1262922" y="274134"/>
            <a:ext cx="6093500" cy="369332"/>
          </a:xfrm>
          <a:prstGeom prst="rect">
            <a:avLst/>
          </a:prstGeom>
          <a:noFill/>
        </p:spPr>
        <p:txBody>
          <a:bodyPr wrap="square">
            <a:spAutoFit/>
          </a:bodyPr>
          <a:lstStyle/>
          <a:p>
            <a:r>
              <a:rPr lang="en-US" altLang="en-US" sz="1800" b="1" dirty="0"/>
              <a:t>Multistep Processing of a User Program </a:t>
            </a:r>
            <a:endParaRPr lang="en-US" b="1" dirty="0"/>
          </a:p>
        </p:txBody>
      </p:sp>
      <p:pic>
        <p:nvPicPr>
          <p:cNvPr id="17" name="Picture 16" descr="A diagram of a diagram&#10;&#10;AI-generated content may be incorrect.">
            <a:extLst>
              <a:ext uri="{FF2B5EF4-FFF2-40B4-BE49-F238E27FC236}">
                <a16:creationId xmlns:a16="http://schemas.microsoft.com/office/drawing/2014/main" id="{8E3AA567-87EC-C7F4-1E2B-797A6888DF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67909" y="1941625"/>
            <a:ext cx="5772956" cy="2105319"/>
          </a:xfrm>
          <a:prstGeom prst="rect">
            <a:avLst/>
          </a:prstGeom>
        </p:spPr>
      </p:pic>
      <p:sp>
        <p:nvSpPr>
          <p:cNvPr id="19" name="TextBox 18">
            <a:extLst>
              <a:ext uri="{FF2B5EF4-FFF2-40B4-BE49-F238E27FC236}">
                <a16:creationId xmlns:a16="http://schemas.microsoft.com/office/drawing/2014/main" id="{0AA4E4DC-501F-8CC4-332E-A2416D8F56F8}"/>
              </a:ext>
            </a:extLst>
          </p:cNvPr>
          <p:cNvSpPr txBox="1"/>
          <p:nvPr/>
        </p:nvSpPr>
        <p:spPr>
          <a:xfrm>
            <a:off x="6096000" y="4046944"/>
            <a:ext cx="6093500" cy="646331"/>
          </a:xfrm>
          <a:prstGeom prst="rect">
            <a:avLst/>
          </a:prstGeom>
          <a:noFill/>
        </p:spPr>
        <p:txBody>
          <a:bodyPr wrap="square">
            <a:spAutoFit/>
          </a:bodyPr>
          <a:lstStyle/>
          <a:p>
            <a:r>
              <a:rPr lang="en-US" b="0" i="0" dirty="0">
                <a:effectLst/>
                <a:latin typeface="__Source_Sans_Pro_23024b"/>
              </a:rPr>
              <a:t>Figure: The figure shows the process of loading a program into the main memory.</a:t>
            </a:r>
            <a:endParaRPr lang="en-US" dirty="0"/>
          </a:p>
        </p:txBody>
      </p:sp>
    </p:spTree>
    <p:extLst>
      <p:ext uri="{BB962C8B-B14F-4D97-AF65-F5344CB8AC3E}">
        <p14:creationId xmlns:p14="http://schemas.microsoft.com/office/powerpoint/2010/main" val="20740762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5EFAE0F-F83C-ED80-FABB-B2D6C0770438}"/>
              </a:ext>
            </a:extLst>
          </p:cNvPr>
          <p:cNvSpPr txBox="1"/>
          <p:nvPr/>
        </p:nvSpPr>
        <p:spPr>
          <a:xfrm>
            <a:off x="618344" y="312243"/>
            <a:ext cx="10744200" cy="5755422"/>
          </a:xfrm>
          <a:prstGeom prst="rect">
            <a:avLst/>
          </a:prstGeom>
          <a:noFill/>
        </p:spPr>
        <p:txBody>
          <a:bodyPr wrap="square">
            <a:spAutoFit/>
          </a:bodyPr>
          <a:lstStyle/>
          <a:p>
            <a:pPr>
              <a:buNone/>
            </a:pPr>
            <a:r>
              <a:rPr lang="en-US" sz="3200" b="1" u="sng" dirty="0">
                <a:solidFill>
                  <a:srgbClr val="FF0000"/>
                </a:solidFill>
              </a:rPr>
              <a:t>Compile Time vs Load Time vs Execution Time Binding</a:t>
            </a:r>
          </a:p>
          <a:p>
            <a:pPr>
              <a:buNone/>
            </a:pPr>
            <a:endParaRPr lang="en-US" sz="2400" b="1" u="sng" dirty="0">
              <a:solidFill>
                <a:srgbClr val="FF0000"/>
              </a:solidFill>
            </a:endParaRPr>
          </a:p>
          <a:p>
            <a:pPr>
              <a:buNone/>
            </a:pPr>
            <a:r>
              <a:rPr lang="en-US" sz="2400" b="1" dirty="0"/>
              <a:t>1️⃣ Compile-time Binding</a:t>
            </a:r>
          </a:p>
          <a:p>
            <a:pPr>
              <a:buNone/>
            </a:pPr>
            <a:r>
              <a:rPr lang="en-US" sz="2400" dirty="0"/>
              <a:t>Compiler already knows the program will start at physical address </a:t>
            </a:r>
            <a:r>
              <a:rPr lang="en-US" sz="2400" b="1" dirty="0"/>
              <a:t>10000</a:t>
            </a:r>
            <a:r>
              <a:rPr lang="en-US" sz="2400" dirty="0"/>
              <a:t>.</a:t>
            </a:r>
            <a:br>
              <a:rPr lang="en-US" sz="2400" dirty="0"/>
            </a:br>
            <a:r>
              <a:rPr lang="en-US" sz="2400" dirty="0"/>
              <a:t>So it directly generates </a:t>
            </a:r>
            <a:r>
              <a:rPr lang="en-US" sz="2400" b="1" dirty="0"/>
              <a:t>physical addresses</a:t>
            </a:r>
            <a:r>
              <a:rPr lang="en-US" sz="2400" dirty="0"/>
              <a:t>.</a:t>
            </a:r>
          </a:p>
          <a:p>
            <a:pPr>
              <a:buNone/>
            </a:pPr>
            <a:endParaRPr lang="en-US" sz="2400" dirty="0"/>
          </a:p>
          <a:p>
            <a:pPr>
              <a:buNone/>
            </a:pPr>
            <a:r>
              <a:rPr lang="en-US" sz="2400" b="1" dirty="0"/>
              <a:t>2️⃣ Load-time Binding</a:t>
            </a:r>
          </a:p>
          <a:p>
            <a:pPr>
              <a:buNone/>
            </a:pPr>
            <a:r>
              <a:rPr lang="en-US" sz="2400" dirty="0"/>
              <a:t>Compiler generates </a:t>
            </a:r>
            <a:r>
              <a:rPr lang="en-US" sz="2400" b="1" dirty="0"/>
              <a:t>logical addresses</a:t>
            </a:r>
            <a:r>
              <a:rPr lang="en-US" sz="2400" dirty="0"/>
              <a:t>,</a:t>
            </a:r>
            <a:br>
              <a:rPr lang="en-US" sz="2400" dirty="0"/>
            </a:br>
            <a:r>
              <a:rPr lang="en-US" sz="2400" dirty="0"/>
              <a:t>OS picks a physical base when the program loads,</a:t>
            </a:r>
            <a:br>
              <a:rPr lang="en-US" sz="2400" dirty="0"/>
            </a:br>
            <a:r>
              <a:rPr lang="en-US" sz="2400" dirty="0"/>
              <a:t>e.g., 300040, and adds it to the logical addresses.</a:t>
            </a:r>
          </a:p>
          <a:p>
            <a:pPr>
              <a:buNone/>
            </a:pPr>
            <a:endParaRPr lang="en-US" sz="2400" dirty="0"/>
          </a:p>
          <a:p>
            <a:pPr>
              <a:buNone/>
            </a:pPr>
            <a:r>
              <a:rPr lang="en-US" sz="2400" b="1" dirty="0"/>
              <a:t>3️⃣ Execution-time Binding</a:t>
            </a:r>
          </a:p>
          <a:p>
            <a:pPr>
              <a:buNone/>
            </a:pPr>
            <a:r>
              <a:rPr lang="en-US" sz="2400" dirty="0"/>
              <a:t>Logical addresses are converted to physical using hardware (MMU) </a:t>
            </a:r>
            <a:r>
              <a:rPr lang="en-US" sz="2400" b="1" dirty="0"/>
              <a:t>on every access</a:t>
            </a:r>
            <a:r>
              <a:rPr lang="en-US" sz="2400" dirty="0"/>
              <a:t>,</a:t>
            </a:r>
            <a:br>
              <a:rPr lang="en-US" sz="2400" dirty="0"/>
            </a:br>
            <a:r>
              <a:rPr lang="en-US" sz="2400" dirty="0"/>
              <a:t>so the program can be </a:t>
            </a:r>
            <a:r>
              <a:rPr lang="en-US" sz="2400" b="1" dirty="0"/>
              <a:t>moved during execution</a:t>
            </a:r>
            <a:r>
              <a:rPr lang="en-US" sz="2400" dirty="0"/>
              <a:t> (paging, segmentation).</a:t>
            </a:r>
          </a:p>
        </p:txBody>
      </p:sp>
    </p:spTree>
    <p:extLst>
      <p:ext uri="{BB962C8B-B14F-4D97-AF65-F5344CB8AC3E}">
        <p14:creationId xmlns:p14="http://schemas.microsoft.com/office/powerpoint/2010/main" val="35903807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B4FD64BE-FFDC-72AD-9A09-7EC0965F272D}"/>
              </a:ext>
            </a:extLst>
          </p:cNvPr>
          <p:cNvGraphicFramePr>
            <a:graphicFrameLocks noGrp="1"/>
          </p:cNvGraphicFramePr>
          <p:nvPr>
            <p:extLst>
              <p:ext uri="{D42A27DB-BD31-4B8C-83A1-F6EECF244321}">
                <p14:modId xmlns:p14="http://schemas.microsoft.com/office/powerpoint/2010/main" val="2684472612"/>
              </p:ext>
            </p:extLst>
          </p:nvPr>
        </p:nvGraphicFramePr>
        <p:xfrm>
          <a:off x="729711" y="1234847"/>
          <a:ext cx="10515600" cy="2743200"/>
        </p:xfrm>
        <a:graphic>
          <a:graphicData uri="http://schemas.openxmlformats.org/drawingml/2006/table">
            <a:tbl>
              <a:tblPr/>
              <a:tblGrid>
                <a:gridCol w="2628900">
                  <a:extLst>
                    <a:ext uri="{9D8B030D-6E8A-4147-A177-3AD203B41FA5}">
                      <a16:colId xmlns:a16="http://schemas.microsoft.com/office/drawing/2014/main" val="2895831854"/>
                    </a:ext>
                  </a:extLst>
                </a:gridCol>
                <a:gridCol w="2628900">
                  <a:extLst>
                    <a:ext uri="{9D8B030D-6E8A-4147-A177-3AD203B41FA5}">
                      <a16:colId xmlns:a16="http://schemas.microsoft.com/office/drawing/2014/main" val="4174005175"/>
                    </a:ext>
                  </a:extLst>
                </a:gridCol>
                <a:gridCol w="2628900">
                  <a:extLst>
                    <a:ext uri="{9D8B030D-6E8A-4147-A177-3AD203B41FA5}">
                      <a16:colId xmlns:a16="http://schemas.microsoft.com/office/drawing/2014/main" val="265930626"/>
                    </a:ext>
                  </a:extLst>
                </a:gridCol>
                <a:gridCol w="2628900">
                  <a:extLst>
                    <a:ext uri="{9D8B030D-6E8A-4147-A177-3AD203B41FA5}">
                      <a16:colId xmlns:a16="http://schemas.microsoft.com/office/drawing/2014/main" val="1499268559"/>
                    </a:ext>
                  </a:extLst>
                </a:gridCol>
              </a:tblGrid>
              <a:tr h="0">
                <a:tc>
                  <a:txBody>
                    <a:bodyPr/>
                    <a:lstStyle/>
                    <a:p>
                      <a:pPr>
                        <a:buNone/>
                      </a:pPr>
                      <a:r>
                        <a:rPr lang="en-US" b="1" u="sng" dirty="0"/>
                        <a:t>Feature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u="sng" dirty="0"/>
                        <a:t>Compile-Time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u="sng"/>
                        <a:t>Load-Time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u="sng" dirty="0"/>
                        <a:t>Execution-Time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48888444"/>
                  </a:ext>
                </a:extLst>
              </a:tr>
              <a:tr h="0">
                <a:tc>
                  <a:txBody>
                    <a:bodyPr/>
                    <a:lstStyle/>
                    <a:p>
                      <a:pPr>
                        <a:buNone/>
                      </a:pPr>
                      <a:r>
                        <a:rPr lang="en-US"/>
                        <a:t>When bound?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Compiler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Loader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Every access (runtime)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5286278"/>
                  </a:ext>
                </a:extLst>
              </a:tr>
              <a:tr h="0">
                <a:tc>
                  <a:txBody>
                    <a:bodyPr/>
                    <a:lstStyle/>
                    <a:p>
                      <a:pPr>
                        <a:buNone/>
                      </a:pPr>
                      <a:r>
                        <a:rPr lang="en-US"/>
                        <a:t>Who binds?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Compiler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Loader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MMU hardware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1849316"/>
                  </a:ext>
                </a:extLst>
              </a:tr>
              <a:tr h="0">
                <a:tc>
                  <a:txBody>
                    <a:bodyPr/>
                    <a:lstStyle/>
                    <a:p>
                      <a:pPr>
                        <a:buNone/>
                      </a:pPr>
                      <a:r>
                        <a:rPr lang="en-US" dirty="0"/>
                        <a:t>Addresses in program?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Physical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Physical (after loading)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Logical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87436042"/>
                  </a:ext>
                </a:extLst>
              </a:tr>
              <a:tr h="0">
                <a:tc>
                  <a:txBody>
                    <a:bodyPr/>
                    <a:lstStyle/>
                    <a:p>
                      <a:pPr>
                        <a:buNone/>
                      </a:pPr>
                      <a:r>
                        <a:rPr lang="en-US"/>
                        <a:t>Can program move after loading?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 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 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 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81995"/>
                  </a:ext>
                </a:extLst>
              </a:tr>
              <a:tr h="0">
                <a:tc>
                  <a:txBody>
                    <a:bodyPr/>
                    <a:lstStyle/>
                    <a:p>
                      <a:pPr>
                        <a:buNone/>
                      </a:pPr>
                      <a:r>
                        <a:rPr lang="en-US"/>
                        <a:t>Used today?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 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Sometimes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 Always (paging, virtual memory)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0141298"/>
                  </a:ext>
                </a:extLst>
              </a:tr>
            </a:tbl>
          </a:graphicData>
        </a:graphic>
      </p:graphicFrame>
      <p:sp>
        <p:nvSpPr>
          <p:cNvPr id="5" name="Rectangle 1">
            <a:extLst>
              <a:ext uri="{FF2B5EF4-FFF2-40B4-BE49-F238E27FC236}">
                <a16:creationId xmlns:a16="http://schemas.microsoft.com/office/drawing/2014/main" id="{06B24B1A-FD2E-3663-E22F-D02326595425}"/>
              </a:ext>
            </a:extLst>
          </p:cNvPr>
          <p:cNvSpPr>
            <a:spLocks noChangeArrowheads="1"/>
          </p:cNvSpPr>
          <p:nvPr/>
        </p:nvSpPr>
        <p:spPr bwMode="auto">
          <a:xfrm>
            <a:off x="838200" y="443871"/>
            <a:ext cx="262482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chemeClr val="tx1"/>
                </a:solidFill>
                <a:effectLst/>
                <a:latin typeface="Arial" panose="020B0604020202020204" pitchFamily="34" charset="0"/>
              </a:rPr>
              <a:t>SUMMARY TABLE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253641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6EE17CB2-3EF8-43F1-A8BB-98F682CD0EF3}"/>
              </a:ext>
            </a:extLst>
          </p:cNvPr>
          <p:cNvSpPr>
            <a:spLocks noGrp="1" noChangeArrowheads="1"/>
          </p:cNvSpPr>
          <p:nvPr>
            <p:ph type="title"/>
          </p:nvPr>
        </p:nvSpPr>
        <p:spPr>
          <a:xfrm>
            <a:off x="703997" y="415644"/>
            <a:ext cx="8335071" cy="576262"/>
          </a:xfrm>
        </p:spPr>
        <p:txBody>
          <a:bodyPr>
            <a:normAutofit fontScale="90000"/>
          </a:bodyPr>
          <a:lstStyle/>
          <a:p>
            <a:pPr eaLnBrk="1" hangingPunct="1"/>
            <a:r>
              <a:rPr lang="en-US" altLang="en-US" b="1" dirty="0"/>
              <a:t>Logical vs. Physical Address Space</a:t>
            </a:r>
          </a:p>
        </p:txBody>
      </p:sp>
      <p:sp>
        <p:nvSpPr>
          <p:cNvPr id="12291" name="Rectangle 3">
            <a:extLst>
              <a:ext uri="{FF2B5EF4-FFF2-40B4-BE49-F238E27FC236}">
                <a16:creationId xmlns:a16="http://schemas.microsoft.com/office/drawing/2014/main" id="{C26127BF-B122-444D-8E10-A4BB1E147CB0}"/>
              </a:ext>
            </a:extLst>
          </p:cNvPr>
          <p:cNvSpPr>
            <a:spLocks noGrp="1" noChangeArrowheads="1"/>
          </p:cNvSpPr>
          <p:nvPr>
            <p:ph type="body" idx="1"/>
          </p:nvPr>
        </p:nvSpPr>
        <p:spPr>
          <a:xfrm>
            <a:off x="564936" y="1194594"/>
            <a:ext cx="10827589" cy="4468812"/>
          </a:xfrm>
        </p:spPr>
        <p:txBody>
          <a:bodyPr>
            <a:normAutofit lnSpcReduction="10000"/>
          </a:bodyPr>
          <a:lstStyle/>
          <a:p>
            <a:r>
              <a:rPr lang="en-US" altLang="en-US" sz="2400" dirty="0"/>
              <a:t>The concept of a logical address space that is bound to a separate </a:t>
            </a:r>
            <a:r>
              <a:rPr lang="en-US" altLang="en-US" sz="2400" dirty="0">
                <a:latin typeface="+mj-lt"/>
              </a:rPr>
              <a:t>physical</a:t>
            </a:r>
            <a:r>
              <a:rPr lang="en-US" altLang="en-US" sz="2400" dirty="0"/>
              <a:t> </a:t>
            </a:r>
            <a:r>
              <a:rPr lang="en-US" altLang="en-US" sz="2400" dirty="0">
                <a:latin typeface="+mj-lt"/>
              </a:rPr>
              <a:t>address</a:t>
            </a:r>
            <a:r>
              <a:rPr lang="en-US" altLang="en-US" sz="2400" dirty="0"/>
              <a:t> </a:t>
            </a:r>
            <a:r>
              <a:rPr lang="en-US" altLang="en-US" sz="2400" dirty="0">
                <a:latin typeface="+mj-lt"/>
              </a:rPr>
              <a:t>space</a:t>
            </a:r>
            <a:r>
              <a:rPr lang="en-US" altLang="en-US" sz="2400" dirty="0"/>
              <a:t> is central to proper memory management</a:t>
            </a:r>
          </a:p>
          <a:p>
            <a:pPr lvl="1"/>
            <a:r>
              <a:rPr lang="en-US" altLang="en-US" dirty="0">
                <a:latin typeface="+mj-lt"/>
              </a:rPr>
              <a:t>Logical</a:t>
            </a:r>
            <a:r>
              <a:rPr lang="en-US" altLang="en-US" dirty="0"/>
              <a:t> </a:t>
            </a:r>
            <a:r>
              <a:rPr lang="en-US" altLang="en-US" dirty="0">
                <a:latin typeface="+mj-lt"/>
              </a:rPr>
              <a:t>address</a:t>
            </a:r>
            <a:r>
              <a:rPr lang="en-US" altLang="en-US" dirty="0"/>
              <a:t> – generated by the CPU; also referred to as </a:t>
            </a:r>
            <a:r>
              <a:rPr lang="en-US" altLang="en-US" dirty="0">
                <a:latin typeface="+mj-lt"/>
              </a:rPr>
              <a:t>virtual</a:t>
            </a:r>
            <a:r>
              <a:rPr lang="en-US" altLang="en-US" dirty="0"/>
              <a:t> </a:t>
            </a:r>
            <a:r>
              <a:rPr lang="en-US" altLang="en-US" dirty="0">
                <a:latin typeface="+mj-lt"/>
              </a:rPr>
              <a:t>address</a:t>
            </a:r>
          </a:p>
          <a:p>
            <a:pPr lvl="1"/>
            <a:r>
              <a:rPr lang="en-US" altLang="en-US" dirty="0">
                <a:latin typeface="+mj-lt"/>
              </a:rPr>
              <a:t>Physical</a:t>
            </a:r>
            <a:r>
              <a:rPr lang="en-US" altLang="en-US" dirty="0"/>
              <a:t> </a:t>
            </a:r>
            <a:r>
              <a:rPr lang="en-US" altLang="en-US" dirty="0">
                <a:latin typeface="+mj-lt"/>
              </a:rPr>
              <a:t>address</a:t>
            </a:r>
            <a:r>
              <a:rPr lang="en-US" altLang="en-US" dirty="0"/>
              <a:t> – address seen by the memory unit</a:t>
            </a:r>
          </a:p>
          <a:p>
            <a:pPr lvl="1"/>
            <a:endParaRPr lang="en-US" altLang="en-US" dirty="0"/>
          </a:p>
          <a:p>
            <a:r>
              <a:rPr lang="en-US" altLang="en-US" sz="2400" dirty="0"/>
              <a:t>Logical and physical addresses are the same in compile-time and load-time address-binding schemes; logical (virtual) and physical addresses differ in execution-time address-binding scheme.</a:t>
            </a:r>
          </a:p>
          <a:p>
            <a:endParaRPr lang="en-US" altLang="en-US" sz="2400" dirty="0"/>
          </a:p>
          <a:p>
            <a:r>
              <a:rPr lang="en-US" altLang="en-US" sz="2400" dirty="0">
                <a:latin typeface="+mj-lt"/>
              </a:rPr>
              <a:t>Logical</a:t>
            </a:r>
            <a:r>
              <a:rPr lang="en-US" altLang="en-US" sz="2400" dirty="0"/>
              <a:t> </a:t>
            </a:r>
            <a:r>
              <a:rPr lang="en-US" altLang="en-US" sz="2400" dirty="0">
                <a:latin typeface="+mj-lt"/>
              </a:rPr>
              <a:t>address</a:t>
            </a:r>
            <a:r>
              <a:rPr lang="en-US" altLang="en-US" sz="2400" dirty="0"/>
              <a:t> </a:t>
            </a:r>
            <a:r>
              <a:rPr lang="en-US" altLang="en-US" sz="2400" dirty="0">
                <a:latin typeface="+mj-lt"/>
              </a:rPr>
              <a:t>space</a:t>
            </a:r>
            <a:r>
              <a:rPr lang="en-US" altLang="en-US" sz="2400" dirty="0"/>
              <a:t> is the set of all logical addresses generated by a program.</a:t>
            </a:r>
          </a:p>
          <a:p>
            <a:r>
              <a:rPr lang="en-US" altLang="en-US" sz="2400" dirty="0">
                <a:latin typeface="+mj-lt"/>
              </a:rPr>
              <a:t>Physical</a:t>
            </a:r>
            <a:r>
              <a:rPr lang="en-US" altLang="en-US" sz="2400" dirty="0"/>
              <a:t> </a:t>
            </a:r>
            <a:r>
              <a:rPr lang="en-US" altLang="en-US" sz="2400" dirty="0">
                <a:latin typeface="+mj-lt"/>
              </a:rPr>
              <a:t>address</a:t>
            </a:r>
            <a:r>
              <a:rPr lang="en-US" altLang="en-US" sz="2400" dirty="0"/>
              <a:t> </a:t>
            </a:r>
            <a:r>
              <a:rPr lang="en-US" altLang="en-US" sz="2400" dirty="0">
                <a:latin typeface="+mj-lt"/>
              </a:rPr>
              <a:t>space</a:t>
            </a:r>
            <a:r>
              <a:rPr lang="en-US" altLang="en-US" sz="2400" dirty="0"/>
              <a:t> is the set of all physical addresses generated by a program.</a:t>
            </a:r>
          </a:p>
          <a:p>
            <a:endParaRPr lang="en-US" altLang="en-US" sz="2400" dirty="0"/>
          </a:p>
          <a:p>
            <a:endParaRPr lang="en-US" alt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6B95EF18-CDEF-4577-B2D3-2194188A6B2D}"/>
              </a:ext>
            </a:extLst>
          </p:cNvPr>
          <p:cNvSpPr>
            <a:spLocks noGrp="1" noChangeArrowheads="1"/>
          </p:cNvSpPr>
          <p:nvPr>
            <p:ph type="title"/>
          </p:nvPr>
        </p:nvSpPr>
        <p:spPr>
          <a:xfrm>
            <a:off x="229902" y="195022"/>
            <a:ext cx="7839075" cy="576262"/>
          </a:xfrm>
        </p:spPr>
        <p:txBody>
          <a:bodyPr>
            <a:noAutofit/>
          </a:bodyPr>
          <a:lstStyle/>
          <a:p>
            <a:pPr eaLnBrk="1" hangingPunct="1"/>
            <a:r>
              <a:rPr lang="en-US" altLang="en-US" sz="3200" b="1" dirty="0"/>
              <a:t>Memory-Management Unit (</a:t>
            </a:r>
            <a:r>
              <a:rPr lang="en-US" altLang="en-US" sz="2000" b="1" dirty="0"/>
              <a:t>MMU</a:t>
            </a:r>
            <a:r>
              <a:rPr lang="en-US" altLang="en-US" sz="3200" b="1" dirty="0"/>
              <a:t>)</a:t>
            </a:r>
          </a:p>
        </p:txBody>
      </p:sp>
      <p:sp>
        <p:nvSpPr>
          <p:cNvPr id="13315" name="Rectangle 3">
            <a:extLst>
              <a:ext uri="{FF2B5EF4-FFF2-40B4-BE49-F238E27FC236}">
                <a16:creationId xmlns:a16="http://schemas.microsoft.com/office/drawing/2014/main" id="{48574B01-7329-4E5A-9F99-22E3D937557B}"/>
              </a:ext>
            </a:extLst>
          </p:cNvPr>
          <p:cNvSpPr>
            <a:spLocks noGrp="1" noChangeArrowheads="1"/>
          </p:cNvSpPr>
          <p:nvPr>
            <p:ph type="body" idx="1"/>
          </p:nvPr>
        </p:nvSpPr>
        <p:spPr>
          <a:xfrm>
            <a:off x="445869" y="771284"/>
            <a:ext cx="4860649" cy="2657716"/>
          </a:xfrm>
        </p:spPr>
        <p:txBody>
          <a:bodyPr>
            <a:normAutofit/>
          </a:bodyPr>
          <a:lstStyle/>
          <a:p>
            <a:r>
              <a:rPr lang="en-US" altLang="en-US" sz="2000" dirty="0"/>
              <a:t>Hardware device that at run time maps virtual to physical address</a:t>
            </a:r>
          </a:p>
          <a:p>
            <a:endParaRPr lang="en-US" altLang="en-US" sz="2000" dirty="0"/>
          </a:p>
          <a:p>
            <a:endParaRPr lang="en-US" altLang="en-US" sz="2000" dirty="0"/>
          </a:p>
          <a:p>
            <a:endParaRPr lang="en-US" altLang="en-US" sz="2000" dirty="0"/>
          </a:p>
          <a:p>
            <a:pPr marL="0" indent="0">
              <a:buNone/>
            </a:pPr>
            <a:endParaRPr lang="en-US" altLang="en-US" sz="2000" dirty="0"/>
          </a:p>
          <a:p>
            <a:pPr>
              <a:buFont typeface="Monotype Sorts" pitchFamily="-84" charset="2"/>
              <a:buNone/>
            </a:pPr>
            <a:endParaRPr lang="en-US" altLang="en-US" sz="600" dirty="0"/>
          </a:p>
          <a:p>
            <a:pPr>
              <a:buFont typeface="Monotype Sorts" pitchFamily="-84" charset="2"/>
              <a:buNone/>
            </a:pPr>
            <a:endParaRPr lang="en-US" altLang="en-US" sz="2000" dirty="0"/>
          </a:p>
        </p:txBody>
      </p:sp>
      <p:pic>
        <p:nvPicPr>
          <p:cNvPr id="13316" name="Picture 4" descr="W:\os-book\OS10\slide-dir\os-figures\9_04.jpg">
            <a:extLst>
              <a:ext uri="{FF2B5EF4-FFF2-40B4-BE49-F238E27FC236}">
                <a16:creationId xmlns:a16="http://schemas.microsoft.com/office/drawing/2014/main" id="{2AB2E1F5-A2FA-4767-BE68-4BD3C62D70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8850" y="1562100"/>
            <a:ext cx="4157501" cy="1510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3">
            <a:extLst>
              <a:ext uri="{FF2B5EF4-FFF2-40B4-BE49-F238E27FC236}">
                <a16:creationId xmlns:a16="http://schemas.microsoft.com/office/drawing/2014/main" id="{4AF30DD0-3554-F9AB-CE1D-AC05580807BC}"/>
              </a:ext>
            </a:extLst>
          </p:cNvPr>
          <p:cNvSpPr txBox="1">
            <a:spLocks noChangeArrowheads="1"/>
          </p:cNvSpPr>
          <p:nvPr/>
        </p:nvSpPr>
        <p:spPr>
          <a:xfrm>
            <a:off x="6096000" y="296875"/>
            <a:ext cx="5384800" cy="253044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altLang="en-US" sz="2000" dirty="0"/>
              <a:t>Consider simple scheme. which is  a generalization of the base-register scheme.</a:t>
            </a:r>
          </a:p>
          <a:p>
            <a:pPr marL="285750" lvl="1" algn="just">
              <a:buClr>
                <a:srgbClr val="993300"/>
              </a:buClr>
              <a:buFont typeface="Wingdings" panose="05000000000000000000" pitchFamily="2" charset="2"/>
              <a:buChar char="§"/>
            </a:pPr>
            <a:r>
              <a:rPr lang="en-US" altLang="en-US" sz="2000" dirty="0"/>
              <a:t>The base register now called </a:t>
            </a:r>
            <a:r>
              <a:rPr lang="en-US" altLang="en-US" sz="2000" b="1" dirty="0">
                <a:solidFill>
                  <a:srgbClr val="006699"/>
                </a:solidFill>
                <a:latin typeface="+mj-lt"/>
              </a:rPr>
              <a:t>relocation</a:t>
            </a:r>
            <a:r>
              <a:rPr lang="en-US" altLang="en-US" sz="2000" b="1" dirty="0">
                <a:solidFill>
                  <a:srgbClr val="0000FF"/>
                </a:solidFill>
              </a:rPr>
              <a:t> </a:t>
            </a:r>
            <a:r>
              <a:rPr lang="en-US" altLang="en-US" sz="2000" b="1" dirty="0">
                <a:solidFill>
                  <a:srgbClr val="006699"/>
                </a:solidFill>
                <a:latin typeface="+mj-lt"/>
              </a:rPr>
              <a:t>register</a:t>
            </a:r>
          </a:p>
          <a:p>
            <a:pPr algn="just"/>
            <a:r>
              <a:rPr lang="en-US" altLang="en-US" sz="2000" dirty="0"/>
              <a:t>The value in the relocation register is added to every address generated by a user process at the time it is sent to memory</a:t>
            </a:r>
          </a:p>
        </p:txBody>
      </p:sp>
      <p:pic>
        <p:nvPicPr>
          <p:cNvPr id="4" name="Picture 2" descr="W:\os-book\OS10\slide-dir\os-figures\9_05.jpg">
            <a:extLst>
              <a:ext uri="{FF2B5EF4-FFF2-40B4-BE49-F238E27FC236}">
                <a16:creationId xmlns:a16="http://schemas.microsoft.com/office/drawing/2014/main" id="{29F0848C-32CB-F824-81D3-7B9DEFBECB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97675" y="2626533"/>
            <a:ext cx="3981450" cy="280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5" descr="W:\os-book\OS10\slide-dir\os-figures\9_01.jpg">
            <a:extLst>
              <a:ext uri="{FF2B5EF4-FFF2-40B4-BE49-F238E27FC236}">
                <a16:creationId xmlns:a16="http://schemas.microsoft.com/office/drawing/2014/main" id="{C43BA44D-533E-780E-89A5-D7708DD4B1C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0426" y="3429000"/>
            <a:ext cx="3263900" cy="318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CA539788-E800-4271-88C5-165DD45312EB}"/>
              </a:ext>
            </a:extLst>
          </p:cNvPr>
          <p:cNvSpPr>
            <a:spLocks noGrp="1" noChangeArrowheads="1"/>
          </p:cNvSpPr>
          <p:nvPr>
            <p:ph type="title"/>
          </p:nvPr>
        </p:nvSpPr>
        <p:spPr>
          <a:xfrm>
            <a:off x="598194" y="232005"/>
            <a:ext cx="8442325" cy="576262"/>
          </a:xfrm>
        </p:spPr>
        <p:txBody>
          <a:bodyPr/>
          <a:lstStyle/>
          <a:p>
            <a:pPr eaLnBrk="1" hangingPunct="1"/>
            <a:r>
              <a:rPr lang="en-US" altLang="en-US" sz="2400" dirty="0"/>
              <a:t>Hardware Support for Relocation and Limit Registers</a:t>
            </a:r>
          </a:p>
        </p:txBody>
      </p:sp>
      <p:pic>
        <p:nvPicPr>
          <p:cNvPr id="20483" name="Picture 4" descr="8">
            <a:extLst>
              <a:ext uri="{FF2B5EF4-FFF2-40B4-BE49-F238E27FC236}">
                <a16:creationId xmlns:a16="http://schemas.microsoft.com/office/drawing/2014/main" id="{8B9138A6-75B5-441A-842E-43E123DF3E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0776" y="1030288"/>
            <a:ext cx="5845175" cy="290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617DA286-2F3A-47A5-A909-FB6B92D7C79F}"/>
              </a:ext>
            </a:extLst>
          </p:cNvPr>
          <p:cNvSpPr>
            <a:spLocks noGrp="1" noChangeArrowheads="1"/>
          </p:cNvSpPr>
          <p:nvPr>
            <p:ph type="title"/>
          </p:nvPr>
        </p:nvSpPr>
        <p:spPr>
          <a:xfrm>
            <a:off x="607007" y="261938"/>
            <a:ext cx="3776468" cy="571500"/>
          </a:xfrm>
        </p:spPr>
        <p:txBody>
          <a:bodyPr>
            <a:noAutofit/>
          </a:bodyPr>
          <a:lstStyle/>
          <a:p>
            <a:pPr eaLnBrk="1" hangingPunct="1"/>
            <a:r>
              <a:rPr lang="en-US" altLang="en-US" sz="3200" b="1" dirty="0"/>
              <a:t>Dynamic Loading</a:t>
            </a:r>
          </a:p>
        </p:txBody>
      </p:sp>
      <p:sp>
        <p:nvSpPr>
          <p:cNvPr id="16387" name="Rectangle 3">
            <a:extLst>
              <a:ext uri="{FF2B5EF4-FFF2-40B4-BE49-F238E27FC236}">
                <a16:creationId xmlns:a16="http://schemas.microsoft.com/office/drawing/2014/main" id="{ADD2F991-6EF7-4E08-A73D-5D29F76031BC}"/>
              </a:ext>
            </a:extLst>
          </p:cNvPr>
          <p:cNvSpPr txBox="1">
            <a:spLocks noChangeArrowheads="1"/>
          </p:cNvSpPr>
          <p:nvPr/>
        </p:nvSpPr>
        <p:spPr bwMode="auto">
          <a:xfrm>
            <a:off x="0" y="1279525"/>
            <a:ext cx="5425493" cy="406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4008" tIns="32004" rIns="64008" bIns="32004"/>
          <a:lstStyle>
            <a:lvl1pPr marL="488950" indent="-488950">
              <a:defRPr>
                <a:solidFill>
                  <a:schemeClr val="tx1"/>
                </a:solidFill>
                <a:latin typeface="Verdana" panose="020B0604030504040204" pitchFamily="34" charset="0"/>
                <a:ea typeface="MS PGothic" panose="020B0600070205080204" pitchFamily="34" charset="-128"/>
              </a:defRPr>
            </a:lvl1pPr>
            <a:lvl2pPr marL="1060450" indent="-407988">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just">
              <a:spcBef>
                <a:spcPct val="35000"/>
              </a:spcBef>
              <a:buClr>
                <a:srgbClr val="993300"/>
              </a:buClr>
              <a:buSzPct val="110000"/>
              <a:buFont typeface="Wingdings" panose="05000000000000000000" pitchFamily="2" charset="2"/>
              <a:buChar char="§"/>
            </a:pPr>
            <a:r>
              <a:rPr kumimoji="1" lang="en-US" altLang="en-US" dirty="0">
                <a:latin typeface="Helvetica" panose="020B0604020202020204" pitchFamily="34" charset="0"/>
              </a:rPr>
              <a:t>The entire  program does need to be in memory to execute</a:t>
            </a:r>
          </a:p>
          <a:p>
            <a:pPr algn="just">
              <a:spcBef>
                <a:spcPct val="35000"/>
              </a:spcBef>
              <a:buClr>
                <a:srgbClr val="993300"/>
              </a:buClr>
              <a:buSzPct val="110000"/>
              <a:buFont typeface="Wingdings" panose="05000000000000000000" pitchFamily="2" charset="2"/>
              <a:buChar char="§"/>
            </a:pPr>
            <a:r>
              <a:rPr kumimoji="1" lang="en-US" altLang="en-US" dirty="0">
                <a:latin typeface="Helvetica" panose="020B0604020202020204" pitchFamily="34" charset="0"/>
              </a:rPr>
              <a:t>Routine is not loaded until it is called</a:t>
            </a:r>
          </a:p>
          <a:p>
            <a:pPr algn="just">
              <a:spcBef>
                <a:spcPct val="35000"/>
              </a:spcBef>
              <a:buClr>
                <a:srgbClr val="993300"/>
              </a:buClr>
              <a:buSzPct val="110000"/>
              <a:buFont typeface="Wingdings" panose="05000000000000000000" pitchFamily="2" charset="2"/>
              <a:buChar char="§"/>
            </a:pPr>
            <a:r>
              <a:rPr kumimoji="1" lang="en-US" altLang="en-US" dirty="0">
                <a:latin typeface="Helvetica" panose="020B0604020202020204" pitchFamily="34" charset="0"/>
              </a:rPr>
              <a:t>Better memory-space utilization; unused routine is never loaded</a:t>
            </a:r>
          </a:p>
          <a:p>
            <a:pPr algn="just">
              <a:spcBef>
                <a:spcPct val="35000"/>
              </a:spcBef>
              <a:buClr>
                <a:srgbClr val="993300"/>
              </a:buClr>
              <a:buSzPct val="110000"/>
              <a:buFont typeface="Wingdings" panose="05000000000000000000" pitchFamily="2" charset="2"/>
              <a:buChar char="§"/>
            </a:pPr>
            <a:r>
              <a:rPr kumimoji="1" lang="en-US" altLang="en-US" dirty="0">
                <a:latin typeface="Helvetica" panose="020B0604020202020204" pitchFamily="34" charset="0"/>
              </a:rPr>
              <a:t>Useful when large amounts of code are needed to handle infrequently occurring cases</a:t>
            </a:r>
          </a:p>
          <a:p>
            <a:pPr algn="just">
              <a:spcBef>
                <a:spcPct val="35000"/>
              </a:spcBef>
              <a:buClr>
                <a:srgbClr val="993300"/>
              </a:buClr>
              <a:buSzPct val="110000"/>
              <a:buFont typeface="Wingdings" panose="05000000000000000000" pitchFamily="2" charset="2"/>
              <a:buChar char="§"/>
            </a:pPr>
            <a:r>
              <a:rPr kumimoji="1" lang="en-US" altLang="en-US" dirty="0">
                <a:latin typeface="Helvetica" panose="020B0604020202020204" pitchFamily="34" charset="0"/>
              </a:rPr>
              <a:t>No special support from the operating system is required</a:t>
            </a:r>
          </a:p>
          <a:p>
            <a:pPr lvl="1" algn="just">
              <a:spcBef>
                <a:spcPct val="35000"/>
              </a:spcBef>
              <a:buClr>
                <a:srgbClr val="CC6600"/>
              </a:buClr>
              <a:buSzPct val="110000"/>
              <a:buFont typeface="Arial" panose="020B0604020202020204" pitchFamily="34" charset="0"/>
              <a:buChar char="•"/>
            </a:pPr>
            <a:r>
              <a:rPr kumimoji="1" lang="en-US" altLang="en-US" dirty="0">
                <a:latin typeface="Helvetica" panose="020B0604020202020204" pitchFamily="34" charset="0"/>
              </a:rPr>
              <a:t>Implemented through program design</a:t>
            </a:r>
          </a:p>
          <a:p>
            <a:pPr lvl="1" algn="just">
              <a:spcBef>
                <a:spcPct val="35000"/>
              </a:spcBef>
              <a:buClr>
                <a:srgbClr val="CC6600"/>
              </a:buClr>
              <a:buSzPct val="110000"/>
              <a:buFont typeface="Arial" panose="020B0604020202020204" pitchFamily="34" charset="0"/>
              <a:buChar char="•"/>
            </a:pPr>
            <a:r>
              <a:rPr kumimoji="1" lang="en-US" altLang="en-US" dirty="0">
                <a:latin typeface="Helvetica" panose="020B0604020202020204" pitchFamily="34" charset="0"/>
              </a:rPr>
              <a:t>OS can help by providing libraries to implement dynamic loading</a:t>
            </a:r>
          </a:p>
        </p:txBody>
      </p:sp>
      <p:cxnSp>
        <p:nvCxnSpPr>
          <p:cNvPr id="3" name="Straight Connector 2">
            <a:extLst>
              <a:ext uri="{FF2B5EF4-FFF2-40B4-BE49-F238E27FC236}">
                <a16:creationId xmlns:a16="http://schemas.microsoft.com/office/drawing/2014/main" id="{B0F49112-7276-08D9-2B45-046683993555}"/>
              </a:ext>
            </a:extLst>
          </p:cNvPr>
          <p:cNvCxnSpPr/>
          <p:nvPr/>
        </p:nvCxnSpPr>
        <p:spPr>
          <a:xfrm>
            <a:off x="5753100" y="0"/>
            <a:ext cx="0" cy="6286500"/>
          </a:xfrm>
          <a:prstGeom prst="line">
            <a:avLst/>
          </a:prstGeom>
        </p:spPr>
        <p:style>
          <a:lnRef idx="3">
            <a:schemeClr val="accent2"/>
          </a:lnRef>
          <a:fillRef idx="0">
            <a:schemeClr val="accent2"/>
          </a:fillRef>
          <a:effectRef idx="2">
            <a:schemeClr val="accent2"/>
          </a:effectRef>
          <a:fontRef idx="minor">
            <a:schemeClr val="tx1"/>
          </a:fontRef>
        </p:style>
      </p:cxnSp>
      <p:sp>
        <p:nvSpPr>
          <p:cNvPr id="4" name="Rectangle 2">
            <a:extLst>
              <a:ext uri="{FF2B5EF4-FFF2-40B4-BE49-F238E27FC236}">
                <a16:creationId xmlns:a16="http://schemas.microsoft.com/office/drawing/2014/main" id="{C1110D63-7BF4-C438-F2A8-F8CCB17AD3BA}"/>
              </a:ext>
            </a:extLst>
          </p:cNvPr>
          <p:cNvSpPr txBox="1">
            <a:spLocks noChangeArrowheads="1"/>
          </p:cNvSpPr>
          <p:nvPr/>
        </p:nvSpPr>
        <p:spPr>
          <a:xfrm>
            <a:off x="5930900" y="261938"/>
            <a:ext cx="4114800" cy="5762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3200" b="1" dirty="0"/>
              <a:t>Dynamic Linking</a:t>
            </a:r>
          </a:p>
        </p:txBody>
      </p:sp>
      <p:sp>
        <p:nvSpPr>
          <p:cNvPr id="6" name="TextBox 5">
            <a:extLst>
              <a:ext uri="{FF2B5EF4-FFF2-40B4-BE49-F238E27FC236}">
                <a16:creationId xmlns:a16="http://schemas.microsoft.com/office/drawing/2014/main" id="{DF60C408-8756-823F-A818-3B0A3EEBCFD7}"/>
              </a:ext>
            </a:extLst>
          </p:cNvPr>
          <p:cNvSpPr txBox="1"/>
          <p:nvPr/>
        </p:nvSpPr>
        <p:spPr>
          <a:xfrm>
            <a:off x="5930900" y="833438"/>
            <a:ext cx="6134100" cy="3579441"/>
          </a:xfrm>
          <a:prstGeom prst="rect">
            <a:avLst/>
          </a:prstGeom>
          <a:noFill/>
        </p:spPr>
        <p:txBody>
          <a:bodyPr wrap="square">
            <a:spAutoFit/>
          </a:bodyPr>
          <a:lstStyle/>
          <a:p>
            <a:pPr marL="285750" indent="-285750">
              <a:buFont typeface="Wingdings" panose="05000000000000000000" pitchFamily="2" charset="2"/>
              <a:buChar char="§"/>
            </a:pPr>
            <a:r>
              <a:rPr lang="en-US" dirty="0"/>
              <a:t>Dynamically linked libraries (DLLs) are system libraries that are linked to user programs when the programs are run.</a:t>
            </a:r>
          </a:p>
          <a:p>
            <a:pPr marL="285750" indent="-285750">
              <a:buFont typeface="Wingdings" panose="05000000000000000000" pitchFamily="2" charset="2"/>
              <a:buChar char="§"/>
            </a:pPr>
            <a:endParaRPr lang="en-US" altLang="en-US" dirty="0">
              <a:latin typeface="+mj-lt"/>
            </a:endParaRPr>
          </a:p>
          <a:p>
            <a:pPr marL="285750" indent="-285750">
              <a:buFont typeface="Wingdings" panose="05000000000000000000" pitchFamily="2" charset="2"/>
              <a:buChar char="§"/>
            </a:pPr>
            <a:r>
              <a:rPr lang="en-US" altLang="en-US" dirty="0"/>
              <a:t>Static linking – system libraries and program code combined by the loader into the binary program image.</a:t>
            </a:r>
          </a:p>
          <a:p>
            <a:pPr marL="285750" indent="-285750">
              <a:buFont typeface="Wingdings" panose="05000000000000000000" pitchFamily="2" charset="2"/>
              <a:buChar char="§"/>
            </a:pPr>
            <a:endParaRPr lang="en-US" altLang="en-US" dirty="0"/>
          </a:p>
          <a:p>
            <a:pPr marL="285750" indent="-285750">
              <a:buFont typeface="Wingdings" panose="05000000000000000000" pitchFamily="2" charset="2"/>
              <a:buChar char="§"/>
            </a:pPr>
            <a:r>
              <a:rPr lang="en-US" altLang="en-US" dirty="0"/>
              <a:t>Dynamic linking –linking postponed until execution time.</a:t>
            </a:r>
          </a:p>
          <a:p>
            <a:pPr marL="285750" indent="-285750">
              <a:buFont typeface="Wingdings" panose="05000000000000000000" pitchFamily="2" charset="2"/>
              <a:buChar char="§"/>
            </a:pPr>
            <a:endParaRPr lang="en-US" altLang="en-US" sz="800" dirty="0"/>
          </a:p>
          <a:p>
            <a:pPr marL="342900" marR="0" lvl="0" indent="-342900" algn="l" defTabSz="914400" rtl="0" eaLnBrk="0" fontAlgn="base" latinLnBrk="0" hangingPunct="0">
              <a:lnSpc>
                <a:spcPct val="100000"/>
              </a:lnSpc>
              <a:spcBef>
                <a:spcPct val="35000"/>
              </a:spcBef>
              <a:spcAft>
                <a:spcPct val="0"/>
              </a:spcAft>
              <a:buClr>
                <a:srgbClr val="993300"/>
              </a:buClr>
              <a:buSzPct val="110000"/>
              <a:buFont typeface="Wingdings" panose="05000000000000000000" pitchFamily="2" charset="2"/>
              <a:buChar char="§"/>
              <a:tabLst/>
              <a:defRPr/>
            </a:pPr>
            <a:r>
              <a:rPr kumimoji="1" lang="en-US" altLang="en-US" sz="1800" b="0" i="0" u="none" strike="noStrike" kern="0" cap="none" spc="0" normalizeH="0" baseline="0" noProof="0" dirty="0">
                <a:ln>
                  <a:noFill/>
                </a:ln>
                <a:solidFill>
                  <a:srgbClr val="000000"/>
                </a:solidFill>
                <a:effectLst/>
                <a:uLnTx/>
                <a:uFillTx/>
                <a:latin typeface="Helvetica"/>
                <a:ea typeface="MS PGothic" pitchFamily="34" charset="-128"/>
              </a:rPr>
              <a:t>Dynamic linking is particularly useful for libraries</a:t>
            </a:r>
            <a:endParaRPr kumimoji="1" lang="en-US" altLang="en-US" sz="800" b="0" i="0" u="none" strike="noStrike" kern="0" cap="none" spc="0" normalizeH="0" baseline="0" noProof="0" dirty="0">
              <a:ln>
                <a:noFill/>
              </a:ln>
              <a:solidFill>
                <a:srgbClr val="000000"/>
              </a:solidFill>
              <a:effectLst/>
              <a:uLnTx/>
              <a:uFillTx/>
              <a:latin typeface="Helvetica"/>
              <a:ea typeface="MS PGothic"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110000"/>
              <a:buFont typeface="Wingdings" panose="05000000000000000000" pitchFamily="2" charset="2"/>
              <a:buChar char="§"/>
              <a:tabLst/>
              <a:defRPr/>
            </a:pPr>
            <a:r>
              <a:rPr kumimoji="1" lang="en-US" altLang="en-US" sz="1800" b="0" i="0" u="none" strike="noStrike" kern="0" cap="none" spc="0" normalizeH="0" baseline="0" noProof="0" dirty="0">
                <a:ln>
                  <a:noFill/>
                </a:ln>
                <a:solidFill>
                  <a:srgbClr val="000000"/>
                </a:solidFill>
                <a:effectLst/>
                <a:uLnTx/>
                <a:uFillTx/>
                <a:latin typeface="Helvetica"/>
                <a:ea typeface="MS PGothic" pitchFamily="34" charset="-128"/>
              </a:rPr>
              <a:t>DLLs are also known as </a:t>
            </a:r>
            <a:r>
              <a:rPr kumimoji="1" lang="en-US" altLang="en-US" sz="1800" b="1" i="0" u="none" strike="noStrike" kern="0" cap="none" spc="0" normalizeH="0" baseline="0" noProof="0" dirty="0">
                <a:ln>
                  <a:noFill/>
                </a:ln>
                <a:solidFill>
                  <a:srgbClr val="006699"/>
                </a:solidFill>
                <a:effectLst/>
                <a:uLnTx/>
                <a:uFillTx/>
                <a:latin typeface="Arial"/>
                <a:ea typeface="MS PGothic" pitchFamily="34" charset="-128"/>
              </a:rPr>
              <a:t>shared</a:t>
            </a:r>
            <a:r>
              <a:rPr kumimoji="1" lang="en-US" altLang="en-US" sz="1800" b="1" i="0" u="none" strike="noStrike" kern="0" cap="none" spc="0" normalizeH="0" baseline="0" noProof="0" dirty="0">
                <a:ln>
                  <a:noFill/>
                </a:ln>
                <a:solidFill>
                  <a:srgbClr val="3366FF"/>
                </a:solidFill>
                <a:effectLst/>
                <a:uLnTx/>
                <a:uFillTx/>
                <a:latin typeface="Helvetica"/>
                <a:ea typeface="MS PGothic" pitchFamily="34" charset="-128"/>
              </a:rPr>
              <a:t> </a:t>
            </a:r>
            <a:r>
              <a:rPr kumimoji="1" lang="en-US" altLang="en-US" sz="1800" b="1" i="0" u="none" strike="noStrike" kern="0" cap="none" spc="0" normalizeH="0" baseline="0" noProof="0" dirty="0">
                <a:ln>
                  <a:noFill/>
                </a:ln>
                <a:solidFill>
                  <a:srgbClr val="006699"/>
                </a:solidFill>
                <a:effectLst/>
                <a:uLnTx/>
                <a:uFillTx/>
                <a:latin typeface="Arial"/>
                <a:ea typeface="MS PGothic" pitchFamily="34" charset="-128"/>
              </a:rPr>
              <a:t>libraries</a:t>
            </a:r>
          </a:p>
          <a:p>
            <a:pPr marL="285750" indent="-285750">
              <a:buFont typeface="Wingdings" panose="05000000000000000000" pitchFamily="2" charset="2"/>
              <a:buChar char="§"/>
            </a:pPr>
            <a:endParaRPr lang="en-US" altLang="en-US" sz="800" dirty="0"/>
          </a:p>
          <a:p>
            <a:endParaRPr lang="en-US" altLang="en-US" b="1" dirty="0">
              <a:solidFill>
                <a:srgbClr val="006699"/>
              </a:solidFill>
              <a:latin typeface="+mj-l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156AF-05A8-28E8-54EC-6EF8CF8CEEBD}"/>
              </a:ext>
            </a:extLst>
          </p:cNvPr>
          <p:cNvSpPr>
            <a:spLocks noGrp="1"/>
          </p:cNvSpPr>
          <p:nvPr>
            <p:ph type="title"/>
          </p:nvPr>
        </p:nvSpPr>
        <p:spPr>
          <a:xfrm>
            <a:off x="283564" y="0"/>
            <a:ext cx="3763780" cy="774127"/>
          </a:xfrm>
        </p:spPr>
        <p:txBody>
          <a:bodyPr>
            <a:normAutofit/>
          </a:bodyPr>
          <a:lstStyle/>
          <a:p>
            <a:r>
              <a:rPr lang="en-US" sz="3600" b="1" dirty="0"/>
              <a:t>Memory Overload</a:t>
            </a:r>
          </a:p>
        </p:txBody>
      </p:sp>
      <p:sp>
        <p:nvSpPr>
          <p:cNvPr id="4" name="TextBox 3">
            <a:extLst>
              <a:ext uri="{FF2B5EF4-FFF2-40B4-BE49-F238E27FC236}">
                <a16:creationId xmlns:a16="http://schemas.microsoft.com/office/drawing/2014/main" id="{7BB59A8C-B603-81C1-13F0-01D8B2A70247}"/>
              </a:ext>
            </a:extLst>
          </p:cNvPr>
          <p:cNvSpPr txBox="1"/>
          <p:nvPr/>
        </p:nvSpPr>
        <p:spPr>
          <a:xfrm>
            <a:off x="283564" y="644577"/>
            <a:ext cx="10479374" cy="1477328"/>
          </a:xfrm>
          <a:prstGeom prst="rect">
            <a:avLst/>
          </a:prstGeom>
          <a:noFill/>
        </p:spPr>
        <p:txBody>
          <a:bodyPr wrap="square">
            <a:spAutoFit/>
          </a:bodyPr>
          <a:lstStyle/>
          <a:p>
            <a:r>
              <a:rPr lang="en-US" dirty="0"/>
              <a:t>Two general approaches to dealing with memory overload have been developed over the years.</a:t>
            </a:r>
          </a:p>
          <a:p>
            <a:pPr marL="342900" indent="-342900">
              <a:buAutoNum type="arabicPeriod"/>
            </a:pPr>
            <a:r>
              <a:rPr lang="en-US" dirty="0"/>
              <a:t>Swapping</a:t>
            </a:r>
          </a:p>
          <a:p>
            <a:pPr marL="342900" indent="-342900">
              <a:buAutoNum type="arabicPeriod"/>
            </a:pPr>
            <a:r>
              <a:rPr lang="en-US" dirty="0"/>
              <a:t>Virtual Memory: allows programs to run even when they are only partially in main memory.</a:t>
            </a:r>
          </a:p>
          <a:p>
            <a:r>
              <a:rPr lang="en-US" b="1" dirty="0">
                <a:highlight>
                  <a:srgbClr val="FFFF00"/>
                </a:highlight>
              </a:rPr>
              <a:t>1. Swapping</a:t>
            </a:r>
            <a:r>
              <a:rPr lang="en-US" dirty="0"/>
              <a:t>: swapping of processes, consists of bringing in each process in its entirety, running it for a while, then putting it back on nonvolatile storage (disk or SSD). </a:t>
            </a:r>
          </a:p>
        </p:txBody>
      </p:sp>
      <p:sp>
        <p:nvSpPr>
          <p:cNvPr id="6" name="TextBox 5">
            <a:extLst>
              <a:ext uri="{FF2B5EF4-FFF2-40B4-BE49-F238E27FC236}">
                <a16:creationId xmlns:a16="http://schemas.microsoft.com/office/drawing/2014/main" id="{06930EB7-47E8-94AE-4071-6C374CEAD03A}"/>
              </a:ext>
            </a:extLst>
          </p:cNvPr>
          <p:cNvSpPr txBox="1"/>
          <p:nvPr/>
        </p:nvSpPr>
        <p:spPr>
          <a:xfrm>
            <a:off x="148651" y="2121905"/>
            <a:ext cx="4603285" cy="4524315"/>
          </a:xfrm>
          <a:prstGeom prst="rect">
            <a:avLst/>
          </a:prstGeom>
          <a:noFill/>
        </p:spPr>
        <p:txBody>
          <a:bodyPr wrap="square">
            <a:spAutoFit/>
          </a:bodyPr>
          <a:lstStyle/>
          <a:p>
            <a:r>
              <a:rPr lang="en-US" dirty="0"/>
              <a:t>The operation of a swapping system is illustrated in Fig. 3-4. </a:t>
            </a:r>
          </a:p>
          <a:p>
            <a:pPr marL="285750" indent="-285750">
              <a:buFont typeface="Wingdings" panose="05000000000000000000" pitchFamily="2" charset="2"/>
              <a:buChar char="§"/>
            </a:pPr>
            <a:r>
              <a:rPr lang="en-US" dirty="0"/>
              <a:t>Initially, only process A is in memory. </a:t>
            </a:r>
          </a:p>
          <a:p>
            <a:pPr marL="285750" indent="-285750">
              <a:buFont typeface="Wingdings" panose="05000000000000000000" pitchFamily="2" charset="2"/>
              <a:buChar char="§"/>
            </a:pPr>
            <a:r>
              <a:rPr lang="en-US" dirty="0"/>
              <a:t>Then processes B and C are created or swapped in from nonvolatile storage. </a:t>
            </a:r>
          </a:p>
          <a:p>
            <a:pPr marL="285750" indent="-285750">
              <a:buFont typeface="Wingdings" panose="05000000000000000000" pitchFamily="2" charset="2"/>
              <a:buChar char="§"/>
            </a:pPr>
            <a:r>
              <a:rPr lang="en-US" dirty="0"/>
              <a:t>In Fig. 3-4(d) A is swapped out to nonvolatile storage. Then D comes in and B goes out. </a:t>
            </a:r>
          </a:p>
          <a:p>
            <a:pPr marL="285750" indent="-285750">
              <a:buFont typeface="Wingdings" panose="05000000000000000000" pitchFamily="2" charset="2"/>
              <a:buChar char="§"/>
            </a:pPr>
            <a:r>
              <a:rPr lang="en-US" dirty="0"/>
              <a:t>Finally,  A comes in again. </a:t>
            </a:r>
          </a:p>
          <a:p>
            <a:pPr marL="285750" indent="-285750">
              <a:buFont typeface="Wingdings" panose="05000000000000000000" pitchFamily="2" charset="2"/>
              <a:buChar char="§"/>
            </a:pPr>
            <a:r>
              <a:rPr lang="en-US" dirty="0"/>
              <a:t>Since A is now at a different location, addresses contained in it must be relocated, either by software when it is swapped in or (more likely) by hardware during program execution.  For example, </a:t>
            </a:r>
            <a:r>
              <a:rPr lang="en-US" b="1" dirty="0"/>
              <a:t>base and limit registers </a:t>
            </a:r>
            <a:r>
              <a:rPr lang="en-US" dirty="0"/>
              <a:t>would work fine here.</a:t>
            </a:r>
          </a:p>
        </p:txBody>
      </p:sp>
      <p:pic>
        <p:nvPicPr>
          <p:cNvPr id="8" name="Picture 7" descr="A diagram of a system&#10;&#10;AI-generated content may be incorrect.">
            <a:extLst>
              <a:ext uri="{FF2B5EF4-FFF2-40B4-BE49-F238E27FC236}">
                <a16:creationId xmlns:a16="http://schemas.microsoft.com/office/drawing/2014/main" id="{BA96C8D5-9B26-9D61-4C65-C75205CEBB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51937" y="2272628"/>
            <a:ext cx="7440063" cy="3496163"/>
          </a:xfrm>
          <a:prstGeom prst="rect">
            <a:avLst/>
          </a:prstGeom>
        </p:spPr>
      </p:pic>
    </p:spTree>
    <p:extLst>
      <p:ext uri="{BB962C8B-B14F-4D97-AF65-F5344CB8AC3E}">
        <p14:creationId xmlns:p14="http://schemas.microsoft.com/office/powerpoint/2010/main" val="13645735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225FB-4D14-F397-2E12-65975D959CB6}"/>
              </a:ext>
            </a:extLst>
          </p:cNvPr>
          <p:cNvSpPr>
            <a:spLocks noGrp="1"/>
          </p:cNvSpPr>
          <p:nvPr>
            <p:ph type="title"/>
          </p:nvPr>
        </p:nvSpPr>
        <p:spPr>
          <a:xfrm>
            <a:off x="463446" y="365126"/>
            <a:ext cx="8905406" cy="834088"/>
          </a:xfrm>
        </p:spPr>
        <p:txBody>
          <a:bodyPr/>
          <a:lstStyle/>
          <a:p>
            <a:r>
              <a:rPr lang="en-US" b="1" dirty="0"/>
              <a:t>Memory Management Techniques</a:t>
            </a:r>
          </a:p>
        </p:txBody>
      </p:sp>
      <p:sp>
        <p:nvSpPr>
          <p:cNvPr id="3" name="TextBox 2">
            <a:extLst>
              <a:ext uri="{FF2B5EF4-FFF2-40B4-BE49-F238E27FC236}">
                <a16:creationId xmlns:a16="http://schemas.microsoft.com/office/drawing/2014/main" id="{1CF7884B-3B70-DC46-57C2-8ED76599F632}"/>
              </a:ext>
            </a:extLst>
          </p:cNvPr>
          <p:cNvSpPr txBox="1"/>
          <p:nvPr/>
        </p:nvSpPr>
        <p:spPr>
          <a:xfrm>
            <a:off x="463446" y="1244184"/>
            <a:ext cx="9818557" cy="830997"/>
          </a:xfrm>
          <a:prstGeom prst="rect">
            <a:avLst/>
          </a:prstGeom>
          <a:noFill/>
        </p:spPr>
        <p:txBody>
          <a:bodyPr wrap="square" rtlCol="0">
            <a:spAutoFit/>
          </a:bodyPr>
          <a:lstStyle/>
          <a:p>
            <a:pPr marL="342900" indent="-342900">
              <a:buFont typeface="Wingdings" panose="05000000000000000000" pitchFamily="2" charset="2"/>
              <a:buChar char="v"/>
            </a:pPr>
            <a:r>
              <a:rPr lang="en-US" sz="2400" dirty="0"/>
              <a:t>Contiguous Allocation</a:t>
            </a:r>
          </a:p>
          <a:p>
            <a:pPr marL="342900" indent="-342900">
              <a:buFont typeface="Wingdings" panose="05000000000000000000" pitchFamily="2" charset="2"/>
              <a:buChar char="v"/>
            </a:pPr>
            <a:r>
              <a:rPr lang="en-US" sz="2400" dirty="0"/>
              <a:t>Non-Contiguous Allocation</a:t>
            </a:r>
          </a:p>
        </p:txBody>
      </p:sp>
      <p:pic>
        <p:nvPicPr>
          <p:cNvPr id="5" name="Picture 4" descr="A diagram of a diagram&#10;&#10;AI-generated content may be incorrect.">
            <a:extLst>
              <a:ext uri="{FF2B5EF4-FFF2-40B4-BE49-F238E27FC236}">
                <a16:creationId xmlns:a16="http://schemas.microsoft.com/office/drawing/2014/main" id="{64CC2E42-69E8-149A-CA27-0E1587BFF6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9218" y="2120151"/>
            <a:ext cx="5307144" cy="2076450"/>
          </a:xfrm>
          <a:prstGeom prst="rect">
            <a:avLst/>
          </a:prstGeom>
        </p:spPr>
      </p:pic>
      <p:sp>
        <p:nvSpPr>
          <p:cNvPr id="7" name="TextBox 6">
            <a:extLst>
              <a:ext uri="{FF2B5EF4-FFF2-40B4-BE49-F238E27FC236}">
                <a16:creationId xmlns:a16="http://schemas.microsoft.com/office/drawing/2014/main" id="{C96927C0-EF53-2114-6EA3-9650412E4D15}"/>
              </a:ext>
            </a:extLst>
          </p:cNvPr>
          <p:cNvSpPr txBox="1"/>
          <p:nvPr/>
        </p:nvSpPr>
        <p:spPr>
          <a:xfrm>
            <a:off x="239217" y="4354351"/>
            <a:ext cx="5620066" cy="2300630"/>
          </a:xfrm>
          <a:prstGeom prst="rect">
            <a:avLst/>
          </a:prstGeom>
          <a:noFill/>
        </p:spPr>
        <p:txBody>
          <a:bodyPr wrap="square">
            <a:spAutoFit/>
          </a:bodyPr>
          <a:lstStyle/>
          <a:p>
            <a:pPr algn="l" fontAlgn="base">
              <a:buNone/>
            </a:pPr>
            <a:r>
              <a:rPr lang="en-US" b="1" i="0" u="sng" dirty="0">
                <a:effectLst/>
                <a:latin typeface="Roboto Condensed" panose="02000000000000000000" pitchFamily="2" charset="0"/>
              </a:rPr>
              <a:t>1. Static Partitioning-</a:t>
            </a:r>
            <a:endParaRPr lang="en-US" b="0" i="0" dirty="0">
              <a:effectLst/>
              <a:latin typeface="Arimo"/>
            </a:endParaRPr>
          </a:p>
          <a:p>
            <a:pPr algn="l" fontAlgn="base">
              <a:spcBef>
                <a:spcPts val="300"/>
              </a:spcBef>
              <a:spcAft>
                <a:spcPts val="300"/>
              </a:spcAft>
              <a:buFont typeface="Arial" panose="020B0604020202020204" pitchFamily="34" charset="0"/>
              <a:buChar char="•"/>
            </a:pPr>
            <a:r>
              <a:rPr lang="en-US" b="0" i="0" dirty="0">
                <a:effectLst/>
                <a:latin typeface="Arimo"/>
              </a:rPr>
              <a:t>Static partitioning is a fixed size partitioning scheme.</a:t>
            </a:r>
          </a:p>
          <a:p>
            <a:pPr algn="l" fontAlgn="base">
              <a:spcBef>
                <a:spcPts val="300"/>
              </a:spcBef>
              <a:spcAft>
                <a:spcPts val="300"/>
              </a:spcAft>
              <a:buFont typeface="Arial" panose="020B0604020202020204" pitchFamily="34" charset="0"/>
              <a:buChar char="•"/>
            </a:pPr>
            <a:r>
              <a:rPr lang="en-US" b="0" i="0" dirty="0">
                <a:effectLst/>
                <a:latin typeface="Arimo"/>
              </a:rPr>
              <a:t>In this technique, main memory is pre-divided into fixed size partitions.</a:t>
            </a:r>
          </a:p>
          <a:p>
            <a:pPr algn="l" fontAlgn="base">
              <a:spcBef>
                <a:spcPts val="300"/>
              </a:spcBef>
              <a:spcAft>
                <a:spcPts val="300"/>
              </a:spcAft>
              <a:buFont typeface="Arial" panose="020B0604020202020204" pitchFamily="34" charset="0"/>
              <a:buChar char="•"/>
            </a:pPr>
            <a:r>
              <a:rPr lang="en-US" b="0" i="0" dirty="0">
                <a:effectLst/>
                <a:latin typeface="Arimo"/>
              </a:rPr>
              <a:t>The size of each partition is fixed and can not be changed.</a:t>
            </a:r>
          </a:p>
          <a:p>
            <a:pPr algn="l" fontAlgn="base">
              <a:spcBef>
                <a:spcPts val="300"/>
              </a:spcBef>
              <a:spcAft>
                <a:spcPts val="300"/>
              </a:spcAft>
              <a:buFont typeface="Arial" panose="020B0604020202020204" pitchFamily="34" charset="0"/>
              <a:buChar char="•"/>
            </a:pPr>
            <a:r>
              <a:rPr lang="en-US" b="0" i="0" dirty="0">
                <a:effectLst/>
                <a:latin typeface="Arimo"/>
              </a:rPr>
              <a:t>Each partition is allowed to store only one process.</a:t>
            </a:r>
          </a:p>
        </p:txBody>
      </p:sp>
      <p:sp>
        <p:nvSpPr>
          <p:cNvPr id="9" name="TextBox 8">
            <a:extLst>
              <a:ext uri="{FF2B5EF4-FFF2-40B4-BE49-F238E27FC236}">
                <a16:creationId xmlns:a16="http://schemas.microsoft.com/office/drawing/2014/main" id="{E34F876F-C3C9-FD6D-1C4A-23E452FF0520}"/>
              </a:ext>
            </a:extLst>
          </p:cNvPr>
          <p:cNvSpPr txBox="1"/>
          <p:nvPr/>
        </p:nvSpPr>
        <p:spPr>
          <a:xfrm>
            <a:off x="5859283" y="1244184"/>
            <a:ext cx="6093500" cy="961802"/>
          </a:xfrm>
          <a:prstGeom prst="rect">
            <a:avLst/>
          </a:prstGeom>
          <a:noFill/>
        </p:spPr>
        <p:txBody>
          <a:bodyPr wrap="square">
            <a:spAutoFit/>
          </a:bodyPr>
          <a:lstStyle/>
          <a:p>
            <a:pPr algn="l" fontAlgn="base">
              <a:buNone/>
            </a:pPr>
            <a:r>
              <a:rPr lang="en-US" b="1" i="0" u="sng" dirty="0">
                <a:effectLst/>
                <a:latin typeface="Roboto Condensed" panose="02000000000000000000" pitchFamily="2" charset="0"/>
              </a:rPr>
              <a:t>Algorithms for Partition Allocation-</a:t>
            </a:r>
            <a:endParaRPr lang="en-US" b="0" i="0" dirty="0">
              <a:effectLst/>
              <a:latin typeface="Arimo"/>
            </a:endParaRPr>
          </a:p>
          <a:p>
            <a:pPr algn="l" fontAlgn="base">
              <a:spcBef>
                <a:spcPts val="300"/>
              </a:spcBef>
              <a:spcAft>
                <a:spcPts val="900"/>
              </a:spcAft>
              <a:buNone/>
            </a:pPr>
            <a:r>
              <a:rPr lang="en-US" b="0" i="0" dirty="0">
                <a:effectLst/>
                <a:latin typeface="Arimo"/>
              </a:rPr>
              <a:t>Popular algorithms used for allocating the partitions to the arriving processes are-</a:t>
            </a:r>
          </a:p>
        </p:txBody>
      </p:sp>
      <p:pic>
        <p:nvPicPr>
          <p:cNvPr id="11" name="Picture 10" descr="A diagram of a diagram&#10;&#10;AI-generated content may be incorrect.">
            <a:extLst>
              <a:ext uri="{FF2B5EF4-FFF2-40B4-BE49-F238E27FC236}">
                <a16:creationId xmlns:a16="http://schemas.microsoft.com/office/drawing/2014/main" id="{6ED4A1AB-8A38-21FB-343F-6DC7499A1E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8760" y="2205986"/>
            <a:ext cx="4200525" cy="1743075"/>
          </a:xfrm>
          <a:prstGeom prst="rect">
            <a:avLst/>
          </a:prstGeom>
        </p:spPr>
      </p:pic>
      <p:sp>
        <p:nvSpPr>
          <p:cNvPr id="13" name="TextBox 12">
            <a:extLst>
              <a:ext uri="{FF2B5EF4-FFF2-40B4-BE49-F238E27FC236}">
                <a16:creationId xmlns:a16="http://schemas.microsoft.com/office/drawing/2014/main" id="{D9F734E3-1B86-FCB3-11A2-199CB89DCD07}"/>
              </a:ext>
            </a:extLst>
          </p:cNvPr>
          <p:cNvSpPr txBox="1"/>
          <p:nvPr/>
        </p:nvSpPr>
        <p:spPr>
          <a:xfrm>
            <a:off x="5859283" y="4477369"/>
            <a:ext cx="6093500" cy="1200329"/>
          </a:xfrm>
          <a:prstGeom prst="rect">
            <a:avLst/>
          </a:prstGeom>
          <a:noFill/>
        </p:spPr>
        <p:txBody>
          <a:bodyPr wrap="square">
            <a:spAutoFit/>
          </a:bodyPr>
          <a:lstStyle/>
          <a:p>
            <a:pPr marL="342900" indent="-342900">
              <a:buFont typeface="+mj-lt"/>
              <a:buAutoNum type="arabicPeriod"/>
            </a:pPr>
            <a:r>
              <a:rPr lang="en-US" b="1" dirty="0"/>
              <a:t>Note:</a:t>
            </a:r>
            <a:r>
              <a:rPr lang="en-US" dirty="0"/>
              <a:t> Contiguous allocation suffers from </a:t>
            </a:r>
            <a:r>
              <a:rPr lang="en-US" b="1" dirty="0"/>
              <a:t>external fragmentation</a:t>
            </a:r>
            <a:r>
              <a:rPr lang="en-US" dirty="0"/>
              <a:t>.</a:t>
            </a:r>
          </a:p>
          <a:p>
            <a:pPr marL="342900" indent="-342900">
              <a:buFont typeface="+mj-lt"/>
              <a:buAutoNum type="arabicPeriod"/>
            </a:pPr>
            <a:r>
              <a:rPr lang="en-US" dirty="0"/>
              <a:t>In addition, </a:t>
            </a:r>
            <a:r>
              <a:rPr lang="en-US" b="1" dirty="0"/>
              <a:t>static partitioning</a:t>
            </a:r>
            <a:r>
              <a:rPr lang="en-US" dirty="0"/>
              <a:t> within contiguous allocation also leads to </a:t>
            </a:r>
            <a:r>
              <a:rPr lang="en-US" b="1" dirty="0"/>
              <a:t>internal fragmentation</a:t>
            </a:r>
            <a:r>
              <a:rPr lang="en-US" dirty="0"/>
              <a:t>.</a:t>
            </a:r>
          </a:p>
        </p:txBody>
      </p:sp>
    </p:spTree>
    <p:extLst>
      <p:ext uri="{BB962C8B-B14F-4D97-AF65-F5344CB8AC3E}">
        <p14:creationId xmlns:p14="http://schemas.microsoft.com/office/powerpoint/2010/main" val="1375992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AA397F5-4B29-2E98-BDCA-50FEF5C8B13B}"/>
              </a:ext>
            </a:extLst>
          </p:cNvPr>
          <p:cNvSpPr>
            <a:spLocks noGrp="1"/>
          </p:cNvSpPr>
          <p:nvPr>
            <p:ph type="title"/>
          </p:nvPr>
        </p:nvSpPr>
        <p:spPr>
          <a:xfrm>
            <a:off x="752475" y="190501"/>
            <a:ext cx="8229600" cy="533401"/>
          </a:xfrm>
        </p:spPr>
        <p:txBody>
          <a:bodyPr>
            <a:normAutofit fontScale="90000"/>
          </a:bodyPr>
          <a:lstStyle/>
          <a:p>
            <a:r>
              <a:rPr lang="en-IN" dirty="0">
                <a:solidFill>
                  <a:srgbClr val="FF0000"/>
                </a:solidFill>
              </a:rPr>
              <a:t>1. Problem with Fixed Partition</a:t>
            </a:r>
          </a:p>
        </p:txBody>
      </p:sp>
      <p:pic>
        <p:nvPicPr>
          <p:cNvPr id="5" name="Picture 4">
            <a:extLst>
              <a:ext uri="{FF2B5EF4-FFF2-40B4-BE49-F238E27FC236}">
                <a16:creationId xmlns:a16="http://schemas.microsoft.com/office/drawing/2014/main" id="{9D6D98DA-3909-BF1D-BE82-3B4C0BAD1817}"/>
              </a:ext>
            </a:extLst>
          </p:cNvPr>
          <p:cNvPicPr>
            <a:picLocks noChangeAspect="1"/>
          </p:cNvPicPr>
          <p:nvPr/>
        </p:nvPicPr>
        <p:blipFill>
          <a:blip r:embed="rId2"/>
          <a:stretch>
            <a:fillRect/>
          </a:stretch>
        </p:blipFill>
        <p:spPr>
          <a:xfrm>
            <a:off x="752475" y="685802"/>
            <a:ext cx="8001000" cy="2971800"/>
          </a:xfrm>
          <a:prstGeom prst="rect">
            <a:avLst/>
          </a:prstGeom>
        </p:spPr>
      </p:pic>
      <p:pic>
        <p:nvPicPr>
          <p:cNvPr id="8" name="Picture 7">
            <a:extLst>
              <a:ext uri="{FF2B5EF4-FFF2-40B4-BE49-F238E27FC236}">
                <a16:creationId xmlns:a16="http://schemas.microsoft.com/office/drawing/2014/main" id="{B66096D9-9501-03C8-BE7B-F41E7E64A62D}"/>
              </a:ext>
            </a:extLst>
          </p:cNvPr>
          <p:cNvPicPr>
            <a:picLocks noChangeAspect="1"/>
          </p:cNvPicPr>
          <p:nvPr/>
        </p:nvPicPr>
        <p:blipFill>
          <a:blip r:embed="rId3"/>
          <a:stretch>
            <a:fillRect/>
          </a:stretch>
        </p:blipFill>
        <p:spPr>
          <a:xfrm>
            <a:off x="5747010" y="3160426"/>
            <a:ext cx="5314950" cy="3200400"/>
          </a:xfrm>
          <a:prstGeom prst="rect">
            <a:avLst/>
          </a:prstGeom>
        </p:spPr>
      </p:pic>
    </p:spTree>
    <p:extLst>
      <p:ext uri="{BB962C8B-B14F-4D97-AF65-F5344CB8AC3E}">
        <p14:creationId xmlns:p14="http://schemas.microsoft.com/office/powerpoint/2010/main" val="23210717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AA397F5-4B29-2E98-BDCA-50FEF5C8B13B}"/>
              </a:ext>
            </a:extLst>
          </p:cNvPr>
          <p:cNvSpPr>
            <a:spLocks noGrp="1"/>
          </p:cNvSpPr>
          <p:nvPr>
            <p:ph type="title"/>
          </p:nvPr>
        </p:nvSpPr>
        <p:spPr>
          <a:xfrm>
            <a:off x="647075" y="152400"/>
            <a:ext cx="8229600" cy="533401"/>
          </a:xfrm>
        </p:spPr>
        <p:txBody>
          <a:bodyPr>
            <a:normAutofit fontScale="90000"/>
          </a:bodyPr>
          <a:lstStyle/>
          <a:p>
            <a:r>
              <a:rPr lang="en-IN" dirty="0">
                <a:solidFill>
                  <a:srgbClr val="FF0000"/>
                </a:solidFill>
              </a:rPr>
              <a:t>2. Problem with Fixed Partition</a:t>
            </a:r>
          </a:p>
        </p:txBody>
      </p:sp>
      <p:sp>
        <p:nvSpPr>
          <p:cNvPr id="2" name="TextBox 1">
            <a:extLst>
              <a:ext uri="{FF2B5EF4-FFF2-40B4-BE49-F238E27FC236}">
                <a16:creationId xmlns:a16="http://schemas.microsoft.com/office/drawing/2014/main" id="{7855389B-A8D1-D5BE-C1E8-6AF556848540}"/>
              </a:ext>
            </a:extLst>
          </p:cNvPr>
          <p:cNvSpPr txBox="1"/>
          <p:nvPr/>
        </p:nvSpPr>
        <p:spPr>
          <a:xfrm>
            <a:off x="647075" y="685801"/>
            <a:ext cx="6278381" cy="2646878"/>
          </a:xfrm>
          <a:prstGeom prst="rect">
            <a:avLst/>
          </a:prstGeom>
          <a:noFill/>
        </p:spPr>
        <p:txBody>
          <a:bodyPr wrap="square" rtlCol="0">
            <a:spAutoFit/>
          </a:bodyPr>
          <a:lstStyle/>
          <a:p>
            <a:r>
              <a:rPr lang="en-IN" sz="2800" b="1" u="sng" dirty="0">
                <a:latin typeface="Times New Roman" panose="02020603050405020304" pitchFamily="18" charset="0"/>
                <a:cs typeface="Times New Roman" panose="02020603050405020304" pitchFamily="18" charset="0"/>
              </a:rPr>
              <a:t>External Fragmentation (EF)</a:t>
            </a:r>
          </a:p>
          <a:p>
            <a:r>
              <a:rPr lang="en-US" sz="2200" dirty="0">
                <a:latin typeface="Times New Roman" panose="02020603050405020304" pitchFamily="18" charset="0"/>
                <a:cs typeface="Times New Roman" panose="02020603050405020304" pitchFamily="18" charset="0"/>
              </a:rPr>
              <a:t>There is enough memory space to  complete a request, but it is  not contiguous. It's known as </a:t>
            </a:r>
          </a:p>
          <a:p>
            <a:r>
              <a:rPr lang="en-US" sz="2200" b="1" dirty="0">
                <a:latin typeface="Times New Roman" panose="02020603050405020304" pitchFamily="18" charset="0"/>
                <a:cs typeface="Times New Roman" panose="02020603050405020304" pitchFamily="18" charset="0"/>
              </a:rPr>
              <a:t>external</a:t>
            </a:r>
            <a:r>
              <a:rPr lang="en-US" sz="2200" dirty="0">
                <a:latin typeface="Times New Roman" panose="02020603050405020304" pitchFamily="18" charset="0"/>
                <a:cs typeface="Times New Roman" panose="02020603050405020304" pitchFamily="18" charset="0"/>
              </a:rPr>
              <a:t> fragmentation.</a:t>
            </a:r>
          </a:p>
          <a:p>
            <a:endParaRPr lang="en-US" sz="2400"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Note: When IF exists then EF also exists, But  if there is no IF, still EF can be there.</a:t>
            </a:r>
            <a:endParaRPr lang="en-US" sz="24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4DBC84DE-0507-5905-E8C1-2A2BF0845497}"/>
              </a:ext>
            </a:extLst>
          </p:cNvPr>
          <p:cNvPicPr>
            <a:picLocks noChangeAspect="1"/>
          </p:cNvPicPr>
          <p:nvPr/>
        </p:nvPicPr>
        <p:blipFill>
          <a:blip r:embed="rId2"/>
          <a:stretch>
            <a:fillRect/>
          </a:stretch>
        </p:blipFill>
        <p:spPr>
          <a:xfrm>
            <a:off x="7443865" y="0"/>
            <a:ext cx="2865620" cy="3363981"/>
          </a:xfrm>
          <a:prstGeom prst="rect">
            <a:avLst/>
          </a:prstGeom>
        </p:spPr>
      </p:pic>
      <p:pic>
        <p:nvPicPr>
          <p:cNvPr id="5" name="Picture 4" descr="A diagram of a number of objects&#10;&#10;AI-generated content may be incorrect.">
            <a:extLst>
              <a:ext uri="{FF2B5EF4-FFF2-40B4-BE49-F238E27FC236}">
                <a16:creationId xmlns:a16="http://schemas.microsoft.com/office/drawing/2014/main" id="{F658BF69-E746-5A42-81AF-41868EF148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7471" y="3363981"/>
            <a:ext cx="5277587" cy="2876951"/>
          </a:xfrm>
          <a:prstGeom prst="rect">
            <a:avLst/>
          </a:prstGeom>
        </p:spPr>
      </p:pic>
    </p:spTree>
    <p:extLst>
      <p:ext uri="{BB962C8B-B14F-4D97-AF65-F5344CB8AC3E}">
        <p14:creationId xmlns:p14="http://schemas.microsoft.com/office/powerpoint/2010/main" val="4074854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F1E75D1-A429-CA1E-10DA-F74ED462A06D}"/>
              </a:ext>
            </a:extLst>
          </p:cNvPr>
          <p:cNvSpPr txBox="1"/>
          <p:nvPr/>
        </p:nvSpPr>
        <p:spPr>
          <a:xfrm>
            <a:off x="633334" y="989113"/>
            <a:ext cx="9964712" cy="1785104"/>
          </a:xfrm>
          <a:prstGeom prst="rect">
            <a:avLst/>
          </a:prstGeom>
          <a:noFill/>
        </p:spPr>
        <p:txBody>
          <a:bodyPr wrap="square">
            <a:spAutoFit/>
          </a:bodyPr>
          <a:lstStyle/>
          <a:p>
            <a:pPr algn="just">
              <a:buNone/>
            </a:pPr>
            <a:r>
              <a:rPr lang="en-US" sz="2800" b="1" i="0" dirty="0">
                <a:effectLst/>
                <a:latin typeface="+mj-lt"/>
              </a:rPr>
              <a:t>2. Dynamic Partitioning or Variable Size Partitioning</a:t>
            </a:r>
          </a:p>
          <a:p>
            <a:pPr algn="just">
              <a:buNone/>
            </a:pPr>
            <a:endParaRPr lang="en-US" sz="2800" b="1" i="0" dirty="0">
              <a:effectLst/>
              <a:latin typeface="+mj-lt"/>
            </a:endParaRPr>
          </a:p>
          <a:p>
            <a:pPr algn="just">
              <a:buNone/>
            </a:pPr>
            <a:r>
              <a:rPr lang="en-US" b="0" i="0" dirty="0">
                <a:effectLst/>
                <a:latin typeface="+mj-lt"/>
              </a:rPr>
              <a:t>In Dynamic Partitioning, the main memory is not divided initially. </a:t>
            </a:r>
            <a:r>
              <a:rPr lang="en-US" b="1" i="0" dirty="0">
                <a:effectLst/>
                <a:latin typeface="+mj-lt"/>
              </a:rPr>
              <a:t>When a process arrives in the main memory it is given that much memory. Here the partition/block size is not fixed initially, instead, the size of partition/block size is equal to the size of the process</a:t>
            </a:r>
            <a:r>
              <a:rPr lang="en-US" b="0" i="0" dirty="0">
                <a:effectLst/>
                <a:latin typeface="+mj-lt"/>
              </a:rPr>
              <a:t>. This is shown in the diagram below.</a:t>
            </a:r>
          </a:p>
        </p:txBody>
      </p:sp>
      <p:sp>
        <p:nvSpPr>
          <p:cNvPr id="7" name="TextBox 6">
            <a:extLst>
              <a:ext uri="{FF2B5EF4-FFF2-40B4-BE49-F238E27FC236}">
                <a16:creationId xmlns:a16="http://schemas.microsoft.com/office/drawing/2014/main" id="{50F31EF7-801C-097B-6B28-7E8A365E370F}"/>
              </a:ext>
            </a:extLst>
          </p:cNvPr>
          <p:cNvSpPr txBox="1"/>
          <p:nvPr/>
        </p:nvSpPr>
        <p:spPr>
          <a:xfrm>
            <a:off x="633334" y="334967"/>
            <a:ext cx="6093500" cy="523220"/>
          </a:xfrm>
          <a:prstGeom prst="rect">
            <a:avLst/>
          </a:prstGeom>
          <a:noFill/>
        </p:spPr>
        <p:txBody>
          <a:bodyPr wrap="square">
            <a:spAutoFit/>
          </a:bodyPr>
          <a:lstStyle/>
          <a:p>
            <a:pPr marL="342900" indent="-342900">
              <a:buFont typeface="Wingdings" panose="05000000000000000000" pitchFamily="2" charset="2"/>
              <a:buChar char="v"/>
            </a:pPr>
            <a:r>
              <a:rPr lang="en-US" sz="2800" dirty="0"/>
              <a:t>Contiguous Allocation </a:t>
            </a:r>
            <a:r>
              <a:rPr lang="en-US" sz="2800" dirty="0" err="1"/>
              <a:t>contd</a:t>
            </a:r>
            <a:r>
              <a:rPr lang="en-US" sz="2800" dirty="0"/>
              <a:t>…</a:t>
            </a:r>
          </a:p>
        </p:txBody>
      </p:sp>
      <p:pic>
        <p:nvPicPr>
          <p:cNvPr id="9" name="Picture 8" descr="A diagram of steps and steps&#10;&#10;AI-generated content may be incorrect.">
            <a:extLst>
              <a:ext uri="{FF2B5EF4-FFF2-40B4-BE49-F238E27FC236}">
                <a16:creationId xmlns:a16="http://schemas.microsoft.com/office/drawing/2014/main" id="{93EFDBA0-1366-6637-2FD5-5E67996240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3334" y="3144985"/>
            <a:ext cx="4887007" cy="3019846"/>
          </a:xfrm>
          <a:prstGeom prst="rect">
            <a:avLst/>
          </a:prstGeom>
        </p:spPr>
      </p:pic>
      <p:sp>
        <p:nvSpPr>
          <p:cNvPr id="11" name="TextBox 10">
            <a:extLst>
              <a:ext uri="{FF2B5EF4-FFF2-40B4-BE49-F238E27FC236}">
                <a16:creationId xmlns:a16="http://schemas.microsoft.com/office/drawing/2014/main" id="{C47AEE4D-0828-1F70-8C2D-FF696FE8F7ED}"/>
              </a:ext>
            </a:extLst>
          </p:cNvPr>
          <p:cNvSpPr txBox="1"/>
          <p:nvPr/>
        </p:nvSpPr>
        <p:spPr>
          <a:xfrm>
            <a:off x="5969833" y="3028890"/>
            <a:ext cx="6093500" cy="800219"/>
          </a:xfrm>
          <a:prstGeom prst="rect">
            <a:avLst/>
          </a:prstGeom>
          <a:noFill/>
        </p:spPr>
        <p:txBody>
          <a:bodyPr wrap="square">
            <a:spAutoFit/>
          </a:bodyPr>
          <a:lstStyle/>
          <a:p>
            <a:pPr algn="l" fontAlgn="base">
              <a:spcBef>
                <a:spcPts val="300"/>
              </a:spcBef>
              <a:spcAft>
                <a:spcPts val="900"/>
              </a:spcAft>
              <a:buNone/>
            </a:pPr>
            <a:r>
              <a:rPr lang="en-US" b="0" i="0" dirty="0">
                <a:effectLst/>
                <a:latin typeface="Arimo"/>
              </a:rPr>
              <a:t>Popular partition allocation algorithms are-</a:t>
            </a:r>
          </a:p>
          <a:p>
            <a:pPr algn="l" fontAlgn="base">
              <a:spcBef>
                <a:spcPts val="300"/>
              </a:spcBef>
              <a:spcAft>
                <a:spcPts val="900"/>
              </a:spcAft>
              <a:buNone/>
            </a:pPr>
            <a:r>
              <a:rPr lang="en-US" b="0" i="0" dirty="0">
                <a:effectLst/>
                <a:latin typeface="Arimo"/>
              </a:rPr>
              <a:t> </a:t>
            </a:r>
          </a:p>
        </p:txBody>
      </p:sp>
      <p:pic>
        <p:nvPicPr>
          <p:cNvPr id="13" name="Picture 12" descr="A diagram of a diagram&#10;&#10;AI-generated content may be incorrect.">
            <a:extLst>
              <a:ext uri="{FF2B5EF4-FFF2-40B4-BE49-F238E27FC236}">
                <a16:creationId xmlns:a16="http://schemas.microsoft.com/office/drawing/2014/main" id="{250C56C5-FF31-4DF3-97C0-4D5CD2C0B7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14281" y="3428999"/>
            <a:ext cx="4200525" cy="1743075"/>
          </a:xfrm>
          <a:prstGeom prst="rect">
            <a:avLst/>
          </a:prstGeom>
        </p:spPr>
      </p:pic>
    </p:spTree>
    <p:extLst>
      <p:ext uri="{BB962C8B-B14F-4D97-AF65-F5344CB8AC3E}">
        <p14:creationId xmlns:p14="http://schemas.microsoft.com/office/powerpoint/2010/main" val="38638622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992FAC1-C3A3-F5E4-20D1-2809B152B58C}"/>
              </a:ext>
            </a:extLst>
          </p:cNvPr>
          <p:cNvSpPr txBox="1"/>
          <p:nvPr/>
        </p:nvSpPr>
        <p:spPr>
          <a:xfrm>
            <a:off x="446582" y="355241"/>
            <a:ext cx="11298835" cy="5624617"/>
          </a:xfrm>
          <a:prstGeom prst="rect">
            <a:avLst/>
          </a:prstGeom>
          <a:noFill/>
        </p:spPr>
        <p:txBody>
          <a:bodyPr wrap="square">
            <a:spAutoFit/>
          </a:bodyPr>
          <a:lstStyle/>
          <a:p>
            <a:pPr algn="l" fontAlgn="base">
              <a:buNone/>
            </a:pPr>
            <a:r>
              <a:rPr lang="en-US" sz="2400" b="1" i="0" u="sng" dirty="0">
                <a:effectLst/>
                <a:latin typeface="Roboto Condensed" panose="02000000000000000000" pitchFamily="2" charset="0"/>
              </a:rPr>
              <a:t>Important Points-</a:t>
            </a:r>
            <a:endParaRPr lang="en-US" sz="2400" b="0" i="0" dirty="0">
              <a:effectLst/>
              <a:latin typeface="Arimo"/>
            </a:endParaRPr>
          </a:p>
          <a:p>
            <a:pPr algn="l" fontAlgn="base">
              <a:buNone/>
            </a:pPr>
            <a:r>
              <a:rPr lang="en-US" sz="2400" b="1" i="0" u="sng" dirty="0">
                <a:effectLst/>
                <a:latin typeface="Roboto Condensed" panose="02000000000000000000" pitchFamily="2" charset="0"/>
              </a:rPr>
              <a:t>Point-01:</a:t>
            </a:r>
            <a:endParaRPr lang="en-US" sz="2400" b="0" i="0" dirty="0">
              <a:effectLst/>
              <a:latin typeface="Arimo"/>
            </a:endParaRPr>
          </a:p>
          <a:p>
            <a:pPr algn="l" fontAlgn="base">
              <a:spcBef>
                <a:spcPts val="300"/>
              </a:spcBef>
              <a:spcAft>
                <a:spcPts val="900"/>
              </a:spcAft>
              <a:buNone/>
            </a:pPr>
            <a:r>
              <a:rPr lang="en-US" sz="2400" b="0" i="0" dirty="0">
                <a:effectLst/>
                <a:latin typeface="Arimo"/>
              </a:rPr>
              <a:t>For dynamic partitioning,</a:t>
            </a:r>
          </a:p>
          <a:p>
            <a:pPr algn="l" fontAlgn="base">
              <a:spcBef>
                <a:spcPts val="300"/>
              </a:spcBef>
              <a:spcAft>
                <a:spcPts val="300"/>
              </a:spcAft>
              <a:buFont typeface="Arial" panose="020B0604020202020204" pitchFamily="34" charset="0"/>
              <a:buChar char="•"/>
            </a:pPr>
            <a:r>
              <a:rPr lang="en-US" sz="2400" b="0" i="0" dirty="0">
                <a:effectLst/>
                <a:latin typeface="Arimo"/>
              </a:rPr>
              <a:t>Worst Fit Algorithm works best.</a:t>
            </a:r>
          </a:p>
          <a:p>
            <a:pPr algn="l" fontAlgn="base">
              <a:spcBef>
                <a:spcPts val="300"/>
              </a:spcBef>
              <a:spcAft>
                <a:spcPts val="300"/>
              </a:spcAft>
              <a:buFont typeface="Arial" panose="020B0604020202020204" pitchFamily="34" charset="0"/>
              <a:buChar char="•"/>
            </a:pPr>
            <a:r>
              <a:rPr lang="en-US" sz="2400" b="0" i="0" dirty="0">
                <a:effectLst/>
                <a:latin typeface="Arimo"/>
              </a:rPr>
              <a:t>This is because space left after allocation inside the partition is of large size.</a:t>
            </a:r>
          </a:p>
          <a:p>
            <a:pPr algn="l" fontAlgn="base">
              <a:spcBef>
                <a:spcPts val="300"/>
              </a:spcBef>
              <a:spcAft>
                <a:spcPts val="300"/>
              </a:spcAft>
              <a:buFont typeface="Arial" panose="020B0604020202020204" pitchFamily="34" charset="0"/>
              <a:buChar char="•"/>
            </a:pPr>
            <a:r>
              <a:rPr lang="en-US" sz="2400" b="0" i="0" dirty="0">
                <a:effectLst/>
                <a:latin typeface="Arimo"/>
              </a:rPr>
              <a:t>There is a high probability that this space might suit the requirement of arriving processes.</a:t>
            </a:r>
          </a:p>
          <a:p>
            <a:pPr algn="l" fontAlgn="base">
              <a:buNone/>
            </a:pPr>
            <a:r>
              <a:rPr lang="en-US" sz="2400" b="1" i="0" u="sng" dirty="0">
                <a:effectLst/>
                <a:latin typeface="Roboto Condensed" panose="02000000000000000000" pitchFamily="2" charset="0"/>
              </a:rPr>
              <a:t>Point-02:</a:t>
            </a:r>
            <a:endParaRPr lang="en-US" sz="2400" b="0" i="0" dirty="0">
              <a:effectLst/>
              <a:latin typeface="Arimo"/>
            </a:endParaRPr>
          </a:p>
          <a:p>
            <a:pPr algn="l" fontAlgn="base">
              <a:spcBef>
                <a:spcPts val="300"/>
              </a:spcBef>
              <a:spcAft>
                <a:spcPts val="900"/>
              </a:spcAft>
              <a:buNone/>
            </a:pPr>
            <a:r>
              <a:rPr lang="en-US" sz="2400" b="0" i="0" dirty="0">
                <a:effectLst/>
                <a:latin typeface="Arimo"/>
              </a:rPr>
              <a:t>For dynamic partitioning,</a:t>
            </a:r>
          </a:p>
          <a:p>
            <a:pPr algn="l" fontAlgn="base">
              <a:spcBef>
                <a:spcPts val="300"/>
              </a:spcBef>
              <a:spcAft>
                <a:spcPts val="300"/>
              </a:spcAft>
              <a:buFont typeface="Arial" panose="020B0604020202020204" pitchFamily="34" charset="0"/>
              <a:buChar char="•"/>
            </a:pPr>
            <a:r>
              <a:rPr lang="en-US" sz="2400" b="0" i="0" dirty="0">
                <a:effectLst/>
                <a:latin typeface="Arimo"/>
              </a:rPr>
              <a:t>Best Fit Algorithm works worst.</a:t>
            </a:r>
          </a:p>
          <a:p>
            <a:pPr algn="l" fontAlgn="base">
              <a:spcBef>
                <a:spcPts val="300"/>
              </a:spcBef>
              <a:spcAft>
                <a:spcPts val="300"/>
              </a:spcAft>
              <a:buFont typeface="Arial" panose="020B0604020202020204" pitchFamily="34" charset="0"/>
              <a:buChar char="•"/>
            </a:pPr>
            <a:r>
              <a:rPr lang="en-US" sz="2400" b="0" i="0" dirty="0">
                <a:effectLst/>
                <a:latin typeface="Arimo"/>
              </a:rPr>
              <a:t>This is because space left after allocation inside the partition is of very small size.</a:t>
            </a:r>
          </a:p>
          <a:p>
            <a:pPr algn="l" fontAlgn="base">
              <a:spcBef>
                <a:spcPts val="300"/>
              </a:spcBef>
              <a:spcAft>
                <a:spcPts val="300"/>
              </a:spcAft>
              <a:buFont typeface="Arial" panose="020B0604020202020204" pitchFamily="34" charset="0"/>
              <a:buChar char="•"/>
            </a:pPr>
            <a:r>
              <a:rPr lang="en-US" sz="2400" b="0" i="0" dirty="0">
                <a:effectLst/>
                <a:latin typeface="Arimo"/>
              </a:rPr>
              <a:t>There is a low probability that this space might suit the requirement of arriving processes.</a:t>
            </a:r>
          </a:p>
        </p:txBody>
      </p:sp>
    </p:spTree>
    <p:extLst>
      <p:ext uri="{BB962C8B-B14F-4D97-AF65-F5344CB8AC3E}">
        <p14:creationId xmlns:p14="http://schemas.microsoft.com/office/powerpoint/2010/main" val="41053403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8DCFF09-CB5F-113F-E8A9-16318C831273}"/>
              </a:ext>
            </a:extLst>
          </p:cNvPr>
          <p:cNvSpPr txBox="1"/>
          <p:nvPr/>
        </p:nvSpPr>
        <p:spPr>
          <a:xfrm>
            <a:off x="753255" y="292728"/>
            <a:ext cx="8735519" cy="3901068"/>
          </a:xfrm>
          <a:prstGeom prst="rect">
            <a:avLst/>
          </a:prstGeom>
          <a:noFill/>
        </p:spPr>
        <p:txBody>
          <a:bodyPr wrap="square">
            <a:spAutoFit/>
          </a:bodyPr>
          <a:lstStyle/>
          <a:p>
            <a:pPr algn="l" fontAlgn="base">
              <a:buNone/>
            </a:pPr>
            <a:r>
              <a:rPr lang="en-US" sz="2000" b="1" i="0" u="sng" dirty="0">
                <a:effectLst/>
                <a:latin typeface="Roboto Condensed" panose="02000000000000000000" pitchFamily="2" charset="0"/>
              </a:rPr>
              <a:t>Advantages-</a:t>
            </a:r>
            <a:endParaRPr lang="en-US" sz="2000" b="0" i="0" dirty="0">
              <a:effectLst/>
              <a:latin typeface="Arimo"/>
            </a:endParaRPr>
          </a:p>
          <a:p>
            <a:pPr algn="l" fontAlgn="base">
              <a:spcBef>
                <a:spcPts val="300"/>
              </a:spcBef>
              <a:spcAft>
                <a:spcPts val="900"/>
              </a:spcAft>
              <a:buNone/>
            </a:pPr>
            <a:r>
              <a:rPr lang="en-US" sz="2000" b="0" i="0" dirty="0">
                <a:effectLst/>
                <a:latin typeface="Arimo"/>
              </a:rPr>
              <a:t>The advantages of dynamic partitioning are-</a:t>
            </a:r>
          </a:p>
          <a:p>
            <a:pPr algn="l" fontAlgn="base">
              <a:spcBef>
                <a:spcPts val="300"/>
              </a:spcBef>
              <a:spcAft>
                <a:spcPts val="300"/>
              </a:spcAft>
              <a:buFont typeface="Arial" panose="020B0604020202020204" pitchFamily="34" charset="0"/>
              <a:buChar char="•"/>
            </a:pPr>
            <a:r>
              <a:rPr lang="en-US" sz="2000" b="0" i="0" dirty="0">
                <a:effectLst/>
                <a:latin typeface="Arimo"/>
              </a:rPr>
              <a:t>It does not suffer from internal fragmentation.</a:t>
            </a:r>
          </a:p>
          <a:p>
            <a:pPr algn="l" fontAlgn="base">
              <a:spcBef>
                <a:spcPts val="300"/>
              </a:spcBef>
              <a:spcAft>
                <a:spcPts val="300"/>
              </a:spcAft>
              <a:buFont typeface="Arial" panose="020B0604020202020204" pitchFamily="34" charset="0"/>
              <a:buChar char="•"/>
            </a:pPr>
            <a:r>
              <a:rPr lang="en-US" sz="2000" b="0" i="0" dirty="0">
                <a:effectLst/>
                <a:latin typeface="Arimo"/>
              </a:rPr>
              <a:t>Degree of multiprogramming is dynamic.</a:t>
            </a:r>
          </a:p>
          <a:p>
            <a:pPr algn="l" fontAlgn="base">
              <a:spcBef>
                <a:spcPts val="300"/>
              </a:spcBef>
              <a:spcAft>
                <a:spcPts val="300"/>
              </a:spcAft>
              <a:buFont typeface="Arial" panose="020B0604020202020204" pitchFamily="34" charset="0"/>
              <a:buChar char="•"/>
            </a:pPr>
            <a:r>
              <a:rPr lang="en-US" sz="2000" b="0" i="0" dirty="0">
                <a:effectLst/>
                <a:latin typeface="Arimo"/>
              </a:rPr>
              <a:t>There is no limitation on the size of processes.</a:t>
            </a:r>
          </a:p>
          <a:p>
            <a:pPr algn="l" fontAlgn="base">
              <a:buNone/>
            </a:pPr>
            <a:r>
              <a:rPr lang="en-US" sz="2000" b="1" i="0" u="sng" dirty="0">
                <a:effectLst/>
                <a:latin typeface="Roboto Condensed" panose="02000000000000000000" pitchFamily="2" charset="0"/>
              </a:rPr>
              <a:t>Disadvantages-</a:t>
            </a:r>
            <a:endParaRPr lang="en-US" sz="2000" b="0" i="0" dirty="0">
              <a:effectLst/>
              <a:latin typeface="Arimo"/>
            </a:endParaRPr>
          </a:p>
          <a:p>
            <a:pPr algn="l" fontAlgn="base">
              <a:spcBef>
                <a:spcPts val="300"/>
              </a:spcBef>
              <a:spcAft>
                <a:spcPts val="900"/>
              </a:spcAft>
              <a:buNone/>
            </a:pPr>
            <a:r>
              <a:rPr lang="en-US" sz="2000" b="0" i="0" dirty="0">
                <a:effectLst/>
                <a:latin typeface="Arimo"/>
              </a:rPr>
              <a:t>The disadvantages of dynamic partitioning are-</a:t>
            </a:r>
          </a:p>
          <a:p>
            <a:pPr algn="l" fontAlgn="base">
              <a:spcBef>
                <a:spcPts val="300"/>
              </a:spcBef>
              <a:spcAft>
                <a:spcPts val="300"/>
              </a:spcAft>
              <a:buFont typeface="Arial" panose="020B0604020202020204" pitchFamily="34" charset="0"/>
              <a:buChar char="•"/>
            </a:pPr>
            <a:r>
              <a:rPr lang="en-US" sz="2000" b="0" i="0" dirty="0">
                <a:effectLst/>
                <a:latin typeface="Arimo"/>
              </a:rPr>
              <a:t>It suffers from external fragmentation.</a:t>
            </a:r>
          </a:p>
          <a:p>
            <a:pPr algn="l" fontAlgn="base">
              <a:spcBef>
                <a:spcPts val="300"/>
              </a:spcBef>
              <a:spcAft>
                <a:spcPts val="300"/>
              </a:spcAft>
              <a:buFont typeface="Arial" panose="020B0604020202020204" pitchFamily="34" charset="0"/>
              <a:buChar char="•"/>
            </a:pPr>
            <a:r>
              <a:rPr lang="en-US" sz="2000" b="0" i="0" dirty="0">
                <a:effectLst/>
                <a:latin typeface="Arimo"/>
              </a:rPr>
              <a:t>Allocation and deallocation of memory is complex.</a:t>
            </a:r>
          </a:p>
          <a:p>
            <a:pPr algn="l" fontAlgn="base">
              <a:spcBef>
                <a:spcPts val="300"/>
              </a:spcBef>
              <a:spcAft>
                <a:spcPts val="900"/>
              </a:spcAft>
              <a:buNone/>
            </a:pPr>
            <a:r>
              <a:rPr lang="en-US" sz="2000" b="0" i="0" dirty="0">
                <a:effectLst/>
                <a:latin typeface="Arimo"/>
              </a:rPr>
              <a:t> </a:t>
            </a:r>
          </a:p>
        </p:txBody>
      </p:sp>
    </p:spTree>
    <p:extLst>
      <p:ext uri="{BB962C8B-B14F-4D97-AF65-F5344CB8AC3E}">
        <p14:creationId xmlns:p14="http://schemas.microsoft.com/office/powerpoint/2010/main" val="5679040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B7B09E3-F172-FB2B-1B92-C11CE85E6678}"/>
              </a:ext>
            </a:extLst>
          </p:cNvPr>
          <p:cNvSpPr txBox="1"/>
          <p:nvPr/>
        </p:nvSpPr>
        <p:spPr>
          <a:xfrm>
            <a:off x="318541" y="429592"/>
            <a:ext cx="7626246" cy="869469"/>
          </a:xfrm>
          <a:prstGeom prst="rect">
            <a:avLst/>
          </a:prstGeom>
          <a:noFill/>
        </p:spPr>
        <p:txBody>
          <a:bodyPr wrap="square">
            <a:spAutoFit/>
          </a:bodyPr>
          <a:lstStyle/>
          <a:p>
            <a:pPr algn="l" fontAlgn="base">
              <a:buNone/>
            </a:pPr>
            <a:r>
              <a:rPr lang="en-US" sz="2400" b="1" i="0" u="sng" dirty="0">
                <a:effectLst/>
                <a:latin typeface="Roboto Condensed" panose="02000000000000000000" pitchFamily="2" charset="0"/>
              </a:rPr>
              <a:t>Translating Logical Address into Physical Address</a:t>
            </a:r>
            <a:endParaRPr lang="en-US" sz="2400" b="1" i="0" dirty="0">
              <a:effectLst/>
              <a:latin typeface="Roboto Condensed" panose="02000000000000000000" pitchFamily="2" charset="0"/>
            </a:endParaRPr>
          </a:p>
          <a:p>
            <a:pPr algn="l" fontAlgn="base">
              <a:spcBef>
                <a:spcPts val="300"/>
              </a:spcBef>
              <a:spcAft>
                <a:spcPts val="900"/>
              </a:spcAft>
              <a:buNone/>
            </a:pPr>
            <a:r>
              <a:rPr lang="en-US" sz="2400" b="0" i="0" dirty="0">
                <a:effectLst/>
                <a:latin typeface="Arimo"/>
              </a:rPr>
              <a:t> </a:t>
            </a:r>
          </a:p>
        </p:txBody>
      </p:sp>
      <p:pic>
        <p:nvPicPr>
          <p:cNvPr id="5" name="Picture 4" descr="A diagram of a system&#10;&#10;AI-generated content may be incorrect.">
            <a:extLst>
              <a:ext uri="{FF2B5EF4-FFF2-40B4-BE49-F238E27FC236}">
                <a16:creationId xmlns:a16="http://schemas.microsoft.com/office/drawing/2014/main" id="{4C2809FC-B7AB-81E8-DA6E-06BB86A91B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9696" y="1325294"/>
            <a:ext cx="7734300" cy="3076575"/>
          </a:xfrm>
          <a:prstGeom prst="rect">
            <a:avLst/>
          </a:prstGeom>
        </p:spPr>
      </p:pic>
    </p:spTree>
    <p:extLst>
      <p:ext uri="{BB962C8B-B14F-4D97-AF65-F5344CB8AC3E}">
        <p14:creationId xmlns:p14="http://schemas.microsoft.com/office/powerpoint/2010/main" val="656579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C97EF-2A1F-ED48-197E-D186163D202B}"/>
              </a:ext>
            </a:extLst>
          </p:cNvPr>
          <p:cNvSpPr>
            <a:spLocks noGrp="1"/>
          </p:cNvSpPr>
          <p:nvPr>
            <p:ph type="title"/>
          </p:nvPr>
        </p:nvSpPr>
        <p:spPr>
          <a:xfrm>
            <a:off x="628338" y="230213"/>
            <a:ext cx="5697511" cy="1325563"/>
          </a:xfrm>
        </p:spPr>
        <p:txBody>
          <a:bodyPr/>
          <a:lstStyle/>
          <a:p>
            <a:r>
              <a:rPr lang="en-US" dirty="0"/>
              <a:t>Managing Free Memory</a:t>
            </a:r>
          </a:p>
        </p:txBody>
      </p:sp>
      <p:sp>
        <p:nvSpPr>
          <p:cNvPr id="4" name="TextBox 3">
            <a:extLst>
              <a:ext uri="{FF2B5EF4-FFF2-40B4-BE49-F238E27FC236}">
                <a16:creationId xmlns:a16="http://schemas.microsoft.com/office/drawing/2014/main" id="{EE1312AC-2A7F-CC71-FDC6-35236D590C7A}"/>
              </a:ext>
            </a:extLst>
          </p:cNvPr>
          <p:cNvSpPr txBox="1"/>
          <p:nvPr/>
        </p:nvSpPr>
        <p:spPr>
          <a:xfrm>
            <a:off x="628338" y="1182231"/>
            <a:ext cx="6093500" cy="2246769"/>
          </a:xfrm>
          <a:prstGeom prst="rect">
            <a:avLst/>
          </a:prstGeom>
          <a:noFill/>
        </p:spPr>
        <p:txBody>
          <a:bodyPr wrap="square">
            <a:spAutoFit/>
          </a:bodyPr>
          <a:lstStyle/>
          <a:p>
            <a:pPr marL="342900" indent="-342900">
              <a:buAutoNum type="arabicPeriod"/>
            </a:pPr>
            <a:r>
              <a:rPr lang="en-US" sz="2800" dirty="0">
                <a:latin typeface="Times New Roman" panose="02020603050405020304" pitchFamily="18" charset="0"/>
                <a:cs typeface="Times New Roman" panose="02020603050405020304" pitchFamily="18" charset="0"/>
              </a:rPr>
              <a:t>Compaction</a:t>
            </a:r>
          </a:p>
          <a:p>
            <a:pPr marL="342900" indent="-342900">
              <a:buAutoNum type="arabicPeriod"/>
            </a:pPr>
            <a:endParaRPr lang="en-US" sz="2800" dirty="0">
              <a:latin typeface="Times New Roman" panose="02020603050405020304" pitchFamily="18" charset="0"/>
              <a:cs typeface="Times New Roman" panose="02020603050405020304" pitchFamily="18" charset="0"/>
            </a:endParaRPr>
          </a:p>
          <a:p>
            <a:pPr marL="342900" indent="-342900">
              <a:buAutoNum type="arabicPeriod"/>
            </a:pPr>
            <a:r>
              <a:rPr lang="en-US" sz="2800" dirty="0">
                <a:latin typeface="Times New Roman" panose="02020603050405020304" pitchFamily="18" charset="0"/>
                <a:cs typeface="Times New Roman" panose="02020603050405020304" pitchFamily="18" charset="0"/>
              </a:rPr>
              <a:t>Bit Maps</a:t>
            </a:r>
          </a:p>
          <a:p>
            <a:pPr marL="342900" indent="-342900">
              <a:buAutoNum type="arabicPeriod"/>
            </a:pPr>
            <a:endParaRPr lang="en-US" sz="2800" dirty="0">
              <a:latin typeface="Times New Roman" panose="02020603050405020304" pitchFamily="18" charset="0"/>
              <a:cs typeface="Times New Roman" panose="02020603050405020304" pitchFamily="18" charset="0"/>
            </a:endParaRPr>
          </a:p>
          <a:p>
            <a:pPr marL="342900" indent="-342900">
              <a:buAutoNum type="arabicPeriod"/>
            </a:pPr>
            <a:r>
              <a:rPr lang="en-US" sz="2800" dirty="0">
                <a:latin typeface="Times New Roman" panose="02020603050405020304" pitchFamily="18" charset="0"/>
                <a:cs typeface="Times New Roman" panose="02020603050405020304" pitchFamily="18" charset="0"/>
              </a:rPr>
              <a:t>Linked Lists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3902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AA397F5-4B29-2E98-BDCA-50FEF5C8B13B}"/>
              </a:ext>
            </a:extLst>
          </p:cNvPr>
          <p:cNvSpPr>
            <a:spLocks noGrp="1"/>
          </p:cNvSpPr>
          <p:nvPr>
            <p:ph type="title"/>
          </p:nvPr>
        </p:nvSpPr>
        <p:spPr>
          <a:xfrm>
            <a:off x="752007" y="321311"/>
            <a:ext cx="8610600" cy="576071"/>
          </a:xfrm>
        </p:spPr>
        <p:txBody>
          <a:bodyPr>
            <a:normAutofit fontScale="90000"/>
          </a:bodyPr>
          <a:lstStyle/>
          <a:p>
            <a:r>
              <a:rPr lang="en-US" dirty="0">
                <a:solidFill>
                  <a:srgbClr val="FF0000"/>
                </a:solidFill>
              </a:rPr>
              <a:t>Compaction </a:t>
            </a:r>
            <a:endParaRPr lang="en-IN" dirty="0">
              <a:solidFill>
                <a:srgbClr val="FF0000"/>
              </a:solidFill>
            </a:endParaRPr>
          </a:p>
        </p:txBody>
      </p:sp>
      <p:sp>
        <p:nvSpPr>
          <p:cNvPr id="2" name="TextBox 1">
            <a:extLst>
              <a:ext uri="{FF2B5EF4-FFF2-40B4-BE49-F238E27FC236}">
                <a16:creationId xmlns:a16="http://schemas.microsoft.com/office/drawing/2014/main" id="{4400B02E-DE14-A209-D35B-141CB0C962E7}"/>
              </a:ext>
            </a:extLst>
          </p:cNvPr>
          <p:cNvSpPr txBox="1"/>
          <p:nvPr/>
        </p:nvSpPr>
        <p:spPr>
          <a:xfrm>
            <a:off x="752007" y="897382"/>
            <a:ext cx="10687986" cy="3970318"/>
          </a:xfrm>
          <a:prstGeom prst="rect">
            <a:avLst/>
          </a:prstGeom>
          <a:noFill/>
        </p:spPr>
        <p:txBody>
          <a:bodyPr wrap="square" rtlCol="0">
            <a:spAutoFit/>
          </a:bodyPr>
          <a:lstStyle/>
          <a:p>
            <a:pPr marL="342900" indent="-342900" algn="just">
              <a:buAutoNum type="arabicPeriod"/>
            </a:pPr>
            <a:r>
              <a:rPr lang="en-US" sz="2800" dirty="0">
                <a:latin typeface="Times New Roman" panose="02020603050405020304" pitchFamily="18" charset="0"/>
                <a:cs typeface="Times New Roman" panose="02020603050405020304" pitchFamily="18" charset="0"/>
              </a:rPr>
              <a:t>Also called Defragmentation.</a:t>
            </a:r>
          </a:p>
          <a:p>
            <a:pPr marL="342900" indent="-342900" algn="just">
              <a:buAutoNum type="arabicPeriod"/>
            </a:pPr>
            <a:endParaRPr lang="en-US" sz="2800" dirty="0">
              <a:latin typeface="Times New Roman" panose="02020603050405020304" pitchFamily="18" charset="0"/>
              <a:cs typeface="Times New Roman" panose="02020603050405020304" pitchFamily="18" charset="0"/>
            </a:endParaRPr>
          </a:p>
          <a:p>
            <a:pPr marL="342900" indent="-342900" algn="just">
              <a:buFontTx/>
              <a:buAutoNum type="arabicPeriod"/>
            </a:pPr>
            <a:r>
              <a:rPr lang="en-US" sz="2800" dirty="0">
                <a:latin typeface="Times New Roman" panose="02020603050405020304" pitchFamily="18" charset="0"/>
                <a:cs typeface="Times New Roman" panose="02020603050405020304" pitchFamily="18" charset="0"/>
              </a:rPr>
              <a:t>Put free spaces together and filled spaces together.</a:t>
            </a:r>
          </a:p>
          <a:p>
            <a:pPr marL="342900" indent="-342900" algn="just">
              <a:buAutoNum type="arabicPeriod"/>
            </a:pPr>
            <a:endParaRPr lang="en-US" sz="2800" dirty="0">
              <a:latin typeface="Times New Roman" panose="02020603050405020304" pitchFamily="18" charset="0"/>
              <a:cs typeface="Times New Roman" panose="02020603050405020304" pitchFamily="18" charset="0"/>
            </a:endParaRPr>
          </a:p>
          <a:p>
            <a:pPr marL="342900" indent="-342900" algn="just">
              <a:buAutoNum type="arabicPeriod"/>
            </a:pPr>
            <a:r>
              <a:rPr lang="en-US" sz="2800" dirty="0">
                <a:latin typeface="Times New Roman" panose="02020603050405020304" pitchFamily="18" charset="0"/>
                <a:cs typeface="Times New Roman" panose="02020603050405020304" pitchFamily="18" charset="0"/>
              </a:rPr>
              <a:t>This combined free block can be allocated to new incoming processes (Contiguous Block).</a:t>
            </a:r>
          </a:p>
          <a:p>
            <a:pPr marL="342900" indent="-342900" algn="just">
              <a:buAutoNum type="arabicPeriod"/>
            </a:pPr>
            <a:endParaRPr lang="en-US" sz="2800" dirty="0">
              <a:latin typeface="Times New Roman" panose="02020603050405020304" pitchFamily="18" charset="0"/>
              <a:cs typeface="Times New Roman" panose="02020603050405020304" pitchFamily="18" charset="0"/>
            </a:endParaRPr>
          </a:p>
          <a:p>
            <a:pPr marL="342900" indent="-342900" algn="just">
              <a:buAutoNum type="arabicPeriod"/>
            </a:pPr>
            <a:r>
              <a:rPr lang="en-IN" sz="2800" dirty="0">
                <a:latin typeface="Times New Roman" panose="02020603050405020304" pitchFamily="18" charset="0"/>
                <a:cs typeface="Times New Roman" panose="02020603050405020304" pitchFamily="18" charset="0"/>
              </a:rPr>
              <a:t>Problem: While shuffling free and occupied blocks, we need to stop the execution of processes, so CPU becomes idle.</a:t>
            </a:r>
          </a:p>
        </p:txBody>
      </p:sp>
    </p:spTree>
    <p:extLst>
      <p:ext uri="{BB962C8B-B14F-4D97-AF65-F5344CB8AC3E}">
        <p14:creationId xmlns:p14="http://schemas.microsoft.com/office/powerpoint/2010/main" val="11797976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AA397F5-4B29-2E98-BDCA-50FEF5C8B13B}"/>
              </a:ext>
            </a:extLst>
          </p:cNvPr>
          <p:cNvSpPr>
            <a:spLocks noGrp="1"/>
          </p:cNvSpPr>
          <p:nvPr>
            <p:ph type="title"/>
          </p:nvPr>
        </p:nvSpPr>
        <p:spPr>
          <a:xfrm>
            <a:off x="722026" y="398383"/>
            <a:ext cx="8610600" cy="576071"/>
          </a:xfrm>
        </p:spPr>
        <p:txBody>
          <a:bodyPr>
            <a:normAutofit fontScale="90000"/>
          </a:bodyPr>
          <a:lstStyle/>
          <a:p>
            <a:r>
              <a:rPr lang="en-US" dirty="0">
                <a:solidFill>
                  <a:srgbClr val="FF0000"/>
                </a:solidFill>
              </a:rPr>
              <a:t>Bit Map for Dynamic Partitioning </a:t>
            </a:r>
            <a:endParaRPr lang="en-IN" dirty="0">
              <a:solidFill>
                <a:srgbClr val="FF0000"/>
              </a:solidFill>
            </a:endParaRPr>
          </a:p>
        </p:txBody>
      </p:sp>
      <p:sp>
        <p:nvSpPr>
          <p:cNvPr id="2" name="TextBox 1">
            <a:extLst>
              <a:ext uri="{FF2B5EF4-FFF2-40B4-BE49-F238E27FC236}">
                <a16:creationId xmlns:a16="http://schemas.microsoft.com/office/drawing/2014/main" id="{4400B02E-DE14-A209-D35B-141CB0C962E7}"/>
              </a:ext>
            </a:extLst>
          </p:cNvPr>
          <p:cNvSpPr txBox="1"/>
          <p:nvPr/>
        </p:nvSpPr>
        <p:spPr>
          <a:xfrm>
            <a:off x="722025" y="1094099"/>
            <a:ext cx="11105213" cy="4832092"/>
          </a:xfrm>
          <a:prstGeom prst="rect">
            <a:avLst/>
          </a:prstGeom>
          <a:noFill/>
        </p:spPr>
        <p:txBody>
          <a:bodyPr wrap="square" rtlCol="0">
            <a:spAutoFit/>
          </a:bodyPr>
          <a:lstStyle/>
          <a:p>
            <a:pPr marL="342900" indent="-342900" algn="just">
              <a:buAutoNum type="arabicPeriod"/>
            </a:pPr>
            <a:r>
              <a:rPr lang="en-US" sz="2200" dirty="0">
                <a:latin typeface="Times New Roman" panose="02020603050405020304" pitchFamily="18" charset="0"/>
                <a:cs typeface="Times New Roman" panose="02020603050405020304" pitchFamily="18" charset="0"/>
              </a:rPr>
              <a:t>It is used to keep track of all the empty spaces or free holes.</a:t>
            </a:r>
          </a:p>
          <a:p>
            <a:pPr marL="342900" indent="-342900" algn="just">
              <a:buAutoNum type="arabicPeriod"/>
            </a:pPr>
            <a:endParaRPr lang="en-US" sz="2200" dirty="0">
              <a:latin typeface="Times New Roman" panose="02020603050405020304" pitchFamily="18" charset="0"/>
              <a:cs typeface="Times New Roman" panose="02020603050405020304" pitchFamily="18" charset="0"/>
            </a:endParaRPr>
          </a:p>
          <a:p>
            <a:pPr marL="342900" indent="-342900" algn="just">
              <a:buFontTx/>
              <a:buAutoNum type="arabicPeriod"/>
            </a:pPr>
            <a:r>
              <a:rPr lang="en-US" sz="2200" dirty="0">
                <a:latin typeface="Times New Roman" panose="02020603050405020304" pitchFamily="18" charset="0"/>
                <a:cs typeface="Times New Roman" panose="02020603050405020304" pitchFamily="18" charset="0"/>
              </a:rPr>
              <a:t>Bit Map is the least famous data structure to store the details.</a:t>
            </a:r>
          </a:p>
          <a:p>
            <a:pPr marL="342900" indent="-342900" algn="just">
              <a:buFontTx/>
              <a:buAutoNum type="arabicPeriod"/>
            </a:pPr>
            <a:r>
              <a:rPr lang="en-US" sz="2200" dirty="0">
                <a:latin typeface="Times New Roman" panose="02020603050405020304" pitchFamily="18" charset="0"/>
                <a:cs typeface="Times New Roman" panose="02020603050405020304" pitchFamily="18" charset="0"/>
              </a:rPr>
              <a:t> In this scheme, the main memory is divided into the collection of allocation units.</a:t>
            </a:r>
          </a:p>
          <a:p>
            <a:pPr marL="342900" indent="-342900" algn="just">
              <a:buFontTx/>
              <a:buAutoNum type="arabicPeriod"/>
            </a:pPr>
            <a:r>
              <a:rPr lang="en-US" sz="2200" dirty="0">
                <a:latin typeface="Times New Roman" panose="02020603050405020304" pitchFamily="18" charset="0"/>
                <a:cs typeface="Times New Roman" panose="02020603050405020304" pitchFamily="18" charset="0"/>
              </a:rPr>
              <a:t> One or more allocation units may be allocated to a process according to the need of that process.</a:t>
            </a:r>
          </a:p>
          <a:p>
            <a:pPr marL="342900" indent="-342900" algn="just">
              <a:buFontTx/>
              <a:buAutoNum type="arabicPeriod"/>
            </a:pPr>
            <a:r>
              <a:rPr lang="en-US" sz="2200" dirty="0">
                <a:latin typeface="Times New Roman" panose="02020603050405020304" pitchFamily="18" charset="0"/>
                <a:cs typeface="Times New Roman" panose="02020603050405020304" pitchFamily="18" charset="0"/>
              </a:rPr>
              <a:t> However, the size of the allocation unit is fixed that is defined by the Operating System and never changed. Although the partition size may vary but the allocation size is fixed. </a:t>
            </a:r>
          </a:p>
          <a:p>
            <a:pPr marL="342900" indent="-342900" algn="just">
              <a:buFontTx/>
              <a:buAutoNum type="arabicPeriod"/>
            </a:pPr>
            <a:endParaRPr lang="en-US" sz="2200" dirty="0">
              <a:solidFill>
                <a:srgbClr val="0070C0"/>
              </a:solidFill>
              <a:latin typeface="Times New Roman" panose="02020603050405020304" pitchFamily="18" charset="0"/>
              <a:cs typeface="Times New Roman" panose="02020603050405020304" pitchFamily="18" charset="0"/>
            </a:endParaRPr>
          </a:p>
          <a:p>
            <a:pPr marL="342900" indent="-342900" algn="just">
              <a:buFontTx/>
              <a:buAutoNum type="arabicPeriod"/>
            </a:pPr>
            <a:r>
              <a:rPr lang="en-US" sz="2200" dirty="0">
                <a:solidFill>
                  <a:srgbClr val="FF0000"/>
                </a:solidFill>
                <a:latin typeface="Times New Roman" panose="02020603050405020304" pitchFamily="18" charset="0"/>
                <a:cs typeface="Times New Roman" panose="02020603050405020304" pitchFamily="18" charset="0"/>
              </a:rPr>
              <a:t>“0” </a:t>
            </a:r>
            <a:r>
              <a:rPr lang="en-US" sz="2200" dirty="0">
                <a:latin typeface="Times New Roman" panose="02020603050405020304" pitchFamily="18" charset="0"/>
                <a:cs typeface="Times New Roman" panose="02020603050405020304" pitchFamily="18" charset="0"/>
              </a:rPr>
              <a:t>if allocation unit is Hole.</a:t>
            </a:r>
          </a:p>
          <a:p>
            <a:pPr marL="342900" indent="-342900" algn="just">
              <a:buFontTx/>
              <a:buAutoNum type="arabicPeriod"/>
            </a:pPr>
            <a:r>
              <a:rPr lang="en-US" sz="2200" dirty="0">
                <a:solidFill>
                  <a:srgbClr val="FF0000"/>
                </a:solidFill>
                <a:latin typeface="Times New Roman" panose="02020603050405020304" pitchFamily="18" charset="0"/>
                <a:cs typeface="Times New Roman" panose="02020603050405020304" pitchFamily="18" charset="0"/>
              </a:rPr>
              <a:t>“1” </a:t>
            </a:r>
            <a:r>
              <a:rPr lang="en-US" sz="2200" dirty="0">
                <a:latin typeface="Times New Roman" panose="02020603050405020304" pitchFamily="18" charset="0"/>
                <a:cs typeface="Times New Roman" panose="02020603050405020304" pitchFamily="18" charset="0"/>
              </a:rPr>
              <a:t>if allocation unit is occupied by process.</a:t>
            </a:r>
          </a:p>
          <a:p>
            <a:pPr marL="342900" indent="-342900" algn="just">
              <a:buFontTx/>
              <a:buAutoNum type="arabicPeriod"/>
            </a:pPr>
            <a:endParaRPr lang="en-US" sz="2200" dirty="0">
              <a:solidFill>
                <a:srgbClr val="0070C0"/>
              </a:solidFill>
              <a:latin typeface="Times New Roman" panose="02020603050405020304" pitchFamily="18" charset="0"/>
              <a:cs typeface="Times New Roman" panose="02020603050405020304" pitchFamily="18" charset="0"/>
            </a:endParaRPr>
          </a:p>
          <a:p>
            <a:pPr marL="342900" indent="-342900" algn="just">
              <a:buFontTx/>
              <a:buAutoNum type="arabicPeriod"/>
            </a:pPr>
            <a:endParaRPr lang="en-US" sz="2200" dirty="0">
              <a:solidFill>
                <a:srgbClr val="0070C0"/>
              </a:solidFill>
              <a:latin typeface="Times New Roman" panose="02020603050405020304" pitchFamily="18" charset="0"/>
              <a:cs typeface="Times New Roman" panose="02020603050405020304" pitchFamily="18" charset="0"/>
            </a:endParaRPr>
          </a:p>
          <a:p>
            <a:pPr marL="342900" indent="-342900" algn="just">
              <a:buFontTx/>
              <a:buAutoNum type="arabicPeriod"/>
            </a:pPr>
            <a:endParaRPr lang="en-US" sz="2200"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31700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AA397F5-4B29-2E98-BDCA-50FEF5C8B13B}"/>
              </a:ext>
            </a:extLst>
          </p:cNvPr>
          <p:cNvSpPr>
            <a:spLocks noGrp="1"/>
          </p:cNvSpPr>
          <p:nvPr>
            <p:ph type="title"/>
          </p:nvPr>
        </p:nvSpPr>
        <p:spPr>
          <a:xfrm>
            <a:off x="796977" y="321311"/>
            <a:ext cx="8610600" cy="576071"/>
          </a:xfrm>
        </p:spPr>
        <p:txBody>
          <a:bodyPr>
            <a:normAutofit fontScale="90000"/>
          </a:bodyPr>
          <a:lstStyle/>
          <a:p>
            <a:r>
              <a:rPr lang="en-US" dirty="0">
                <a:solidFill>
                  <a:srgbClr val="FF0000"/>
                </a:solidFill>
              </a:rPr>
              <a:t>Bit Map for Dynamic Partitioning </a:t>
            </a:r>
            <a:endParaRPr lang="en-IN" dirty="0">
              <a:solidFill>
                <a:srgbClr val="FF0000"/>
              </a:solidFill>
            </a:endParaRPr>
          </a:p>
        </p:txBody>
      </p:sp>
      <p:pic>
        <p:nvPicPr>
          <p:cNvPr id="5" name="Picture 4">
            <a:extLst>
              <a:ext uri="{FF2B5EF4-FFF2-40B4-BE49-F238E27FC236}">
                <a16:creationId xmlns:a16="http://schemas.microsoft.com/office/drawing/2014/main" id="{D586D816-0112-BEBF-8E3A-47422ECDFC88}"/>
              </a:ext>
            </a:extLst>
          </p:cNvPr>
          <p:cNvPicPr>
            <a:picLocks noChangeAspect="1"/>
          </p:cNvPicPr>
          <p:nvPr/>
        </p:nvPicPr>
        <p:blipFill>
          <a:blip r:embed="rId2"/>
          <a:stretch>
            <a:fillRect/>
          </a:stretch>
        </p:blipFill>
        <p:spPr>
          <a:xfrm>
            <a:off x="1115519" y="1074960"/>
            <a:ext cx="7543799" cy="2862262"/>
          </a:xfrm>
          <a:prstGeom prst="rect">
            <a:avLst/>
          </a:prstGeom>
        </p:spPr>
      </p:pic>
      <p:sp>
        <p:nvSpPr>
          <p:cNvPr id="6" name="TextBox 5">
            <a:extLst>
              <a:ext uri="{FF2B5EF4-FFF2-40B4-BE49-F238E27FC236}">
                <a16:creationId xmlns:a16="http://schemas.microsoft.com/office/drawing/2014/main" id="{3C98C2EB-34B5-84A8-67A0-B4C2DF03E750}"/>
              </a:ext>
            </a:extLst>
          </p:cNvPr>
          <p:cNvSpPr txBox="1"/>
          <p:nvPr/>
        </p:nvSpPr>
        <p:spPr>
          <a:xfrm>
            <a:off x="1115519" y="4043699"/>
            <a:ext cx="9017832" cy="2492990"/>
          </a:xfrm>
          <a:prstGeom prst="rect">
            <a:avLst/>
          </a:prstGeom>
          <a:noFill/>
        </p:spPr>
        <p:txBody>
          <a:bodyPr wrap="square" rtlCol="0">
            <a:spAutoFit/>
          </a:bodyPr>
          <a:lstStyle/>
          <a:p>
            <a:r>
              <a:rPr lang="en-US" dirty="0">
                <a:solidFill>
                  <a:srgbClr val="FF33CC"/>
                </a:solidFill>
              </a:rPr>
              <a:t>Problems</a:t>
            </a:r>
            <a:r>
              <a:rPr lang="en-US" dirty="0"/>
              <a:t>: </a:t>
            </a:r>
          </a:p>
          <a:p>
            <a:pPr algn="just"/>
            <a:r>
              <a:rPr lang="en-US" sz="2000" dirty="0">
                <a:latin typeface="Times New Roman" panose="02020603050405020304" pitchFamily="18" charset="0"/>
                <a:cs typeface="Times New Roman" panose="02020603050405020304" pitchFamily="18" charset="0"/>
              </a:rPr>
              <a:t>We need additional memory overhead to store the “Array of Bits”. This reduces Degree of multiprogramming as well.</a:t>
            </a:r>
          </a:p>
          <a:p>
            <a:pPr algn="just"/>
            <a:endParaRPr lang="en-US" sz="2000" dirty="0">
              <a:latin typeface="Times New Roman" panose="02020603050405020304" pitchFamily="18" charset="0"/>
              <a:cs typeface="Times New Roman" panose="02020603050405020304" pitchFamily="18" charset="0"/>
            </a:endParaRPr>
          </a:p>
          <a:p>
            <a:pPr algn="ctr"/>
            <a:r>
              <a:rPr lang="en-US" sz="2000" dirty="0">
                <a:latin typeface="Times New Roman" panose="02020603050405020304" pitchFamily="18" charset="0"/>
                <a:cs typeface="Times New Roman" panose="02020603050405020304" pitchFamily="18" charset="0"/>
              </a:rPr>
              <a:t>To identify any hole in the memory, the OS need to search the string of 0s  in the bitmap. This searching takes a huge amount of time which makes the system 		inefficient to some extent</a:t>
            </a:r>
          </a:p>
          <a:p>
            <a:endParaRPr lang="en-IN" dirty="0"/>
          </a:p>
        </p:txBody>
      </p:sp>
    </p:spTree>
    <p:extLst>
      <p:ext uri="{BB962C8B-B14F-4D97-AF65-F5344CB8AC3E}">
        <p14:creationId xmlns:p14="http://schemas.microsoft.com/office/powerpoint/2010/main" val="28091794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AA397F5-4B29-2E98-BDCA-50FEF5C8B13B}"/>
              </a:ext>
            </a:extLst>
          </p:cNvPr>
          <p:cNvSpPr>
            <a:spLocks noGrp="1"/>
          </p:cNvSpPr>
          <p:nvPr>
            <p:ph type="title"/>
          </p:nvPr>
        </p:nvSpPr>
        <p:spPr>
          <a:xfrm>
            <a:off x="602105" y="366282"/>
            <a:ext cx="8610600" cy="576071"/>
          </a:xfrm>
        </p:spPr>
        <p:txBody>
          <a:bodyPr>
            <a:normAutofit fontScale="90000"/>
          </a:bodyPr>
          <a:lstStyle/>
          <a:p>
            <a:r>
              <a:rPr lang="en-US" dirty="0">
                <a:solidFill>
                  <a:srgbClr val="FF0000"/>
                </a:solidFill>
              </a:rPr>
              <a:t>Linked List for Dynamic Partitioning </a:t>
            </a:r>
            <a:endParaRPr lang="en-IN" dirty="0">
              <a:solidFill>
                <a:srgbClr val="FF0000"/>
              </a:solidFill>
            </a:endParaRPr>
          </a:p>
        </p:txBody>
      </p:sp>
      <p:pic>
        <p:nvPicPr>
          <p:cNvPr id="4" name="Picture 3">
            <a:extLst>
              <a:ext uri="{FF2B5EF4-FFF2-40B4-BE49-F238E27FC236}">
                <a16:creationId xmlns:a16="http://schemas.microsoft.com/office/drawing/2014/main" id="{D25AE36A-6131-F828-DE5C-E9C3F9F601E6}"/>
              </a:ext>
            </a:extLst>
          </p:cNvPr>
          <p:cNvPicPr>
            <a:picLocks noChangeAspect="1"/>
          </p:cNvPicPr>
          <p:nvPr/>
        </p:nvPicPr>
        <p:blipFill>
          <a:blip r:embed="rId3"/>
          <a:stretch>
            <a:fillRect/>
          </a:stretch>
        </p:blipFill>
        <p:spPr>
          <a:xfrm>
            <a:off x="734518" y="1083820"/>
            <a:ext cx="8610600" cy="3962400"/>
          </a:xfrm>
          <a:prstGeom prst="rect">
            <a:avLst/>
          </a:prstGeom>
        </p:spPr>
      </p:pic>
      <p:pic>
        <p:nvPicPr>
          <p:cNvPr id="8" name="Picture 7">
            <a:extLst>
              <a:ext uri="{FF2B5EF4-FFF2-40B4-BE49-F238E27FC236}">
                <a16:creationId xmlns:a16="http://schemas.microsoft.com/office/drawing/2014/main" id="{5BBA2747-DF07-9D0B-841A-681F3A11A8D9}"/>
              </a:ext>
            </a:extLst>
          </p:cNvPr>
          <p:cNvPicPr>
            <a:picLocks noChangeAspect="1"/>
          </p:cNvPicPr>
          <p:nvPr/>
        </p:nvPicPr>
        <p:blipFill>
          <a:blip r:embed="rId4"/>
          <a:stretch>
            <a:fillRect/>
          </a:stretch>
        </p:blipFill>
        <p:spPr>
          <a:xfrm>
            <a:off x="1115518" y="5040755"/>
            <a:ext cx="9122764" cy="1659381"/>
          </a:xfrm>
          <a:prstGeom prst="rect">
            <a:avLst/>
          </a:prstGeom>
        </p:spPr>
      </p:pic>
    </p:spTree>
    <p:extLst>
      <p:ext uri="{BB962C8B-B14F-4D97-AF65-F5344CB8AC3E}">
        <p14:creationId xmlns:p14="http://schemas.microsoft.com/office/powerpoint/2010/main" val="28798485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AA397F5-4B29-2E98-BDCA-50FEF5C8B13B}"/>
              </a:ext>
            </a:extLst>
          </p:cNvPr>
          <p:cNvSpPr>
            <a:spLocks noGrp="1"/>
          </p:cNvSpPr>
          <p:nvPr>
            <p:ph type="title"/>
          </p:nvPr>
        </p:nvSpPr>
        <p:spPr>
          <a:xfrm>
            <a:off x="916899" y="457200"/>
            <a:ext cx="8610600" cy="576071"/>
          </a:xfrm>
        </p:spPr>
        <p:txBody>
          <a:bodyPr>
            <a:normAutofit fontScale="90000"/>
          </a:bodyPr>
          <a:lstStyle/>
          <a:p>
            <a:r>
              <a:rPr lang="en-US" dirty="0">
                <a:solidFill>
                  <a:srgbClr val="FF0000"/>
                </a:solidFill>
              </a:rPr>
              <a:t>Linked List for Dynamic Partitioning </a:t>
            </a:r>
            <a:endParaRPr lang="en-IN" dirty="0">
              <a:solidFill>
                <a:srgbClr val="FF0000"/>
              </a:solidFill>
            </a:endParaRPr>
          </a:p>
        </p:txBody>
      </p:sp>
      <p:pic>
        <p:nvPicPr>
          <p:cNvPr id="5" name="Picture 4">
            <a:extLst>
              <a:ext uri="{FF2B5EF4-FFF2-40B4-BE49-F238E27FC236}">
                <a16:creationId xmlns:a16="http://schemas.microsoft.com/office/drawing/2014/main" id="{A9084860-9EFD-779E-A250-BB10C742DF21}"/>
              </a:ext>
            </a:extLst>
          </p:cNvPr>
          <p:cNvPicPr>
            <a:picLocks noChangeAspect="1"/>
          </p:cNvPicPr>
          <p:nvPr/>
        </p:nvPicPr>
        <p:blipFill>
          <a:blip r:embed="rId2"/>
          <a:stretch>
            <a:fillRect/>
          </a:stretch>
        </p:blipFill>
        <p:spPr>
          <a:xfrm>
            <a:off x="1078667" y="1143000"/>
            <a:ext cx="7696200" cy="5257800"/>
          </a:xfrm>
          <a:prstGeom prst="rect">
            <a:avLst/>
          </a:prstGeom>
        </p:spPr>
      </p:pic>
    </p:spTree>
    <p:extLst>
      <p:ext uri="{BB962C8B-B14F-4D97-AF65-F5344CB8AC3E}">
        <p14:creationId xmlns:p14="http://schemas.microsoft.com/office/powerpoint/2010/main" val="20194378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of a number of squares&#10;&#10;AI-generated content may be incorrect.">
            <a:extLst>
              <a:ext uri="{FF2B5EF4-FFF2-40B4-BE49-F238E27FC236}">
                <a16:creationId xmlns:a16="http://schemas.microsoft.com/office/drawing/2014/main" id="{BB58BE6B-7BDB-C57E-63B5-DF42822D7C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69440" y="285234"/>
            <a:ext cx="6382860" cy="3296110"/>
          </a:xfrm>
          <a:prstGeom prst="rect">
            <a:avLst/>
          </a:prstGeom>
        </p:spPr>
      </p:pic>
      <p:sp>
        <p:nvSpPr>
          <p:cNvPr id="5" name="TextBox 4">
            <a:extLst>
              <a:ext uri="{FF2B5EF4-FFF2-40B4-BE49-F238E27FC236}">
                <a16:creationId xmlns:a16="http://schemas.microsoft.com/office/drawing/2014/main" id="{EB44D104-9E39-A6F7-1B1A-EF9ECEEC7F1D}"/>
              </a:ext>
            </a:extLst>
          </p:cNvPr>
          <p:cNvSpPr txBox="1"/>
          <p:nvPr/>
        </p:nvSpPr>
        <p:spPr>
          <a:xfrm>
            <a:off x="0" y="97135"/>
            <a:ext cx="2171700" cy="461665"/>
          </a:xfrm>
          <a:prstGeom prst="rect">
            <a:avLst/>
          </a:prstGeom>
          <a:noFill/>
        </p:spPr>
        <p:txBody>
          <a:bodyPr wrap="square">
            <a:spAutoFit/>
          </a:bodyPr>
          <a:lstStyle/>
          <a:p>
            <a:r>
              <a:rPr lang="en-US" sz="2400" b="1" dirty="0">
                <a:highlight>
                  <a:srgbClr val="FFFF00"/>
                </a:highlight>
              </a:rPr>
              <a:t>Buddy System</a:t>
            </a:r>
          </a:p>
        </p:txBody>
      </p:sp>
      <p:sp>
        <p:nvSpPr>
          <p:cNvPr id="7" name="TextBox 6">
            <a:extLst>
              <a:ext uri="{FF2B5EF4-FFF2-40B4-BE49-F238E27FC236}">
                <a16:creationId xmlns:a16="http://schemas.microsoft.com/office/drawing/2014/main" id="{B0D4D5D5-97CF-37B5-1214-00DEAFDD39BD}"/>
              </a:ext>
            </a:extLst>
          </p:cNvPr>
          <p:cNvSpPr txBox="1"/>
          <p:nvPr/>
        </p:nvSpPr>
        <p:spPr>
          <a:xfrm>
            <a:off x="57150" y="558800"/>
            <a:ext cx="5652611" cy="5262979"/>
          </a:xfrm>
          <a:prstGeom prst="rect">
            <a:avLst/>
          </a:prstGeom>
          <a:noFill/>
        </p:spPr>
        <p:txBody>
          <a:bodyPr wrap="square">
            <a:spAutoFit/>
          </a:bodyPr>
          <a:lstStyle/>
          <a:p>
            <a:pPr algn="just"/>
            <a:r>
              <a:rPr lang="en-US" sz="1600" dirty="0"/>
              <a:t>The basic idea for managing a chunk of memory is as follows. </a:t>
            </a:r>
          </a:p>
          <a:p>
            <a:pPr marL="285750" indent="-285750" algn="just">
              <a:buFont typeface="Arial" panose="020B0604020202020204" pitchFamily="34" charset="0"/>
              <a:buChar char="•"/>
            </a:pPr>
            <a:r>
              <a:rPr lang="en-US" sz="1600" dirty="0"/>
              <a:t>Initially memory consists of a single contiguous piece, 64 pages in the simple example of Fig. 10-17(a).</a:t>
            </a:r>
          </a:p>
          <a:p>
            <a:pPr marL="285750" indent="-285750" algn="just">
              <a:buFont typeface="Arial" panose="020B0604020202020204" pitchFamily="34" charset="0"/>
              <a:buChar char="•"/>
            </a:pPr>
            <a:r>
              <a:rPr lang="en-US" sz="1600" dirty="0"/>
              <a:t>When a request for memory comes in, it is first rounded up to a power of 2, say eight pages. </a:t>
            </a:r>
          </a:p>
          <a:p>
            <a:pPr marL="285750" indent="-285750" algn="just">
              <a:buFont typeface="Arial" panose="020B0604020202020204" pitchFamily="34" charset="0"/>
              <a:buChar char="•"/>
            </a:pPr>
            <a:r>
              <a:rPr lang="en-US" sz="1600" dirty="0"/>
              <a:t>The full memory chunk is then divided in half, as shown in (b).</a:t>
            </a:r>
          </a:p>
          <a:p>
            <a:pPr marL="285750" indent="-285750" algn="just">
              <a:buFont typeface="Arial" panose="020B0604020202020204" pitchFamily="34" charset="0"/>
              <a:buChar char="•"/>
            </a:pPr>
            <a:r>
              <a:rPr lang="en-US" sz="1600" dirty="0"/>
              <a:t> Since each of these pieces is still too large, the lower piece is divided in half again (c) and again (d). </a:t>
            </a:r>
          </a:p>
          <a:p>
            <a:pPr marL="285750" indent="-285750" algn="just">
              <a:buFont typeface="Arial" panose="020B0604020202020204" pitchFamily="34" charset="0"/>
              <a:buChar char="•"/>
            </a:pPr>
            <a:r>
              <a:rPr lang="en-US" sz="1600" dirty="0"/>
              <a:t>Now we have a chunk of the correct size, so it is allocated to the caller, as shown shaded in (d)</a:t>
            </a:r>
          </a:p>
          <a:p>
            <a:pPr marL="285750" indent="-285750" algn="just">
              <a:buFont typeface="Arial" panose="020B0604020202020204" pitchFamily="34" charset="0"/>
              <a:buChar char="•"/>
            </a:pPr>
            <a:r>
              <a:rPr lang="en-US" sz="1600" dirty="0"/>
              <a:t>Now suppose that a second request comes in for eight pages. This can be satisfied directly now (e). </a:t>
            </a:r>
          </a:p>
          <a:p>
            <a:pPr marL="285750" indent="-285750" algn="just">
              <a:buFont typeface="Arial" panose="020B0604020202020204" pitchFamily="34" charset="0"/>
              <a:buChar char="•"/>
            </a:pPr>
            <a:r>
              <a:rPr lang="en-US" sz="1600" dirty="0"/>
              <a:t>At this point, a third request comes in for four pages. The smallest available chunk is split (f) and half of it is claimed (g). </a:t>
            </a:r>
          </a:p>
          <a:p>
            <a:pPr marL="285750" indent="-285750" algn="just">
              <a:buFont typeface="Arial" panose="020B0604020202020204" pitchFamily="34" charset="0"/>
              <a:buChar char="•"/>
            </a:pPr>
            <a:r>
              <a:rPr lang="en-US" sz="1600" dirty="0"/>
              <a:t>Next, the second of the 8-page chunks is released (h). </a:t>
            </a:r>
          </a:p>
          <a:p>
            <a:pPr marL="285750" indent="-285750" algn="just">
              <a:buFont typeface="Arial" panose="020B0604020202020204" pitchFamily="34" charset="0"/>
              <a:buChar char="•"/>
            </a:pPr>
            <a:r>
              <a:rPr lang="en-US" sz="1600" dirty="0"/>
              <a:t>Finally, the other eight-page chunk is released. Since the two adjacent just-freed eight-page chunks came from the same 16-page chunk, they are merged to get the 16-page chunk back (</a:t>
            </a:r>
            <a:r>
              <a:rPr lang="en-US" sz="1600" dirty="0" err="1"/>
              <a:t>i</a:t>
            </a:r>
            <a:r>
              <a:rPr lang="en-US" sz="1600" dirty="0"/>
              <a:t>).</a:t>
            </a:r>
          </a:p>
        </p:txBody>
      </p:sp>
      <p:sp>
        <p:nvSpPr>
          <p:cNvPr id="9" name="TextBox 8">
            <a:extLst>
              <a:ext uri="{FF2B5EF4-FFF2-40B4-BE49-F238E27FC236}">
                <a16:creationId xmlns:a16="http://schemas.microsoft.com/office/drawing/2014/main" id="{7467F7C7-C49F-DD77-B31F-F2F3BCAF16C6}"/>
              </a:ext>
            </a:extLst>
          </p:cNvPr>
          <p:cNvSpPr txBox="1"/>
          <p:nvPr/>
        </p:nvSpPr>
        <p:spPr>
          <a:xfrm>
            <a:off x="5833030" y="3568588"/>
            <a:ext cx="6096000" cy="2308324"/>
          </a:xfrm>
          <a:prstGeom prst="rect">
            <a:avLst/>
          </a:prstGeom>
          <a:noFill/>
        </p:spPr>
        <p:txBody>
          <a:bodyPr wrap="square">
            <a:spAutoFit/>
          </a:bodyPr>
          <a:lstStyle/>
          <a:p>
            <a:pPr marL="285750" indent="-285750" algn="just">
              <a:buFont typeface="Wingdings" panose="05000000000000000000" pitchFamily="2" charset="2"/>
              <a:buChar char="v"/>
            </a:pPr>
            <a:r>
              <a:rPr lang="en-US" dirty="0"/>
              <a:t>This algorithm leads to considerable internal fragmentation because if you want a 65-page chunk, you have to ask for and get a 128-page chunk.</a:t>
            </a:r>
          </a:p>
          <a:p>
            <a:pPr algn="just"/>
            <a:endParaRPr lang="en-US" dirty="0"/>
          </a:p>
          <a:p>
            <a:pPr marL="285750" indent="-285750" algn="just">
              <a:buFont typeface="Wingdings" panose="05000000000000000000" pitchFamily="2" charset="2"/>
              <a:buChar char="v"/>
            </a:pPr>
            <a:r>
              <a:rPr lang="en-US" dirty="0"/>
              <a:t>To alleviate this problem, Linux has a second memory allocator, the slab </a:t>
            </a:r>
            <a:r>
              <a:rPr lang="en-US" dirty="0" err="1"/>
              <a:t>allo</a:t>
            </a:r>
            <a:r>
              <a:rPr lang="en-US" dirty="0"/>
              <a:t> </a:t>
            </a:r>
            <a:r>
              <a:rPr lang="en-US" dirty="0" err="1"/>
              <a:t>cator</a:t>
            </a:r>
            <a:r>
              <a:rPr lang="en-US" dirty="0"/>
              <a:t>, which takes chunks using the buddy algorithm but then carves slabs (smaller units) from them and manages the smaller units separately.</a:t>
            </a:r>
          </a:p>
        </p:txBody>
      </p:sp>
    </p:spTree>
    <p:extLst>
      <p:ext uri="{BB962C8B-B14F-4D97-AF65-F5344CB8AC3E}">
        <p14:creationId xmlns:p14="http://schemas.microsoft.com/office/powerpoint/2010/main" val="6381578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5D53B-E566-1C44-1053-77B30181917A}"/>
              </a:ext>
            </a:extLst>
          </p:cNvPr>
          <p:cNvSpPr>
            <a:spLocks noGrp="1"/>
          </p:cNvSpPr>
          <p:nvPr>
            <p:ph type="title"/>
          </p:nvPr>
        </p:nvSpPr>
        <p:spPr>
          <a:xfrm>
            <a:off x="433466" y="320155"/>
            <a:ext cx="8245839" cy="1325563"/>
          </a:xfrm>
        </p:spPr>
        <p:txBody>
          <a:bodyPr>
            <a:normAutofit/>
          </a:bodyPr>
          <a:lstStyle/>
          <a:p>
            <a:pPr fontAlgn="base"/>
            <a:r>
              <a:rPr lang="en-US" sz="4000" b="1" u="sng" dirty="0"/>
              <a:t>Non-Contiguous Memory Allocation</a:t>
            </a:r>
            <a:endParaRPr lang="en-US" sz="4000" dirty="0"/>
          </a:p>
        </p:txBody>
      </p:sp>
      <p:pic>
        <p:nvPicPr>
          <p:cNvPr id="4" name="Picture 3" descr="A black line with red text&#10;&#10;AI-generated content may be incorrect.">
            <a:extLst>
              <a:ext uri="{FF2B5EF4-FFF2-40B4-BE49-F238E27FC236}">
                <a16:creationId xmlns:a16="http://schemas.microsoft.com/office/drawing/2014/main" id="{DB43F18A-4977-E3A6-5DBB-88293F04DA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65585" y="1420866"/>
            <a:ext cx="5292949" cy="1775554"/>
          </a:xfrm>
          <a:prstGeom prst="rect">
            <a:avLst/>
          </a:prstGeom>
        </p:spPr>
      </p:pic>
      <p:sp>
        <p:nvSpPr>
          <p:cNvPr id="6" name="TextBox 5">
            <a:extLst>
              <a:ext uri="{FF2B5EF4-FFF2-40B4-BE49-F238E27FC236}">
                <a16:creationId xmlns:a16="http://schemas.microsoft.com/office/drawing/2014/main" id="{C637353C-DF16-F225-DE67-32FD3D0EC9C1}"/>
              </a:ext>
            </a:extLst>
          </p:cNvPr>
          <p:cNvSpPr txBox="1"/>
          <p:nvPr/>
        </p:nvSpPr>
        <p:spPr>
          <a:xfrm>
            <a:off x="372085" y="1420866"/>
            <a:ext cx="6093500" cy="2831544"/>
          </a:xfrm>
          <a:prstGeom prst="rect">
            <a:avLst/>
          </a:prstGeom>
          <a:noFill/>
        </p:spPr>
        <p:txBody>
          <a:bodyPr wrap="square">
            <a:spAutoFit/>
          </a:bodyPr>
          <a:lstStyle/>
          <a:p>
            <a:pPr algn="just" fontAlgn="base">
              <a:spcBef>
                <a:spcPts val="300"/>
              </a:spcBef>
              <a:spcAft>
                <a:spcPts val="300"/>
              </a:spcAft>
              <a:buFont typeface="Arial" panose="020B0604020202020204" pitchFamily="34" charset="0"/>
              <a:buChar char="•"/>
            </a:pPr>
            <a:r>
              <a:rPr lang="en-US" sz="2400" b="0" i="0" dirty="0">
                <a:effectLst/>
                <a:latin typeface="Arimo"/>
              </a:rPr>
              <a:t>Non-contiguous memory allocation is a memory allocation technique.</a:t>
            </a:r>
          </a:p>
          <a:p>
            <a:pPr algn="just" fontAlgn="base">
              <a:spcBef>
                <a:spcPts val="300"/>
              </a:spcBef>
              <a:spcAft>
                <a:spcPts val="300"/>
              </a:spcAft>
              <a:buFont typeface="Arial" panose="020B0604020202020204" pitchFamily="34" charset="0"/>
              <a:buChar char="•"/>
            </a:pPr>
            <a:r>
              <a:rPr lang="en-US" sz="2400" b="0" i="0" dirty="0">
                <a:effectLst/>
                <a:latin typeface="Arimo"/>
              </a:rPr>
              <a:t>It allows to store parts of a single process in a non-contiguous fashion.</a:t>
            </a:r>
          </a:p>
          <a:p>
            <a:pPr algn="just" fontAlgn="base">
              <a:spcBef>
                <a:spcPts val="300"/>
              </a:spcBef>
              <a:spcAft>
                <a:spcPts val="300"/>
              </a:spcAft>
              <a:buFont typeface="Arial" panose="020B0604020202020204" pitchFamily="34" charset="0"/>
              <a:buChar char="•"/>
            </a:pPr>
            <a:r>
              <a:rPr lang="en-US" sz="2400" b="0" i="0" dirty="0">
                <a:effectLst/>
                <a:latin typeface="Arimo"/>
              </a:rPr>
              <a:t>Thus, different parts of the same process can be stored at different places in the main memory.</a:t>
            </a:r>
          </a:p>
        </p:txBody>
      </p:sp>
    </p:spTree>
    <p:extLst>
      <p:ext uri="{BB962C8B-B14F-4D97-AF65-F5344CB8AC3E}">
        <p14:creationId xmlns:p14="http://schemas.microsoft.com/office/powerpoint/2010/main" val="29525904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B8D4287-0A6A-EABF-6902-67B8E2EEFB7E}"/>
              </a:ext>
            </a:extLst>
          </p:cNvPr>
          <p:cNvSpPr txBox="1"/>
          <p:nvPr/>
        </p:nvSpPr>
        <p:spPr>
          <a:xfrm>
            <a:off x="213609" y="129350"/>
            <a:ext cx="11553670" cy="4178067"/>
          </a:xfrm>
          <a:prstGeom prst="rect">
            <a:avLst/>
          </a:prstGeom>
          <a:noFill/>
        </p:spPr>
        <p:txBody>
          <a:bodyPr wrap="square">
            <a:spAutoFit/>
          </a:bodyPr>
          <a:lstStyle/>
          <a:p>
            <a:pPr algn="l" fontAlgn="base">
              <a:buNone/>
            </a:pPr>
            <a:r>
              <a:rPr lang="en-US" sz="3600" b="1" i="0" u="sng" dirty="0">
                <a:solidFill>
                  <a:srgbClr val="FF0000"/>
                </a:solidFill>
                <a:effectLst/>
                <a:latin typeface="Roboto Condensed" panose="02000000000000000000" pitchFamily="2" charset="0"/>
              </a:rPr>
              <a:t>1. Paging-</a:t>
            </a:r>
            <a:endParaRPr lang="en-US" sz="3600" b="0" i="0" dirty="0">
              <a:solidFill>
                <a:srgbClr val="FF0000"/>
              </a:solidFill>
              <a:effectLst/>
              <a:latin typeface="Arimo"/>
            </a:endParaRPr>
          </a:p>
          <a:p>
            <a:pPr algn="l" fontAlgn="base">
              <a:spcBef>
                <a:spcPts val="300"/>
              </a:spcBef>
              <a:spcAft>
                <a:spcPts val="300"/>
              </a:spcAft>
              <a:buFont typeface="Arial" panose="020B0604020202020204" pitchFamily="34" charset="0"/>
              <a:buChar char="•"/>
            </a:pPr>
            <a:r>
              <a:rPr lang="en-US" sz="2000" b="0" i="0" dirty="0">
                <a:effectLst/>
                <a:latin typeface="Arimo"/>
              </a:rPr>
              <a:t>Paging is a fixed size partitioning scheme.</a:t>
            </a:r>
          </a:p>
          <a:p>
            <a:pPr algn="l" fontAlgn="base">
              <a:spcBef>
                <a:spcPts val="300"/>
              </a:spcBef>
              <a:spcAft>
                <a:spcPts val="300"/>
              </a:spcAft>
              <a:buFont typeface="Arial" panose="020B0604020202020204" pitchFamily="34" charset="0"/>
              <a:buChar char="•"/>
            </a:pPr>
            <a:r>
              <a:rPr lang="en-US" sz="2000" b="0" i="0" dirty="0">
                <a:effectLst/>
                <a:latin typeface="Arimo"/>
              </a:rPr>
              <a:t>In paging, secondary memory and main memory are divided into equal fixed size partitions.</a:t>
            </a:r>
          </a:p>
          <a:p>
            <a:pPr algn="l" fontAlgn="base">
              <a:spcBef>
                <a:spcPts val="300"/>
              </a:spcBef>
              <a:spcAft>
                <a:spcPts val="300"/>
              </a:spcAft>
              <a:buFont typeface="Arial" panose="020B0604020202020204" pitchFamily="34" charset="0"/>
              <a:buChar char="•"/>
            </a:pPr>
            <a:r>
              <a:rPr lang="en-US" sz="2000" b="0" i="0" dirty="0">
                <a:effectLst/>
                <a:latin typeface="Arimo"/>
              </a:rPr>
              <a:t>The partitions of secondary memory are called as </a:t>
            </a:r>
            <a:r>
              <a:rPr lang="en-US" sz="2000" b="1" i="0" dirty="0">
                <a:effectLst/>
                <a:latin typeface="Arimo"/>
              </a:rPr>
              <a:t>pages</a:t>
            </a:r>
            <a:r>
              <a:rPr lang="en-US" sz="2000" b="0" i="0" dirty="0">
                <a:effectLst/>
                <a:latin typeface="Arimo"/>
              </a:rPr>
              <a:t>.</a:t>
            </a:r>
          </a:p>
          <a:p>
            <a:pPr algn="l" fontAlgn="base">
              <a:spcBef>
                <a:spcPts val="300"/>
              </a:spcBef>
              <a:spcAft>
                <a:spcPts val="300"/>
              </a:spcAft>
              <a:buFont typeface="Arial" panose="020B0604020202020204" pitchFamily="34" charset="0"/>
              <a:buChar char="•"/>
            </a:pPr>
            <a:r>
              <a:rPr lang="en-US" sz="2000" b="0" i="0" dirty="0">
                <a:effectLst/>
                <a:latin typeface="Arimo"/>
              </a:rPr>
              <a:t>The partitions of main memory are called as </a:t>
            </a:r>
            <a:r>
              <a:rPr lang="en-US" sz="2000" b="1" i="0" dirty="0">
                <a:effectLst/>
                <a:latin typeface="Arimo"/>
              </a:rPr>
              <a:t>frames</a:t>
            </a:r>
            <a:r>
              <a:rPr lang="en-US" sz="2000" b="0" i="0" dirty="0">
                <a:effectLst/>
                <a:latin typeface="Arimo"/>
              </a:rPr>
              <a:t>.</a:t>
            </a:r>
            <a:endParaRPr lang="en-US" sz="2000" dirty="0">
              <a:latin typeface="Arimo"/>
            </a:endParaRPr>
          </a:p>
          <a:p>
            <a:pPr indent="-285750" fontAlgn="base">
              <a:spcBef>
                <a:spcPts val="300"/>
              </a:spcBef>
              <a:spcAft>
                <a:spcPts val="300"/>
              </a:spcAft>
              <a:buFont typeface="Arial" panose="020B0604020202020204" pitchFamily="34" charset="0"/>
              <a:buChar char="•"/>
            </a:pPr>
            <a:r>
              <a:rPr lang="en-US" sz="2000" dirty="0">
                <a:latin typeface="Arimo"/>
              </a:rPr>
              <a:t>Each process is divided into parts where size of each part is same as page size.</a:t>
            </a:r>
          </a:p>
          <a:p>
            <a:pPr indent="-285750" fontAlgn="base">
              <a:spcBef>
                <a:spcPts val="300"/>
              </a:spcBef>
              <a:spcAft>
                <a:spcPts val="300"/>
              </a:spcAft>
              <a:buFont typeface="Arial" panose="020B0604020202020204" pitchFamily="34" charset="0"/>
              <a:buChar char="•"/>
            </a:pPr>
            <a:r>
              <a:rPr lang="en-US" sz="2000" dirty="0">
                <a:latin typeface="Arimo"/>
              </a:rPr>
              <a:t>The size of the last part may be less than the page size.</a:t>
            </a:r>
          </a:p>
          <a:p>
            <a:pPr indent="-285750" fontAlgn="base">
              <a:spcBef>
                <a:spcPts val="300"/>
              </a:spcBef>
              <a:spcAft>
                <a:spcPts val="300"/>
              </a:spcAft>
              <a:buFont typeface="Arial" panose="020B0604020202020204" pitchFamily="34" charset="0"/>
              <a:buChar char="•"/>
            </a:pPr>
            <a:r>
              <a:rPr lang="en-US" sz="2000" dirty="0">
                <a:latin typeface="Arimo"/>
              </a:rPr>
              <a:t>The pages of process are stored in the frames of main memory depending upon their availability.</a:t>
            </a:r>
          </a:p>
          <a:p>
            <a:pPr fontAlgn="base"/>
            <a:r>
              <a:rPr lang="en-US" sz="2000" dirty="0"/>
              <a:t> </a:t>
            </a:r>
          </a:p>
          <a:p>
            <a:pPr algn="l" fontAlgn="base">
              <a:spcBef>
                <a:spcPts val="300"/>
              </a:spcBef>
              <a:spcAft>
                <a:spcPts val="300"/>
              </a:spcAft>
              <a:buFont typeface="Arial" panose="020B0604020202020204" pitchFamily="34" charset="0"/>
              <a:buChar char="•"/>
            </a:pPr>
            <a:endParaRPr lang="en-US" sz="3200" b="0" i="0" dirty="0">
              <a:effectLst/>
              <a:latin typeface="Arimo"/>
            </a:endParaRPr>
          </a:p>
        </p:txBody>
      </p:sp>
      <p:pic>
        <p:nvPicPr>
          <p:cNvPr id="6" name="Picture 5" descr="A comparison of a memory and secondary mode&#10;&#10;AI-generated content may be incorrect.">
            <a:extLst>
              <a:ext uri="{FF2B5EF4-FFF2-40B4-BE49-F238E27FC236}">
                <a16:creationId xmlns:a16="http://schemas.microsoft.com/office/drawing/2014/main" id="{CD0FB7FA-29AB-AD7D-7293-BAC3F6E7A8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94218" y="3455538"/>
            <a:ext cx="5184173" cy="2612957"/>
          </a:xfrm>
          <a:prstGeom prst="rect">
            <a:avLst/>
          </a:prstGeom>
        </p:spPr>
      </p:pic>
      <p:sp>
        <p:nvSpPr>
          <p:cNvPr id="8" name="TextBox 7">
            <a:extLst>
              <a:ext uri="{FF2B5EF4-FFF2-40B4-BE49-F238E27FC236}">
                <a16:creationId xmlns:a16="http://schemas.microsoft.com/office/drawing/2014/main" id="{328A8800-A911-AF63-B74B-ADCD49687F06}"/>
              </a:ext>
            </a:extLst>
          </p:cNvPr>
          <p:cNvSpPr txBox="1"/>
          <p:nvPr/>
        </p:nvSpPr>
        <p:spPr>
          <a:xfrm>
            <a:off x="213609" y="3429000"/>
            <a:ext cx="6093500" cy="3362459"/>
          </a:xfrm>
          <a:prstGeom prst="rect">
            <a:avLst/>
          </a:prstGeom>
          <a:noFill/>
          <a:ln w="28575">
            <a:solidFill>
              <a:srgbClr val="FF0000"/>
            </a:solidFill>
          </a:ln>
        </p:spPr>
        <p:txBody>
          <a:bodyPr wrap="square">
            <a:spAutoFit/>
          </a:bodyPr>
          <a:lstStyle/>
          <a:p>
            <a:pPr algn="l" fontAlgn="base">
              <a:buNone/>
            </a:pPr>
            <a:r>
              <a:rPr lang="en-US" b="1" i="0" u="sng" dirty="0">
                <a:effectLst/>
                <a:latin typeface="Roboto Condensed" panose="02000000000000000000" pitchFamily="2" charset="0"/>
              </a:rPr>
              <a:t>Example-</a:t>
            </a:r>
            <a:endParaRPr lang="en-US" b="0" i="0" dirty="0">
              <a:effectLst/>
              <a:latin typeface="Arimo"/>
            </a:endParaRPr>
          </a:p>
          <a:p>
            <a:pPr algn="l" fontAlgn="base">
              <a:spcBef>
                <a:spcPts val="300"/>
              </a:spcBef>
              <a:spcAft>
                <a:spcPts val="300"/>
              </a:spcAft>
              <a:buFont typeface="Arial" panose="020B0604020202020204" pitchFamily="34" charset="0"/>
              <a:buChar char="•"/>
            </a:pPr>
            <a:r>
              <a:rPr lang="en-US" b="0" i="0" dirty="0">
                <a:effectLst/>
                <a:latin typeface="Arimo"/>
              </a:rPr>
              <a:t>Consider a process is divided into 4 pages P</a:t>
            </a:r>
            <a:r>
              <a:rPr lang="en-US" b="0" i="0" baseline="-25000" dirty="0">
                <a:effectLst/>
                <a:latin typeface="Arimo"/>
              </a:rPr>
              <a:t>0</a:t>
            </a:r>
            <a:r>
              <a:rPr lang="en-US" b="0" i="0" dirty="0">
                <a:effectLst/>
                <a:latin typeface="Arimo"/>
              </a:rPr>
              <a:t>, P</a:t>
            </a:r>
            <a:r>
              <a:rPr lang="en-US" b="0" i="0" baseline="-25000" dirty="0">
                <a:effectLst/>
                <a:latin typeface="Arimo"/>
              </a:rPr>
              <a:t>1</a:t>
            </a:r>
            <a:r>
              <a:rPr lang="en-US" b="0" i="0" dirty="0">
                <a:effectLst/>
                <a:latin typeface="Arimo"/>
              </a:rPr>
              <a:t>, P</a:t>
            </a:r>
            <a:r>
              <a:rPr lang="en-US" b="0" i="0" baseline="-25000" dirty="0">
                <a:effectLst/>
                <a:latin typeface="Arimo"/>
              </a:rPr>
              <a:t>2</a:t>
            </a:r>
            <a:r>
              <a:rPr lang="en-US" b="0" i="0" dirty="0">
                <a:effectLst/>
                <a:latin typeface="Arimo"/>
              </a:rPr>
              <a:t> and P</a:t>
            </a:r>
            <a:r>
              <a:rPr lang="en-US" b="0" i="0" baseline="-25000" dirty="0">
                <a:effectLst/>
                <a:latin typeface="Arimo"/>
              </a:rPr>
              <a:t>3</a:t>
            </a:r>
            <a:r>
              <a:rPr lang="en-US" b="0" i="0" dirty="0">
                <a:effectLst/>
                <a:latin typeface="Arimo"/>
              </a:rPr>
              <a:t>.</a:t>
            </a:r>
          </a:p>
          <a:p>
            <a:pPr algn="l" fontAlgn="base">
              <a:spcBef>
                <a:spcPts val="300"/>
              </a:spcBef>
              <a:spcAft>
                <a:spcPts val="300"/>
              </a:spcAft>
              <a:buFont typeface="Arial" panose="020B0604020202020204" pitchFamily="34" charset="0"/>
              <a:buChar char="•"/>
            </a:pPr>
            <a:r>
              <a:rPr lang="en-US" b="0" i="0" dirty="0">
                <a:effectLst/>
                <a:latin typeface="Arimo"/>
              </a:rPr>
              <a:t>Depending upon the availability, these pages may be stored in the main memory frames in a non-contiguous fashion as shown-</a:t>
            </a:r>
          </a:p>
          <a:p>
            <a:pPr algn="l" fontAlgn="base">
              <a:spcBef>
                <a:spcPts val="300"/>
              </a:spcBef>
              <a:spcAft>
                <a:spcPts val="300"/>
              </a:spcAft>
              <a:buFont typeface="Arial" panose="020B0604020202020204" pitchFamily="34" charset="0"/>
              <a:buChar char="•"/>
            </a:pPr>
            <a:endParaRPr lang="en-US" dirty="0">
              <a:latin typeface="Arimo"/>
            </a:endParaRPr>
          </a:p>
          <a:p>
            <a:pPr algn="l" fontAlgn="base">
              <a:spcBef>
                <a:spcPts val="300"/>
              </a:spcBef>
              <a:spcAft>
                <a:spcPts val="300"/>
              </a:spcAft>
              <a:buFont typeface="Arial" panose="020B0604020202020204" pitchFamily="34" charset="0"/>
              <a:buChar char="•"/>
            </a:pPr>
            <a:endParaRPr lang="en-US" b="0" i="0" dirty="0">
              <a:effectLst/>
              <a:latin typeface="Arimo"/>
            </a:endParaRPr>
          </a:p>
          <a:p>
            <a:pPr algn="l" fontAlgn="base">
              <a:spcBef>
                <a:spcPts val="300"/>
              </a:spcBef>
              <a:spcAft>
                <a:spcPts val="300"/>
              </a:spcAft>
              <a:buFont typeface="Arial" panose="020B0604020202020204" pitchFamily="34" charset="0"/>
              <a:buChar char="•"/>
            </a:pPr>
            <a:endParaRPr lang="en-US" dirty="0">
              <a:latin typeface="Arimo"/>
            </a:endParaRPr>
          </a:p>
          <a:p>
            <a:pPr algn="l" fontAlgn="base">
              <a:spcBef>
                <a:spcPts val="300"/>
              </a:spcBef>
              <a:spcAft>
                <a:spcPts val="300"/>
              </a:spcAft>
              <a:buFont typeface="Arial" panose="020B0604020202020204" pitchFamily="34" charset="0"/>
              <a:buChar char="•"/>
            </a:pPr>
            <a:endParaRPr lang="en-US" b="0" i="0" dirty="0">
              <a:effectLst/>
              <a:latin typeface="Arimo"/>
            </a:endParaRPr>
          </a:p>
          <a:p>
            <a:pPr algn="l" fontAlgn="base">
              <a:spcBef>
                <a:spcPts val="300"/>
              </a:spcBef>
              <a:spcAft>
                <a:spcPts val="300"/>
              </a:spcAft>
            </a:pPr>
            <a:endParaRPr lang="en-US" b="0" i="0" dirty="0">
              <a:effectLst/>
              <a:latin typeface="Arimo"/>
            </a:endParaRPr>
          </a:p>
        </p:txBody>
      </p:sp>
      <p:pic>
        <p:nvPicPr>
          <p:cNvPr id="10" name="Picture 9" descr="A white rectangular object with orange text&#10;&#10;AI-generated content may be incorrect.">
            <a:extLst>
              <a:ext uri="{FF2B5EF4-FFF2-40B4-BE49-F238E27FC236}">
                <a16:creationId xmlns:a16="http://schemas.microsoft.com/office/drawing/2014/main" id="{C07504AE-82F4-05B2-DE19-77DA295F96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49395" y="4902993"/>
            <a:ext cx="1548048" cy="1780687"/>
          </a:xfrm>
          <a:prstGeom prst="rect">
            <a:avLst/>
          </a:prstGeom>
        </p:spPr>
      </p:pic>
    </p:spTree>
    <p:extLst>
      <p:ext uri="{BB962C8B-B14F-4D97-AF65-F5344CB8AC3E}">
        <p14:creationId xmlns:p14="http://schemas.microsoft.com/office/powerpoint/2010/main" val="39592953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C36BA5-13DB-9F46-7321-F9C83F327E2E}"/>
              </a:ext>
            </a:extLst>
          </p:cNvPr>
          <p:cNvSpPr txBox="1"/>
          <p:nvPr/>
        </p:nvSpPr>
        <p:spPr>
          <a:xfrm>
            <a:off x="243589" y="212573"/>
            <a:ext cx="8165893" cy="461665"/>
          </a:xfrm>
          <a:prstGeom prst="rect">
            <a:avLst/>
          </a:prstGeom>
          <a:noFill/>
        </p:spPr>
        <p:txBody>
          <a:bodyPr wrap="square">
            <a:spAutoFit/>
          </a:bodyPr>
          <a:lstStyle/>
          <a:p>
            <a:pPr algn="l" fontAlgn="base">
              <a:buNone/>
            </a:pPr>
            <a:r>
              <a:rPr lang="en-US" sz="2400" b="1" i="0" u="sng" dirty="0">
                <a:solidFill>
                  <a:srgbClr val="FF0000"/>
                </a:solidFill>
                <a:effectLst/>
                <a:latin typeface="Roboto Condensed" panose="02000000000000000000" pitchFamily="2" charset="0"/>
              </a:rPr>
              <a:t>Paging::  Translating Logical Address into Physical Address</a:t>
            </a:r>
            <a:endParaRPr lang="en-US" sz="2400" b="1" i="0" dirty="0">
              <a:solidFill>
                <a:srgbClr val="FF0000"/>
              </a:solidFill>
              <a:effectLst/>
              <a:latin typeface="Roboto Condensed" panose="02000000000000000000" pitchFamily="2" charset="0"/>
            </a:endParaRPr>
          </a:p>
        </p:txBody>
      </p:sp>
      <p:pic>
        <p:nvPicPr>
          <p:cNvPr id="5" name="Picture 4" descr="A black lines with red text&#10;&#10;AI-generated content may be incorrect.">
            <a:extLst>
              <a:ext uri="{FF2B5EF4-FFF2-40B4-BE49-F238E27FC236}">
                <a16:creationId xmlns:a16="http://schemas.microsoft.com/office/drawing/2014/main" id="{F2F7CC49-2A8A-6AD2-AED9-9C5408B69B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66886" y="674238"/>
            <a:ext cx="4581525" cy="1219200"/>
          </a:xfrm>
          <a:prstGeom prst="rect">
            <a:avLst/>
          </a:prstGeom>
        </p:spPr>
      </p:pic>
      <p:pic>
        <p:nvPicPr>
          <p:cNvPr id="7" name="Picture 6" descr="A close-up of a physical address&#10;&#10;AI-generated content may be incorrect.">
            <a:extLst>
              <a:ext uri="{FF2B5EF4-FFF2-40B4-BE49-F238E27FC236}">
                <a16:creationId xmlns:a16="http://schemas.microsoft.com/office/drawing/2014/main" id="{506EF769-AD99-E43C-CABB-8DF3447EEA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66886" y="1893438"/>
            <a:ext cx="4676775" cy="1219200"/>
          </a:xfrm>
          <a:prstGeom prst="rect">
            <a:avLst/>
          </a:prstGeom>
        </p:spPr>
      </p:pic>
      <p:sp>
        <p:nvSpPr>
          <p:cNvPr id="11" name="TextBox 10">
            <a:extLst>
              <a:ext uri="{FF2B5EF4-FFF2-40B4-BE49-F238E27FC236}">
                <a16:creationId xmlns:a16="http://schemas.microsoft.com/office/drawing/2014/main" id="{EE315B92-CF50-6167-8C96-8D30A7BDE99D}"/>
              </a:ext>
            </a:extLst>
          </p:cNvPr>
          <p:cNvSpPr txBox="1"/>
          <p:nvPr/>
        </p:nvSpPr>
        <p:spPr>
          <a:xfrm>
            <a:off x="243587" y="674238"/>
            <a:ext cx="11800073" cy="5378395"/>
          </a:xfrm>
          <a:prstGeom prst="rect">
            <a:avLst/>
          </a:prstGeom>
          <a:noFill/>
        </p:spPr>
        <p:txBody>
          <a:bodyPr wrap="square">
            <a:spAutoFit/>
          </a:bodyPr>
          <a:lstStyle/>
          <a:p>
            <a:pPr algn="l" fontAlgn="base">
              <a:spcBef>
                <a:spcPts val="300"/>
              </a:spcBef>
              <a:spcAft>
                <a:spcPts val="300"/>
              </a:spcAft>
              <a:buFont typeface="Arial" panose="020B0604020202020204" pitchFamily="34" charset="0"/>
              <a:buChar char="•"/>
            </a:pPr>
            <a:r>
              <a:rPr lang="en-US" b="0" i="0" dirty="0">
                <a:effectLst/>
                <a:latin typeface="Arimo"/>
              </a:rPr>
              <a:t>CPU always generates a logical address.</a:t>
            </a:r>
          </a:p>
          <a:p>
            <a:pPr algn="l" fontAlgn="base">
              <a:spcBef>
                <a:spcPts val="300"/>
              </a:spcBef>
              <a:spcAft>
                <a:spcPts val="300"/>
              </a:spcAft>
              <a:buFont typeface="Arial" panose="020B0604020202020204" pitchFamily="34" charset="0"/>
              <a:buChar char="•"/>
            </a:pPr>
            <a:r>
              <a:rPr lang="en-US" b="0" i="0" dirty="0">
                <a:effectLst/>
                <a:latin typeface="Arimo"/>
              </a:rPr>
              <a:t>A physical address is needed to access the main memory.</a:t>
            </a:r>
          </a:p>
          <a:p>
            <a:pPr algn="l" fontAlgn="base">
              <a:spcBef>
                <a:spcPts val="300"/>
              </a:spcBef>
              <a:spcAft>
                <a:spcPts val="900"/>
              </a:spcAft>
              <a:buNone/>
            </a:pPr>
            <a:r>
              <a:rPr lang="en-US" b="0" i="0" dirty="0">
                <a:effectLst/>
                <a:latin typeface="Arimo"/>
              </a:rPr>
              <a:t>Following steps are followed to translate logical address into physical address- </a:t>
            </a:r>
          </a:p>
          <a:p>
            <a:pPr algn="l" fontAlgn="base">
              <a:buNone/>
            </a:pPr>
            <a:r>
              <a:rPr lang="en-US" b="1" i="0" u="sng" dirty="0">
                <a:effectLst/>
                <a:latin typeface="Roboto Condensed" panose="02000000000000000000" pitchFamily="2" charset="0"/>
              </a:rPr>
              <a:t>Step-01:</a:t>
            </a:r>
            <a:endParaRPr lang="en-US" b="0" i="0" dirty="0">
              <a:effectLst/>
              <a:latin typeface="Arimo"/>
            </a:endParaRPr>
          </a:p>
          <a:p>
            <a:pPr algn="l" fontAlgn="base">
              <a:spcBef>
                <a:spcPts val="300"/>
              </a:spcBef>
              <a:spcAft>
                <a:spcPts val="900"/>
              </a:spcAft>
              <a:buNone/>
            </a:pPr>
            <a:r>
              <a:rPr lang="en-US" b="0" i="0" dirty="0">
                <a:effectLst/>
                <a:latin typeface="Arimo"/>
              </a:rPr>
              <a:t>CPU generates a logical address consisting of two parts-</a:t>
            </a:r>
          </a:p>
          <a:p>
            <a:pPr algn="l" fontAlgn="base">
              <a:spcBef>
                <a:spcPts val="300"/>
              </a:spcBef>
              <a:spcAft>
                <a:spcPts val="300"/>
              </a:spcAft>
              <a:buFont typeface="+mj-lt"/>
              <a:buAutoNum type="arabicPeriod"/>
            </a:pPr>
            <a:r>
              <a:rPr lang="en-US" b="0" i="0" dirty="0">
                <a:effectLst/>
                <a:latin typeface="Arimo"/>
              </a:rPr>
              <a:t>Page Number</a:t>
            </a:r>
          </a:p>
          <a:p>
            <a:pPr algn="l" fontAlgn="base">
              <a:spcBef>
                <a:spcPts val="300"/>
              </a:spcBef>
              <a:spcAft>
                <a:spcPts val="300"/>
              </a:spcAft>
              <a:buFont typeface="+mj-lt"/>
              <a:buAutoNum type="arabicPeriod"/>
            </a:pPr>
            <a:r>
              <a:rPr lang="en-US" b="0" i="0" dirty="0">
                <a:effectLst/>
                <a:latin typeface="Arimo"/>
              </a:rPr>
              <a:t>Page Offset</a:t>
            </a:r>
            <a:endParaRPr lang="en-US" dirty="0">
              <a:latin typeface="Arimo"/>
            </a:endParaRPr>
          </a:p>
          <a:p>
            <a:pPr fontAlgn="base"/>
            <a:r>
              <a:rPr lang="en-US" dirty="0"/>
              <a:t>Page Number specifies the specific page of the process from which CPU wants to read the data.</a:t>
            </a:r>
          </a:p>
          <a:p>
            <a:pPr fontAlgn="base"/>
            <a:r>
              <a:rPr lang="en-US" dirty="0"/>
              <a:t>Page Offset specifies the specific word on the page that CPU wants to read.</a:t>
            </a:r>
          </a:p>
          <a:p>
            <a:pPr fontAlgn="base"/>
            <a:r>
              <a:rPr lang="en-US" b="1" u="sng" dirty="0"/>
              <a:t>Step-02:</a:t>
            </a:r>
            <a:endParaRPr lang="en-US" dirty="0"/>
          </a:p>
          <a:p>
            <a:pPr fontAlgn="base"/>
            <a:r>
              <a:rPr lang="en-US" dirty="0"/>
              <a:t>For the page number generated by the CPU,</a:t>
            </a:r>
          </a:p>
          <a:p>
            <a:pPr fontAlgn="base"/>
            <a:r>
              <a:rPr lang="en-US" b="1" u="sng" dirty="0">
                <a:hlinkClick r:id="rId4"/>
              </a:rPr>
              <a:t>Page Table</a:t>
            </a:r>
            <a:r>
              <a:rPr lang="en-US" dirty="0"/>
              <a:t> provides the corresponding frame number (base address of the frame) where that page is stored in the main memory.</a:t>
            </a:r>
          </a:p>
          <a:p>
            <a:pPr fontAlgn="base"/>
            <a:r>
              <a:rPr lang="en-US" b="1" u="sng" dirty="0"/>
              <a:t>Step-03:</a:t>
            </a:r>
            <a:endParaRPr lang="en-US" dirty="0"/>
          </a:p>
          <a:p>
            <a:pPr fontAlgn="base"/>
            <a:r>
              <a:rPr lang="en-US" dirty="0"/>
              <a:t>The frame number combined with the page offset forms the required physical address.</a:t>
            </a:r>
          </a:p>
          <a:p>
            <a:pPr fontAlgn="base"/>
            <a:r>
              <a:rPr lang="en-US" dirty="0"/>
              <a:t>Frame number specifies the specific frame where the required page is stored.</a:t>
            </a:r>
          </a:p>
          <a:p>
            <a:pPr fontAlgn="base"/>
            <a:r>
              <a:rPr lang="en-US" dirty="0"/>
              <a:t>Page Offset specifies the specific word that has to be read from that page.</a:t>
            </a:r>
          </a:p>
        </p:txBody>
      </p:sp>
    </p:spTree>
    <p:extLst>
      <p:ext uri="{BB962C8B-B14F-4D97-AF65-F5344CB8AC3E}">
        <p14:creationId xmlns:p14="http://schemas.microsoft.com/office/powerpoint/2010/main" val="19122338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7C789FF-D9E4-AA70-6BF9-6984DDB0E09B}"/>
              </a:ext>
            </a:extLst>
          </p:cNvPr>
          <p:cNvSpPr txBox="1"/>
          <p:nvPr/>
        </p:nvSpPr>
        <p:spPr>
          <a:xfrm>
            <a:off x="228600" y="338315"/>
            <a:ext cx="10894102" cy="369332"/>
          </a:xfrm>
          <a:prstGeom prst="rect">
            <a:avLst/>
          </a:prstGeom>
          <a:noFill/>
        </p:spPr>
        <p:txBody>
          <a:bodyPr wrap="square">
            <a:spAutoFit/>
          </a:bodyPr>
          <a:lstStyle/>
          <a:p>
            <a:pPr algn="l" fontAlgn="base">
              <a:spcBef>
                <a:spcPts val="300"/>
              </a:spcBef>
              <a:spcAft>
                <a:spcPts val="900"/>
              </a:spcAft>
              <a:buNone/>
            </a:pPr>
            <a:r>
              <a:rPr lang="en-US" b="0" i="0" dirty="0">
                <a:effectLst/>
                <a:latin typeface="Arimo"/>
              </a:rPr>
              <a:t>The following diagram illustrates the above steps of translating logical address into physical address-</a:t>
            </a:r>
          </a:p>
        </p:txBody>
      </p:sp>
      <p:pic>
        <p:nvPicPr>
          <p:cNvPr id="5" name="Picture 4" descr="A diagram of a computer program&#10;&#10;AI-generated content may be incorrect.">
            <a:extLst>
              <a:ext uri="{FF2B5EF4-FFF2-40B4-BE49-F238E27FC236}">
                <a16:creationId xmlns:a16="http://schemas.microsoft.com/office/drawing/2014/main" id="{AB0D55BA-2D0B-C14B-0766-1F572612AD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9366" y="778851"/>
            <a:ext cx="7461078" cy="3463366"/>
          </a:xfrm>
          <a:prstGeom prst="rect">
            <a:avLst/>
          </a:prstGeom>
        </p:spPr>
      </p:pic>
      <p:sp>
        <p:nvSpPr>
          <p:cNvPr id="7" name="TextBox 6">
            <a:extLst>
              <a:ext uri="{FF2B5EF4-FFF2-40B4-BE49-F238E27FC236}">
                <a16:creationId xmlns:a16="http://schemas.microsoft.com/office/drawing/2014/main" id="{B106E438-27B5-13B4-8C06-E8C5326C4F5E}"/>
              </a:ext>
            </a:extLst>
          </p:cNvPr>
          <p:cNvSpPr txBox="1"/>
          <p:nvPr/>
        </p:nvSpPr>
        <p:spPr>
          <a:xfrm>
            <a:off x="603354" y="4436391"/>
            <a:ext cx="4283439" cy="1592744"/>
          </a:xfrm>
          <a:prstGeom prst="rect">
            <a:avLst/>
          </a:prstGeom>
          <a:noFill/>
          <a:ln>
            <a:solidFill>
              <a:srgbClr val="FF0000"/>
            </a:solidFill>
          </a:ln>
        </p:spPr>
        <p:txBody>
          <a:bodyPr wrap="square">
            <a:spAutoFit/>
          </a:bodyPr>
          <a:lstStyle/>
          <a:p>
            <a:pPr algn="l" fontAlgn="base">
              <a:buNone/>
            </a:pPr>
            <a:r>
              <a:rPr lang="en-US" sz="1600" b="1" i="0" u="sng" dirty="0">
                <a:effectLst/>
                <a:latin typeface="Roboto Condensed" panose="02000000000000000000" pitchFamily="2" charset="0"/>
              </a:rPr>
              <a:t>Advantages-</a:t>
            </a:r>
            <a:endParaRPr lang="en-US" sz="1600" b="0" i="0" dirty="0">
              <a:effectLst/>
              <a:latin typeface="Arimo"/>
            </a:endParaRPr>
          </a:p>
          <a:p>
            <a:pPr algn="l" fontAlgn="base">
              <a:spcBef>
                <a:spcPts val="300"/>
              </a:spcBef>
              <a:spcAft>
                <a:spcPts val="900"/>
              </a:spcAft>
              <a:buNone/>
            </a:pPr>
            <a:r>
              <a:rPr lang="en-US" sz="1600" b="0" i="0" dirty="0">
                <a:effectLst/>
                <a:latin typeface="Arimo"/>
              </a:rPr>
              <a:t>The advantages of paging are-</a:t>
            </a:r>
          </a:p>
          <a:p>
            <a:pPr algn="l" fontAlgn="base">
              <a:spcBef>
                <a:spcPts val="300"/>
              </a:spcBef>
              <a:spcAft>
                <a:spcPts val="300"/>
              </a:spcAft>
              <a:buFont typeface="Arial" panose="020B0604020202020204" pitchFamily="34" charset="0"/>
              <a:buChar char="•"/>
            </a:pPr>
            <a:r>
              <a:rPr lang="en-US" sz="1600" b="0" i="0" dirty="0">
                <a:effectLst/>
                <a:latin typeface="Arimo"/>
              </a:rPr>
              <a:t>It allows to store parts of a single process in a non-contiguous fashion.</a:t>
            </a:r>
          </a:p>
          <a:p>
            <a:pPr algn="l" fontAlgn="base">
              <a:spcBef>
                <a:spcPts val="300"/>
              </a:spcBef>
              <a:spcAft>
                <a:spcPts val="300"/>
              </a:spcAft>
              <a:buFont typeface="Arial" panose="020B0604020202020204" pitchFamily="34" charset="0"/>
              <a:buChar char="•"/>
            </a:pPr>
            <a:r>
              <a:rPr lang="en-US" sz="1600" b="0" i="0" dirty="0">
                <a:effectLst/>
                <a:latin typeface="Arimo"/>
              </a:rPr>
              <a:t>It solves the problem of external fragmentation.</a:t>
            </a:r>
          </a:p>
        </p:txBody>
      </p:sp>
      <p:sp>
        <p:nvSpPr>
          <p:cNvPr id="9" name="TextBox 8">
            <a:extLst>
              <a:ext uri="{FF2B5EF4-FFF2-40B4-BE49-F238E27FC236}">
                <a16:creationId xmlns:a16="http://schemas.microsoft.com/office/drawing/2014/main" id="{C9DC3D86-C08C-B1DB-629E-FBD306900120}"/>
              </a:ext>
            </a:extLst>
          </p:cNvPr>
          <p:cNvSpPr txBox="1"/>
          <p:nvPr/>
        </p:nvSpPr>
        <p:spPr>
          <a:xfrm>
            <a:off x="5285285" y="4343402"/>
            <a:ext cx="6816775" cy="2454518"/>
          </a:xfrm>
          <a:prstGeom prst="rect">
            <a:avLst/>
          </a:prstGeom>
          <a:noFill/>
          <a:ln>
            <a:solidFill>
              <a:srgbClr val="FF0000"/>
            </a:solidFill>
          </a:ln>
        </p:spPr>
        <p:txBody>
          <a:bodyPr wrap="square">
            <a:spAutoFit/>
          </a:bodyPr>
          <a:lstStyle/>
          <a:p>
            <a:pPr algn="l" fontAlgn="base">
              <a:buNone/>
            </a:pPr>
            <a:r>
              <a:rPr lang="en-US" sz="1800" b="1" i="0" u="sng" dirty="0">
                <a:effectLst/>
                <a:latin typeface="Roboto Condensed" panose="02000000000000000000" pitchFamily="2" charset="0"/>
              </a:rPr>
              <a:t>Disadvantages-</a:t>
            </a:r>
            <a:endParaRPr lang="en-US" sz="1800" b="0" i="0" dirty="0">
              <a:effectLst/>
              <a:latin typeface="Arimo"/>
            </a:endParaRPr>
          </a:p>
          <a:p>
            <a:pPr algn="l" fontAlgn="base">
              <a:spcBef>
                <a:spcPts val="300"/>
              </a:spcBef>
              <a:spcAft>
                <a:spcPts val="900"/>
              </a:spcAft>
              <a:buNone/>
            </a:pPr>
            <a:r>
              <a:rPr lang="en-US" sz="1800" b="0" i="0" dirty="0">
                <a:effectLst/>
                <a:latin typeface="Arimo"/>
              </a:rPr>
              <a:t>The disadvantages of paging are-</a:t>
            </a:r>
          </a:p>
          <a:p>
            <a:pPr algn="l" fontAlgn="base">
              <a:spcBef>
                <a:spcPts val="300"/>
              </a:spcBef>
              <a:spcAft>
                <a:spcPts val="300"/>
              </a:spcAft>
              <a:buFont typeface="Arial" panose="020B0604020202020204" pitchFamily="34" charset="0"/>
              <a:buChar char="•"/>
            </a:pPr>
            <a:r>
              <a:rPr lang="en-US" sz="1800" b="0" i="0" dirty="0">
                <a:effectLst/>
                <a:latin typeface="Arimo"/>
              </a:rPr>
              <a:t>It suffers from internal fragmentation.</a:t>
            </a:r>
          </a:p>
          <a:p>
            <a:pPr algn="l" fontAlgn="base">
              <a:spcBef>
                <a:spcPts val="300"/>
              </a:spcBef>
              <a:spcAft>
                <a:spcPts val="300"/>
              </a:spcAft>
              <a:buFont typeface="Arial" panose="020B0604020202020204" pitchFamily="34" charset="0"/>
              <a:buChar char="•"/>
            </a:pPr>
            <a:r>
              <a:rPr lang="en-US" sz="1800" b="0" i="0" dirty="0">
                <a:effectLst/>
                <a:latin typeface="Arimo"/>
              </a:rPr>
              <a:t>There is an overhead of maintaining a page table for each process.</a:t>
            </a:r>
          </a:p>
          <a:p>
            <a:pPr algn="l" fontAlgn="base">
              <a:spcBef>
                <a:spcPts val="300"/>
              </a:spcBef>
              <a:spcAft>
                <a:spcPts val="300"/>
              </a:spcAft>
              <a:buFont typeface="Arial" panose="020B0604020202020204" pitchFamily="34" charset="0"/>
              <a:buChar char="•"/>
            </a:pPr>
            <a:r>
              <a:rPr lang="en-US" sz="1800" b="0" i="0" dirty="0">
                <a:effectLst/>
                <a:latin typeface="Arimo"/>
              </a:rPr>
              <a:t>The time taken to fetch the instruction increases since now two memory accesses are required.</a:t>
            </a:r>
          </a:p>
          <a:p>
            <a:pPr algn="l" fontAlgn="base">
              <a:spcBef>
                <a:spcPts val="300"/>
              </a:spcBef>
              <a:spcAft>
                <a:spcPts val="900"/>
              </a:spcAft>
              <a:buNone/>
            </a:pPr>
            <a:r>
              <a:rPr lang="en-US" sz="1800" b="0" i="0" dirty="0">
                <a:solidFill>
                  <a:srgbClr val="C9C2B7"/>
                </a:solidFill>
                <a:effectLst/>
                <a:latin typeface="Arimo"/>
              </a:rPr>
              <a:t> </a:t>
            </a:r>
          </a:p>
        </p:txBody>
      </p:sp>
    </p:spTree>
    <p:extLst>
      <p:ext uri="{BB962C8B-B14F-4D97-AF65-F5344CB8AC3E}">
        <p14:creationId xmlns:p14="http://schemas.microsoft.com/office/powerpoint/2010/main" val="26262734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2240</TotalTime>
  <Words>2783</Words>
  <Application>Microsoft Office PowerPoint</Application>
  <PresentationFormat>Widescreen</PresentationFormat>
  <Paragraphs>312</Paragraphs>
  <Slides>36</Slides>
  <Notes>6</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36</vt:i4>
      </vt:variant>
    </vt:vector>
  </HeadingPairs>
  <TitlesOfParts>
    <vt:vector size="48" baseType="lpstr">
      <vt:lpstr>__Source_Sans_Pro_23024b</vt:lpstr>
      <vt:lpstr>Aptos</vt:lpstr>
      <vt:lpstr>Aptos Display</vt:lpstr>
      <vt:lpstr>Arial</vt:lpstr>
      <vt:lpstr>Arimo</vt:lpstr>
      <vt:lpstr>Cambria Math</vt:lpstr>
      <vt:lpstr>Helvetica</vt:lpstr>
      <vt:lpstr>Monotype Sorts</vt:lpstr>
      <vt:lpstr>Roboto Condensed</vt:lpstr>
      <vt:lpstr>Times New Roman</vt:lpstr>
      <vt:lpstr>Wingdings</vt:lpstr>
      <vt:lpstr>Office Theme</vt:lpstr>
      <vt:lpstr>Memory Management  Unit V</vt:lpstr>
      <vt:lpstr>Need for Multiprogramming &amp; Main Memory (MM)</vt:lpstr>
      <vt:lpstr>Size of MM vs. CPU Efficiency</vt:lpstr>
      <vt:lpstr>Size of MM vs. CPU Efficiency</vt:lpstr>
      <vt:lpstr>Size of MM vs. CPU Efficiency</vt:lpstr>
      <vt:lpstr>Size of MM vs. CPU Efficiency</vt:lpstr>
      <vt:lpstr>Problem</vt:lpstr>
      <vt:lpstr>Memory Criteria:</vt:lpstr>
      <vt:lpstr>Multiprogramming benefits</vt:lpstr>
      <vt:lpstr>PowerPoint Presentation</vt:lpstr>
      <vt:lpstr>PowerPoint Presentation</vt:lpstr>
      <vt:lpstr>PowerPoint Presentation</vt:lpstr>
      <vt:lpstr>PowerPoint Presentation</vt:lpstr>
      <vt:lpstr>Logical vs. Physical Address Space</vt:lpstr>
      <vt:lpstr>Memory-Management Unit (MMU)</vt:lpstr>
      <vt:lpstr>Hardware Support for Relocation and Limit Registers</vt:lpstr>
      <vt:lpstr>Dynamic Loading</vt:lpstr>
      <vt:lpstr>Memory Overload</vt:lpstr>
      <vt:lpstr>Memory Management Techniques</vt:lpstr>
      <vt:lpstr>1. Problem with Fixed Partition</vt:lpstr>
      <vt:lpstr>2. Problem with Fixed Partition</vt:lpstr>
      <vt:lpstr>PowerPoint Presentation</vt:lpstr>
      <vt:lpstr>PowerPoint Presentation</vt:lpstr>
      <vt:lpstr>PowerPoint Presentation</vt:lpstr>
      <vt:lpstr>PowerPoint Presentation</vt:lpstr>
      <vt:lpstr>Managing Free Memory</vt:lpstr>
      <vt:lpstr>Compaction </vt:lpstr>
      <vt:lpstr>Bit Map for Dynamic Partitioning </vt:lpstr>
      <vt:lpstr>Bit Map for Dynamic Partitioning </vt:lpstr>
      <vt:lpstr>Linked List for Dynamic Partitioning </vt:lpstr>
      <vt:lpstr>Linked List for Dynamic Partitioning </vt:lpstr>
      <vt:lpstr>PowerPoint Presentation</vt:lpstr>
      <vt:lpstr>Non-Contiguous Memory Allocation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Khursheed Ahmad Bhat</dc:creator>
  <cp:lastModifiedBy>Khursheed Ahmad Bhat</cp:lastModifiedBy>
  <cp:revision>65</cp:revision>
  <dcterms:created xsi:type="dcterms:W3CDTF">2025-11-16T05:26:55Z</dcterms:created>
  <dcterms:modified xsi:type="dcterms:W3CDTF">2025-11-19T13:59:44Z</dcterms:modified>
</cp:coreProperties>
</file>