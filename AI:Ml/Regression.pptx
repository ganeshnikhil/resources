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4"/>
  </p:sldMasterIdLst>
  <p:notesMasterIdLst>
    <p:notesMasterId r:id="rId30"/>
  </p:notesMasterIdLst>
  <p:handoutMasterIdLst>
    <p:handoutMasterId r:id="rId31"/>
  </p:handoutMasterIdLst>
  <p:sldIdLst>
    <p:sldId id="390" r:id="rId5"/>
    <p:sldId id="391" r:id="rId6"/>
    <p:sldId id="392" r:id="rId7"/>
    <p:sldId id="393" r:id="rId8"/>
    <p:sldId id="394" r:id="rId9"/>
    <p:sldId id="401" r:id="rId10"/>
    <p:sldId id="436" r:id="rId11"/>
    <p:sldId id="405" r:id="rId12"/>
    <p:sldId id="415" r:id="rId13"/>
    <p:sldId id="416" r:id="rId14"/>
    <p:sldId id="417" r:id="rId15"/>
    <p:sldId id="441" r:id="rId16"/>
    <p:sldId id="442" r:id="rId17"/>
    <p:sldId id="444" r:id="rId18"/>
    <p:sldId id="443" r:id="rId19"/>
    <p:sldId id="446" r:id="rId20"/>
    <p:sldId id="447" r:id="rId21"/>
    <p:sldId id="438" r:id="rId22"/>
    <p:sldId id="439" r:id="rId23"/>
    <p:sldId id="440" r:id="rId24"/>
    <p:sldId id="445" r:id="rId25"/>
    <p:sldId id="419" r:id="rId26"/>
    <p:sldId id="422" r:id="rId27"/>
    <p:sldId id="421" r:id="rId28"/>
    <p:sldId id="43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vi shukla" initials="Rs" lastIdx="1" clrIdx="0">
    <p:extLst>
      <p:ext uri="{19B8F6BF-5375-455C-9EA6-DF929625EA0E}">
        <p15:presenceInfo xmlns:p15="http://schemas.microsoft.com/office/powerpoint/2012/main" userId="Ravi shuk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DF36"/>
    <a:srgbClr val="234C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0B815-366E-4204-8B6C-6A722903EE0A}" v="2" dt="2021-04-28T02:43:07.783"/>
    <p1510:client id="{B3DCEA19-29E2-4642-9861-773C4F3BEC1F}" v="2" dt="2021-02-23T00:48:04.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660"/>
  </p:normalViewPr>
  <p:slideViewPr>
    <p:cSldViewPr snapToGrid="0">
      <p:cViewPr varScale="1">
        <p:scale>
          <a:sx n="63" d="100"/>
          <a:sy n="63" d="100"/>
        </p:scale>
        <p:origin x="1328" y="56"/>
      </p:cViewPr>
      <p:guideLst>
        <p:guide orient="horz" pos="2160"/>
        <p:guide pos="2880"/>
      </p:guideLst>
    </p:cSldViewPr>
  </p:slideViewPr>
  <p:notesTextViewPr>
    <p:cViewPr>
      <p:scale>
        <a:sx n="1" d="1"/>
        <a:sy n="1" d="1"/>
      </p:scale>
      <p:origin x="0" y="0"/>
    </p:cViewPr>
  </p:notesTextViewPr>
  <p:notesViewPr>
    <p:cSldViewPr snapToGrid="0">
      <p:cViewPr varScale="1">
        <p:scale>
          <a:sx n="51" d="100"/>
          <a:sy n="51" d="100"/>
        </p:scale>
        <p:origin x="269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D8B0B6-2683-4DEF-8B15-EC02776019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38A62C5-D1EB-448F-A61A-3F77CCA0F5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048138-304A-40A3-B9B9-A0EEEE15C244}" type="datetimeFigureOut">
              <a:rPr lang="en-IN" smtClean="0"/>
              <a:t>26-11-2025</a:t>
            </a:fld>
            <a:endParaRPr lang="en-IN"/>
          </a:p>
        </p:txBody>
      </p:sp>
      <p:sp>
        <p:nvSpPr>
          <p:cNvPr id="5" name="Slide Number Placeholder 4">
            <a:extLst>
              <a:ext uri="{FF2B5EF4-FFF2-40B4-BE49-F238E27FC236}">
                <a16:creationId xmlns:a16="http://schemas.microsoft.com/office/drawing/2014/main" id="{ABB8A8D9-2BF3-44DF-A175-88CE144B43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DBF656-CF07-4736-8148-7941F29CECFA}" type="slidenum">
              <a:rPr lang="en-IN" smtClean="0"/>
              <a:t>‹#›</a:t>
            </a:fld>
            <a:endParaRPr lang="en-IN"/>
          </a:p>
        </p:txBody>
      </p:sp>
      <p:sp>
        <p:nvSpPr>
          <p:cNvPr id="6" name="Footer Placeholder 5">
            <a:extLst>
              <a:ext uri="{FF2B5EF4-FFF2-40B4-BE49-F238E27FC236}">
                <a16:creationId xmlns:a16="http://schemas.microsoft.com/office/drawing/2014/main" id="{CF5A8565-DBEE-421E-BD4E-8AE03D9B11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extLst>
      <p:ext uri="{BB962C8B-B14F-4D97-AF65-F5344CB8AC3E}">
        <p14:creationId xmlns:p14="http://schemas.microsoft.com/office/powerpoint/2010/main" val="13387302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28CBAA-48EA-48CA-A25D-CE37FF1DB854}" type="datetimeFigureOut">
              <a:rPr lang="en-IN" smtClean="0"/>
              <a:t>26-11-2025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497047-3574-4498-8827-A63347A06D2C}" type="slidenum">
              <a:rPr lang="en-IN" smtClean="0"/>
              <a:t>‹#›</a:t>
            </a:fld>
            <a:endParaRPr lang="en-IN"/>
          </a:p>
        </p:txBody>
      </p:sp>
    </p:spTree>
    <p:extLst>
      <p:ext uri="{BB962C8B-B14F-4D97-AF65-F5344CB8AC3E}">
        <p14:creationId xmlns:p14="http://schemas.microsoft.com/office/powerpoint/2010/main" val="1903530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6D6AEC1-5387-476E-902A-B18945540BCD}"/>
              </a:ext>
            </a:extLst>
          </p:cNvPr>
          <p:cNvSpPr>
            <a:spLocks noGrp="1"/>
          </p:cNvSpPr>
          <p:nvPr>
            <p:ph type="dt" sz="half" idx="10"/>
          </p:nvPr>
        </p:nvSpPr>
        <p:spPr/>
        <p:txBody>
          <a:bodyPr/>
          <a:lstStyle>
            <a:lvl1pPr>
              <a:defRPr/>
            </a:lvl1pPr>
          </a:lstStyle>
          <a:p>
            <a:pPr>
              <a:defRPr/>
            </a:pPr>
            <a:fld id="{566DD6C2-1622-4845-AD23-F63F081F2351}" type="datetime1">
              <a:rPr lang="en-IN"/>
              <a:pPr>
                <a:defRPr/>
              </a:pPr>
              <a:t>26-11-2025</a:t>
            </a:fld>
            <a:endParaRPr lang="en-IN"/>
          </a:p>
        </p:txBody>
      </p:sp>
      <p:sp>
        <p:nvSpPr>
          <p:cNvPr id="5" name="Footer Placeholder 4">
            <a:extLst>
              <a:ext uri="{FF2B5EF4-FFF2-40B4-BE49-F238E27FC236}">
                <a16:creationId xmlns:a16="http://schemas.microsoft.com/office/drawing/2014/main" id="{A0A5C576-FF23-4889-BCCB-009098A9DE65}"/>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6" name="Slide Number Placeholder 5">
            <a:extLst>
              <a:ext uri="{FF2B5EF4-FFF2-40B4-BE49-F238E27FC236}">
                <a16:creationId xmlns:a16="http://schemas.microsoft.com/office/drawing/2014/main" id="{7A08E7D9-53A5-47BF-B214-79ADFA214E83}"/>
              </a:ext>
            </a:extLst>
          </p:cNvPr>
          <p:cNvSpPr>
            <a:spLocks noGrp="1"/>
          </p:cNvSpPr>
          <p:nvPr>
            <p:ph type="sldNum" sz="quarter" idx="12"/>
          </p:nvPr>
        </p:nvSpPr>
        <p:spPr/>
        <p:txBody>
          <a:bodyPr/>
          <a:lstStyle>
            <a:lvl1pPr>
              <a:defRPr/>
            </a:lvl1pPr>
          </a:lstStyle>
          <a:p>
            <a:pPr>
              <a:defRPr/>
            </a:pPr>
            <a:fld id="{EDE1EFE6-ED3B-4C0B-A381-138B17AF598E}" type="slidenum">
              <a:rPr lang="en-IN"/>
              <a:pPr>
                <a:defRPr/>
              </a:pPr>
              <a:t>‹#›</a:t>
            </a:fld>
            <a:endParaRPr lang="en-IN"/>
          </a:p>
        </p:txBody>
      </p:sp>
    </p:spTree>
    <p:extLst>
      <p:ext uri="{BB962C8B-B14F-4D97-AF65-F5344CB8AC3E}">
        <p14:creationId xmlns:p14="http://schemas.microsoft.com/office/powerpoint/2010/main" val="529040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2670EDD-4582-4134-AE2D-956EA3148EF6}"/>
              </a:ext>
            </a:extLst>
          </p:cNvPr>
          <p:cNvSpPr>
            <a:spLocks noGrp="1"/>
          </p:cNvSpPr>
          <p:nvPr>
            <p:ph type="dt" sz="half" idx="10"/>
          </p:nvPr>
        </p:nvSpPr>
        <p:spPr/>
        <p:txBody>
          <a:bodyPr/>
          <a:lstStyle>
            <a:lvl1pPr>
              <a:defRPr/>
            </a:lvl1pPr>
          </a:lstStyle>
          <a:p>
            <a:pPr>
              <a:defRPr/>
            </a:pPr>
            <a:fld id="{8675164B-B72D-49DC-B768-C2A45E7ED191}" type="datetime1">
              <a:rPr lang="en-IN"/>
              <a:pPr>
                <a:defRPr/>
              </a:pPr>
              <a:t>26-11-2025</a:t>
            </a:fld>
            <a:endParaRPr lang="en-IN"/>
          </a:p>
        </p:txBody>
      </p:sp>
      <p:sp>
        <p:nvSpPr>
          <p:cNvPr id="5" name="Footer Placeholder 4">
            <a:extLst>
              <a:ext uri="{FF2B5EF4-FFF2-40B4-BE49-F238E27FC236}">
                <a16:creationId xmlns:a16="http://schemas.microsoft.com/office/drawing/2014/main" id="{C4FE4C55-6E65-4FF4-A66F-2B846294500C}"/>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6" name="Slide Number Placeholder 5">
            <a:extLst>
              <a:ext uri="{FF2B5EF4-FFF2-40B4-BE49-F238E27FC236}">
                <a16:creationId xmlns:a16="http://schemas.microsoft.com/office/drawing/2014/main" id="{D09F70AD-6C3D-499A-936B-965111EA57FA}"/>
              </a:ext>
            </a:extLst>
          </p:cNvPr>
          <p:cNvSpPr>
            <a:spLocks noGrp="1"/>
          </p:cNvSpPr>
          <p:nvPr>
            <p:ph type="sldNum" sz="quarter" idx="12"/>
          </p:nvPr>
        </p:nvSpPr>
        <p:spPr/>
        <p:txBody>
          <a:bodyPr/>
          <a:lstStyle>
            <a:lvl1pPr>
              <a:defRPr/>
            </a:lvl1pPr>
          </a:lstStyle>
          <a:p>
            <a:pPr>
              <a:defRPr/>
            </a:pPr>
            <a:fld id="{B81EC80C-F53E-452E-A3FD-857663E47FA6}" type="slidenum">
              <a:rPr lang="en-IN"/>
              <a:pPr>
                <a:defRPr/>
              </a:pPr>
              <a:t>‹#›</a:t>
            </a:fld>
            <a:endParaRPr lang="en-IN"/>
          </a:p>
        </p:txBody>
      </p:sp>
    </p:spTree>
    <p:extLst>
      <p:ext uri="{BB962C8B-B14F-4D97-AF65-F5344CB8AC3E}">
        <p14:creationId xmlns:p14="http://schemas.microsoft.com/office/powerpoint/2010/main" val="2299556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A4E3D8-392B-49E1-8F84-6223FE0958CD}"/>
              </a:ext>
            </a:extLst>
          </p:cNvPr>
          <p:cNvSpPr>
            <a:spLocks noGrp="1"/>
          </p:cNvSpPr>
          <p:nvPr>
            <p:ph type="dt" sz="half" idx="10"/>
          </p:nvPr>
        </p:nvSpPr>
        <p:spPr/>
        <p:txBody>
          <a:bodyPr/>
          <a:lstStyle>
            <a:lvl1pPr>
              <a:defRPr/>
            </a:lvl1pPr>
          </a:lstStyle>
          <a:p>
            <a:pPr>
              <a:defRPr/>
            </a:pPr>
            <a:fld id="{DCBC4BF8-BAC3-4BFF-90B1-8911248100CD}" type="datetime1">
              <a:rPr lang="en-IN"/>
              <a:pPr>
                <a:defRPr/>
              </a:pPr>
              <a:t>26-11-2025</a:t>
            </a:fld>
            <a:endParaRPr lang="en-IN"/>
          </a:p>
        </p:txBody>
      </p:sp>
      <p:sp>
        <p:nvSpPr>
          <p:cNvPr id="5" name="Footer Placeholder 4">
            <a:extLst>
              <a:ext uri="{FF2B5EF4-FFF2-40B4-BE49-F238E27FC236}">
                <a16:creationId xmlns:a16="http://schemas.microsoft.com/office/drawing/2014/main" id="{32778AEF-4087-4D05-A6F3-224BC8076774}"/>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6" name="Slide Number Placeholder 5">
            <a:extLst>
              <a:ext uri="{FF2B5EF4-FFF2-40B4-BE49-F238E27FC236}">
                <a16:creationId xmlns:a16="http://schemas.microsoft.com/office/drawing/2014/main" id="{EF15714E-B50E-42B4-9C7C-EE90756372A5}"/>
              </a:ext>
            </a:extLst>
          </p:cNvPr>
          <p:cNvSpPr>
            <a:spLocks noGrp="1"/>
          </p:cNvSpPr>
          <p:nvPr>
            <p:ph type="sldNum" sz="quarter" idx="12"/>
          </p:nvPr>
        </p:nvSpPr>
        <p:spPr/>
        <p:txBody>
          <a:bodyPr/>
          <a:lstStyle>
            <a:lvl1pPr>
              <a:defRPr/>
            </a:lvl1pPr>
          </a:lstStyle>
          <a:p>
            <a:pPr>
              <a:defRPr/>
            </a:pPr>
            <a:fld id="{FE5C1958-93E0-4F07-8FDE-484F0FB5F5D5}" type="slidenum">
              <a:rPr lang="en-IN"/>
              <a:pPr>
                <a:defRPr/>
              </a:pPr>
              <a:t>‹#›</a:t>
            </a:fld>
            <a:endParaRPr lang="en-IN"/>
          </a:p>
        </p:txBody>
      </p:sp>
    </p:spTree>
    <p:extLst>
      <p:ext uri="{BB962C8B-B14F-4D97-AF65-F5344CB8AC3E}">
        <p14:creationId xmlns:p14="http://schemas.microsoft.com/office/powerpoint/2010/main" val="206947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F2BCA02C-360D-41C2-B837-6042FBA39B9F}"/>
              </a:ext>
            </a:extLst>
          </p:cNvPr>
          <p:cNvSpPr>
            <a:spLocks noGrp="1"/>
          </p:cNvSpPr>
          <p:nvPr>
            <p:ph type="dt" sz="half" idx="10"/>
          </p:nvPr>
        </p:nvSpPr>
        <p:spPr/>
        <p:txBody>
          <a:bodyPr/>
          <a:lstStyle>
            <a:lvl1pPr>
              <a:defRPr/>
            </a:lvl1pPr>
          </a:lstStyle>
          <a:p>
            <a:pPr>
              <a:defRPr/>
            </a:pPr>
            <a:fld id="{3903447B-C606-4D6D-8539-0A5E74C7FA9A}" type="datetime1">
              <a:rPr lang="en-IN"/>
              <a:pPr>
                <a:defRPr/>
              </a:pPr>
              <a:t>26-11-2025</a:t>
            </a:fld>
            <a:endParaRPr lang="en-IN"/>
          </a:p>
        </p:txBody>
      </p:sp>
      <p:sp>
        <p:nvSpPr>
          <p:cNvPr id="6" name="Footer Placeholder 4">
            <a:extLst>
              <a:ext uri="{FF2B5EF4-FFF2-40B4-BE49-F238E27FC236}">
                <a16:creationId xmlns:a16="http://schemas.microsoft.com/office/drawing/2014/main" id="{B491E803-101D-4836-B284-4DA1F2F17D7F}"/>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7" name="Slide Number Placeholder 5">
            <a:extLst>
              <a:ext uri="{FF2B5EF4-FFF2-40B4-BE49-F238E27FC236}">
                <a16:creationId xmlns:a16="http://schemas.microsoft.com/office/drawing/2014/main" id="{96D90CBC-B732-43EB-9E7C-38A6668C7AEC}"/>
              </a:ext>
            </a:extLst>
          </p:cNvPr>
          <p:cNvSpPr>
            <a:spLocks noGrp="1"/>
          </p:cNvSpPr>
          <p:nvPr>
            <p:ph type="sldNum" sz="quarter" idx="12"/>
          </p:nvPr>
        </p:nvSpPr>
        <p:spPr/>
        <p:txBody>
          <a:bodyPr/>
          <a:lstStyle>
            <a:lvl1pPr>
              <a:defRPr/>
            </a:lvl1pPr>
          </a:lstStyle>
          <a:p>
            <a:pPr>
              <a:defRPr/>
            </a:pPr>
            <a:fld id="{6D20F2C9-AB77-43CD-89CC-7C6001D224CC}" type="slidenum">
              <a:rPr lang="en-IN"/>
              <a:pPr>
                <a:defRPr/>
              </a:pPr>
              <a:t>‹#›</a:t>
            </a:fld>
            <a:endParaRPr lang="en-IN"/>
          </a:p>
        </p:txBody>
      </p:sp>
    </p:spTree>
    <p:extLst>
      <p:ext uri="{BB962C8B-B14F-4D97-AF65-F5344CB8AC3E}">
        <p14:creationId xmlns:p14="http://schemas.microsoft.com/office/powerpoint/2010/main" val="1493547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81B4FC08-C966-4231-8AD6-8B4DD872ED8C}"/>
              </a:ext>
            </a:extLst>
          </p:cNvPr>
          <p:cNvSpPr>
            <a:spLocks noGrp="1"/>
          </p:cNvSpPr>
          <p:nvPr>
            <p:ph type="dt" sz="half" idx="10"/>
          </p:nvPr>
        </p:nvSpPr>
        <p:spPr/>
        <p:txBody>
          <a:bodyPr/>
          <a:lstStyle>
            <a:lvl1pPr>
              <a:defRPr/>
            </a:lvl1pPr>
          </a:lstStyle>
          <a:p>
            <a:pPr>
              <a:defRPr/>
            </a:pPr>
            <a:fld id="{924995FC-5E28-4363-BAE1-73DAF8288940}" type="datetime1">
              <a:rPr lang="en-IN"/>
              <a:pPr>
                <a:defRPr/>
              </a:pPr>
              <a:t>26-11-2025</a:t>
            </a:fld>
            <a:endParaRPr lang="en-IN"/>
          </a:p>
        </p:txBody>
      </p:sp>
      <p:sp>
        <p:nvSpPr>
          <p:cNvPr id="8" name="Footer Placeholder 4">
            <a:extLst>
              <a:ext uri="{FF2B5EF4-FFF2-40B4-BE49-F238E27FC236}">
                <a16:creationId xmlns:a16="http://schemas.microsoft.com/office/drawing/2014/main" id="{E94D51AB-51C0-4533-B566-C46322BE7141}"/>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9" name="Slide Number Placeholder 5">
            <a:extLst>
              <a:ext uri="{FF2B5EF4-FFF2-40B4-BE49-F238E27FC236}">
                <a16:creationId xmlns:a16="http://schemas.microsoft.com/office/drawing/2014/main" id="{5D11E4E3-28F1-4AB2-ADEC-BF8CE0952801}"/>
              </a:ext>
            </a:extLst>
          </p:cNvPr>
          <p:cNvSpPr>
            <a:spLocks noGrp="1"/>
          </p:cNvSpPr>
          <p:nvPr>
            <p:ph type="sldNum" sz="quarter" idx="12"/>
          </p:nvPr>
        </p:nvSpPr>
        <p:spPr/>
        <p:txBody>
          <a:bodyPr/>
          <a:lstStyle>
            <a:lvl1pPr>
              <a:defRPr/>
            </a:lvl1pPr>
          </a:lstStyle>
          <a:p>
            <a:pPr>
              <a:defRPr/>
            </a:pPr>
            <a:fld id="{B47CAE2D-DF4A-4278-9BFF-876F911895D5}" type="slidenum">
              <a:rPr lang="en-IN"/>
              <a:pPr>
                <a:defRPr/>
              </a:pPr>
              <a:t>‹#›</a:t>
            </a:fld>
            <a:endParaRPr lang="en-IN"/>
          </a:p>
        </p:txBody>
      </p:sp>
    </p:spTree>
    <p:extLst>
      <p:ext uri="{BB962C8B-B14F-4D97-AF65-F5344CB8AC3E}">
        <p14:creationId xmlns:p14="http://schemas.microsoft.com/office/powerpoint/2010/main" val="3220628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C33774CD-6B78-4115-889F-7F02A3DA78BB}"/>
              </a:ext>
            </a:extLst>
          </p:cNvPr>
          <p:cNvSpPr>
            <a:spLocks noGrp="1"/>
          </p:cNvSpPr>
          <p:nvPr>
            <p:ph type="dt" sz="half" idx="10"/>
          </p:nvPr>
        </p:nvSpPr>
        <p:spPr/>
        <p:txBody>
          <a:bodyPr/>
          <a:lstStyle>
            <a:lvl1pPr>
              <a:defRPr/>
            </a:lvl1pPr>
          </a:lstStyle>
          <a:p>
            <a:pPr>
              <a:defRPr/>
            </a:pPr>
            <a:fld id="{23FF152C-B527-434E-89CC-9E38C015CA58}" type="datetime1">
              <a:rPr lang="en-IN"/>
              <a:pPr>
                <a:defRPr/>
              </a:pPr>
              <a:t>26-11-2025</a:t>
            </a:fld>
            <a:endParaRPr lang="en-IN"/>
          </a:p>
        </p:txBody>
      </p:sp>
      <p:sp>
        <p:nvSpPr>
          <p:cNvPr id="4" name="Footer Placeholder 4">
            <a:extLst>
              <a:ext uri="{FF2B5EF4-FFF2-40B4-BE49-F238E27FC236}">
                <a16:creationId xmlns:a16="http://schemas.microsoft.com/office/drawing/2014/main" id="{D1DF23A8-8C0D-4DE3-9D90-A70A4F96DB0C}"/>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5" name="Slide Number Placeholder 5">
            <a:extLst>
              <a:ext uri="{FF2B5EF4-FFF2-40B4-BE49-F238E27FC236}">
                <a16:creationId xmlns:a16="http://schemas.microsoft.com/office/drawing/2014/main" id="{3CC4EA7B-D2AC-450D-B741-C8E6A7B6EECA}"/>
              </a:ext>
            </a:extLst>
          </p:cNvPr>
          <p:cNvSpPr>
            <a:spLocks noGrp="1"/>
          </p:cNvSpPr>
          <p:nvPr>
            <p:ph type="sldNum" sz="quarter" idx="12"/>
          </p:nvPr>
        </p:nvSpPr>
        <p:spPr/>
        <p:txBody>
          <a:bodyPr/>
          <a:lstStyle>
            <a:lvl1pPr>
              <a:defRPr/>
            </a:lvl1pPr>
          </a:lstStyle>
          <a:p>
            <a:pPr>
              <a:defRPr/>
            </a:pPr>
            <a:fld id="{DFABA6F2-A19E-45F6-8D8B-4A64A14C5961}" type="slidenum">
              <a:rPr lang="en-IN"/>
              <a:pPr>
                <a:defRPr/>
              </a:pPr>
              <a:t>‹#›</a:t>
            </a:fld>
            <a:endParaRPr lang="en-IN"/>
          </a:p>
        </p:txBody>
      </p:sp>
    </p:spTree>
    <p:extLst>
      <p:ext uri="{BB962C8B-B14F-4D97-AF65-F5344CB8AC3E}">
        <p14:creationId xmlns:p14="http://schemas.microsoft.com/office/powerpoint/2010/main" val="1413003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05A13A1-1A4B-4C8E-BFC9-C98AA29D24F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05727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D181BE61-F0C4-4A9F-B405-E307E830DA7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8638" y="0"/>
            <a:ext cx="974725"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1">
            <a:extLst>
              <a:ext uri="{FF2B5EF4-FFF2-40B4-BE49-F238E27FC236}">
                <a16:creationId xmlns:a16="http://schemas.microsoft.com/office/drawing/2014/main" id="{4E4BD65D-231D-49DB-8081-501C7E48970B}"/>
              </a:ext>
            </a:extLst>
          </p:cNvPr>
          <p:cNvSpPr>
            <a:spLocks noGrp="1"/>
          </p:cNvSpPr>
          <p:nvPr>
            <p:ph type="dt" sz="half" idx="10"/>
          </p:nvPr>
        </p:nvSpPr>
        <p:spPr/>
        <p:txBody>
          <a:bodyPr/>
          <a:lstStyle>
            <a:lvl1pPr>
              <a:defRPr/>
            </a:lvl1pPr>
          </a:lstStyle>
          <a:p>
            <a:pPr>
              <a:defRPr/>
            </a:pPr>
            <a:fld id="{55096213-3352-48F6-BB82-8440F82D3B4A}" type="datetime1">
              <a:rPr lang="en-IN"/>
              <a:pPr>
                <a:defRPr/>
              </a:pPr>
              <a:t>26-11-2025</a:t>
            </a:fld>
            <a:endParaRPr lang="en-IN"/>
          </a:p>
        </p:txBody>
      </p:sp>
      <p:sp>
        <p:nvSpPr>
          <p:cNvPr id="5" name="Footer Placeholder 2">
            <a:extLst>
              <a:ext uri="{FF2B5EF4-FFF2-40B4-BE49-F238E27FC236}">
                <a16:creationId xmlns:a16="http://schemas.microsoft.com/office/drawing/2014/main" id="{85FB7A9F-799D-4EA0-95F4-4FD23CBB0BF6}"/>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6" name="Slide Number Placeholder 3">
            <a:extLst>
              <a:ext uri="{FF2B5EF4-FFF2-40B4-BE49-F238E27FC236}">
                <a16:creationId xmlns:a16="http://schemas.microsoft.com/office/drawing/2014/main" id="{3BC56E44-32AF-4C32-A1FF-28295E775BFB}"/>
              </a:ext>
            </a:extLst>
          </p:cNvPr>
          <p:cNvSpPr>
            <a:spLocks noGrp="1"/>
          </p:cNvSpPr>
          <p:nvPr>
            <p:ph type="sldNum" sz="quarter" idx="12"/>
          </p:nvPr>
        </p:nvSpPr>
        <p:spPr/>
        <p:txBody>
          <a:bodyPr/>
          <a:lstStyle>
            <a:lvl1pPr>
              <a:defRPr/>
            </a:lvl1pPr>
          </a:lstStyle>
          <a:p>
            <a:pPr>
              <a:defRPr/>
            </a:pPr>
            <a:fld id="{83BB30B1-0368-46CA-AD07-DBEF8B9758C2}" type="slidenum">
              <a:rPr lang="en-IN"/>
              <a:pPr>
                <a:defRPr/>
              </a:pPr>
              <a:t>‹#›</a:t>
            </a:fld>
            <a:endParaRPr lang="en-IN"/>
          </a:p>
        </p:txBody>
      </p:sp>
    </p:spTree>
    <p:extLst>
      <p:ext uri="{BB962C8B-B14F-4D97-AF65-F5344CB8AC3E}">
        <p14:creationId xmlns:p14="http://schemas.microsoft.com/office/powerpoint/2010/main" val="421230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146A3125-9BDA-477A-B8C6-8EE559A41EFE}"/>
              </a:ext>
            </a:extLst>
          </p:cNvPr>
          <p:cNvSpPr>
            <a:spLocks noGrp="1"/>
          </p:cNvSpPr>
          <p:nvPr>
            <p:ph type="dt" sz="half" idx="10"/>
          </p:nvPr>
        </p:nvSpPr>
        <p:spPr/>
        <p:txBody>
          <a:bodyPr/>
          <a:lstStyle>
            <a:lvl1pPr>
              <a:defRPr/>
            </a:lvl1pPr>
          </a:lstStyle>
          <a:p>
            <a:pPr>
              <a:defRPr/>
            </a:pPr>
            <a:fld id="{DCAA5314-7838-4A4A-9798-4C81D295D470}" type="datetime1">
              <a:rPr lang="en-IN"/>
              <a:pPr>
                <a:defRPr/>
              </a:pPr>
              <a:t>26-11-2025</a:t>
            </a:fld>
            <a:endParaRPr lang="en-IN"/>
          </a:p>
        </p:txBody>
      </p:sp>
      <p:sp>
        <p:nvSpPr>
          <p:cNvPr id="6" name="Footer Placeholder 4">
            <a:extLst>
              <a:ext uri="{FF2B5EF4-FFF2-40B4-BE49-F238E27FC236}">
                <a16:creationId xmlns:a16="http://schemas.microsoft.com/office/drawing/2014/main" id="{E8D1FA12-848E-4376-B353-F82F9BFD47AC}"/>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7" name="Slide Number Placeholder 5">
            <a:extLst>
              <a:ext uri="{FF2B5EF4-FFF2-40B4-BE49-F238E27FC236}">
                <a16:creationId xmlns:a16="http://schemas.microsoft.com/office/drawing/2014/main" id="{F8AD220D-3A0E-4F83-A2B2-4EFEA0276632}"/>
              </a:ext>
            </a:extLst>
          </p:cNvPr>
          <p:cNvSpPr>
            <a:spLocks noGrp="1"/>
          </p:cNvSpPr>
          <p:nvPr>
            <p:ph type="sldNum" sz="quarter" idx="12"/>
          </p:nvPr>
        </p:nvSpPr>
        <p:spPr/>
        <p:txBody>
          <a:bodyPr/>
          <a:lstStyle>
            <a:lvl1pPr>
              <a:defRPr/>
            </a:lvl1pPr>
          </a:lstStyle>
          <a:p>
            <a:pPr>
              <a:defRPr/>
            </a:pPr>
            <a:fld id="{1F1B40DC-0CC4-4ECE-B646-D2673A8319C2}" type="slidenum">
              <a:rPr lang="en-IN"/>
              <a:pPr>
                <a:defRPr/>
              </a:pPr>
              <a:t>‹#›</a:t>
            </a:fld>
            <a:endParaRPr lang="en-IN"/>
          </a:p>
        </p:txBody>
      </p:sp>
    </p:spTree>
    <p:extLst>
      <p:ext uri="{BB962C8B-B14F-4D97-AF65-F5344CB8AC3E}">
        <p14:creationId xmlns:p14="http://schemas.microsoft.com/office/powerpoint/2010/main" val="3753663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8047658E-B9A3-4465-9DC9-B6D513B4437F}"/>
              </a:ext>
            </a:extLst>
          </p:cNvPr>
          <p:cNvSpPr>
            <a:spLocks noGrp="1"/>
          </p:cNvSpPr>
          <p:nvPr>
            <p:ph type="dt" sz="half" idx="10"/>
          </p:nvPr>
        </p:nvSpPr>
        <p:spPr/>
        <p:txBody>
          <a:bodyPr/>
          <a:lstStyle>
            <a:lvl1pPr>
              <a:defRPr/>
            </a:lvl1pPr>
          </a:lstStyle>
          <a:p>
            <a:pPr>
              <a:defRPr/>
            </a:pPr>
            <a:fld id="{DA9FE674-022A-4096-855E-2BD7A4227E63}" type="datetime1">
              <a:rPr lang="en-IN"/>
              <a:pPr>
                <a:defRPr/>
              </a:pPr>
              <a:t>26-11-2025</a:t>
            </a:fld>
            <a:endParaRPr lang="en-IN"/>
          </a:p>
        </p:txBody>
      </p:sp>
      <p:sp>
        <p:nvSpPr>
          <p:cNvPr id="6" name="Footer Placeholder 4">
            <a:extLst>
              <a:ext uri="{FF2B5EF4-FFF2-40B4-BE49-F238E27FC236}">
                <a16:creationId xmlns:a16="http://schemas.microsoft.com/office/drawing/2014/main" id="{EBCDE0C6-838B-4022-8441-2AC67C906C13}"/>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7" name="Slide Number Placeholder 5">
            <a:extLst>
              <a:ext uri="{FF2B5EF4-FFF2-40B4-BE49-F238E27FC236}">
                <a16:creationId xmlns:a16="http://schemas.microsoft.com/office/drawing/2014/main" id="{324C8AAE-6861-445D-9CCE-11E125411CC1}"/>
              </a:ext>
            </a:extLst>
          </p:cNvPr>
          <p:cNvSpPr>
            <a:spLocks noGrp="1"/>
          </p:cNvSpPr>
          <p:nvPr>
            <p:ph type="sldNum" sz="quarter" idx="12"/>
          </p:nvPr>
        </p:nvSpPr>
        <p:spPr/>
        <p:txBody>
          <a:bodyPr/>
          <a:lstStyle>
            <a:lvl1pPr>
              <a:defRPr/>
            </a:lvl1pPr>
          </a:lstStyle>
          <a:p>
            <a:pPr>
              <a:defRPr/>
            </a:pPr>
            <a:fld id="{863F39DF-DF6D-4A7E-ACFE-9E2B7044B535}" type="slidenum">
              <a:rPr lang="en-IN"/>
              <a:pPr>
                <a:defRPr/>
              </a:pPr>
              <a:t>‹#›</a:t>
            </a:fld>
            <a:endParaRPr lang="en-IN"/>
          </a:p>
        </p:txBody>
      </p:sp>
    </p:spTree>
    <p:extLst>
      <p:ext uri="{BB962C8B-B14F-4D97-AF65-F5344CB8AC3E}">
        <p14:creationId xmlns:p14="http://schemas.microsoft.com/office/powerpoint/2010/main" val="1520976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134D70A-68F0-4237-8015-49EE269E0D09}"/>
              </a:ext>
            </a:extLst>
          </p:cNvPr>
          <p:cNvSpPr>
            <a:spLocks noGrp="1"/>
          </p:cNvSpPr>
          <p:nvPr>
            <p:ph type="dt" sz="half" idx="10"/>
          </p:nvPr>
        </p:nvSpPr>
        <p:spPr/>
        <p:txBody>
          <a:bodyPr/>
          <a:lstStyle>
            <a:lvl1pPr>
              <a:defRPr/>
            </a:lvl1pPr>
          </a:lstStyle>
          <a:p>
            <a:pPr>
              <a:defRPr/>
            </a:pPr>
            <a:fld id="{94A56D8A-1439-41E5-AED9-6F1C6E7E67AD}" type="datetime1">
              <a:rPr lang="en-IN"/>
              <a:pPr>
                <a:defRPr/>
              </a:pPr>
              <a:t>26-11-2025</a:t>
            </a:fld>
            <a:endParaRPr lang="en-IN"/>
          </a:p>
        </p:txBody>
      </p:sp>
      <p:sp>
        <p:nvSpPr>
          <p:cNvPr id="5" name="Footer Placeholder 4">
            <a:extLst>
              <a:ext uri="{FF2B5EF4-FFF2-40B4-BE49-F238E27FC236}">
                <a16:creationId xmlns:a16="http://schemas.microsoft.com/office/drawing/2014/main" id="{46E62B4E-36E7-4374-8E1B-7DCCF183B7BB}"/>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6" name="Slide Number Placeholder 5">
            <a:extLst>
              <a:ext uri="{FF2B5EF4-FFF2-40B4-BE49-F238E27FC236}">
                <a16:creationId xmlns:a16="http://schemas.microsoft.com/office/drawing/2014/main" id="{5D11707B-2190-4C00-AFF2-A48F91A1A9C5}"/>
              </a:ext>
            </a:extLst>
          </p:cNvPr>
          <p:cNvSpPr>
            <a:spLocks noGrp="1"/>
          </p:cNvSpPr>
          <p:nvPr>
            <p:ph type="sldNum" sz="quarter" idx="12"/>
          </p:nvPr>
        </p:nvSpPr>
        <p:spPr/>
        <p:txBody>
          <a:bodyPr/>
          <a:lstStyle>
            <a:lvl1pPr>
              <a:defRPr/>
            </a:lvl1pPr>
          </a:lstStyle>
          <a:p>
            <a:pPr>
              <a:defRPr/>
            </a:pPr>
            <a:fld id="{8E7239AA-EE09-427A-8806-981E3151F53D}" type="slidenum">
              <a:rPr lang="en-IN"/>
              <a:pPr>
                <a:defRPr/>
              </a:pPr>
              <a:t>‹#›</a:t>
            </a:fld>
            <a:endParaRPr lang="en-IN"/>
          </a:p>
        </p:txBody>
      </p:sp>
    </p:spTree>
    <p:extLst>
      <p:ext uri="{BB962C8B-B14F-4D97-AF65-F5344CB8AC3E}">
        <p14:creationId xmlns:p14="http://schemas.microsoft.com/office/powerpoint/2010/main" val="4252591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6150F3-7FA6-4018-BF56-6DC3C8476139}"/>
              </a:ext>
            </a:extLst>
          </p:cNvPr>
          <p:cNvSpPr>
            <a:spLocks noGrp="1"/>
          </p:cNvSpPr>
          <p:nvPr>
            <p:ph type="dt" sz="half" idx="10"/>
          </p:nvPr>
        </p:nvSpPr>
        <p:spPr/>
        <p:txBody>
          <a:bodyPr/>
          <a:lstStyle>
            <a:lvl1pPr>
              <a:defRPr/>
            </a:lvl1pPr>
          </a:lstStyle>
          <a:p>
            <a:pPr>
              <a:defRPr/>
            </a:pPr>
            <a:fld id="{D18BA932-D454-4B7B-94D3-E4549AC7CFB1}" type="datetime1">
              <a:rPr lang="en-IN"/>
              <a:pPr>
                <a:defRPr/>
              </a:pPr>
              <a:t>26-11-2025</a:t>
            </a:fld>
            <a:endParaRPr lang="en-IN"/>
          </a:p>
        </p:txBody>
      </p:sp>
      <p:sp>
        <p:nvSpPr>
          <p:cNvPr id="5" name="Footer Placeholder 4">
            <a:extLst>
              <a:ext uri="{FF2B5EF4-FFF2-40B4-BE49-F238E27FC236}">
                <a16:creationId xmlns:a16="http://schemas.microsoft.com/office/drawing/2014/main" id="{EF9C7E04-E0B5-4D01-8192-72EC78FAE653}"/>
              </a:ext>
            </a:extLst>
          </p:cNvPr>
          <p:cNvSpPr>
            <a:spLocks noGrp="1"/>
          </p:cNvSpPr>
          <p:nvPr>
            <p:ph type="ftr" sz="quarter" idx="11"/>
          </p:nvPr>
        </p:nvSpPr>
        <p:spPr/>
        <p:txBody>
          <a:bodyPr/>
          <a:lstStyle>
            <a:lvl1pPr>
              <a:defRPr/>
            </a:lvl1pPr>
          </a:lstStyle>
          <a:p>
            <a:pPr>
              <a:defRPr/>
            </a:pPr>
            <a:r>
              <a:rPr lang="en-US"/>
              <a:t>Unit-2b                         Clustering                                  By Khushboo Jain</a:t>
            </a:r>
            <a:endParaRPr lang="en-IN"/>
          </a:p>
        </p:txBody>
      </p:sp>
      <p:sp>
        <p:nvSpPr>
          <p:cNvPr id="6" name="Slide Number Placeholder 5">
            <a:extLst>
              <a:ext uri="{FF2B5EF4-FFF2-40B4-BE49-F238E27FC236}">
                <a16:creationId xmlns:a16="http://schemas.microsoft.com/office/drawing/2014/main" id="{E0CD7880-ED99-47F4-8846-2CDA481650B3}"/>
              </a:ext>
            </a:extLst>
          </p:cNvPr>
          <p:cNvSpPr>
            <a:spLocks noGrp="1"/>
          </p:cNvSpPr>
          <p:nvPr>
            <p:ph type="sldNum" sz="quarter" idx="12"/>
          </p:nvPr>
        </p:nvSpPr>
        <p:spPr/>
        <p:txBody>
          <a:bodyPr/>
          <a:lstStyle>
            <a:lvl1pPr>
              <a:defRPr/>
            </a:lvl1pPr>
          </a:lstStyle>
          <a:p>
            <a:pPr>
              <a:defRPr/>
            </a:pPr>
            <a:fld id="{903D3A1D-975D-41CA-99CC-2D9570D11171}" type="slidenum">
              <a:rPr lang="en-IN"/>
              <a:pPr>
                <a:defRPr/>
              </a:pPr>
              <a:t>‹#›</a:t>
            </a:fld>
            <a:endParaRPr lang="en-IN"/>
          </a:p>
        </p:txBody>
      </p:sp>
    </p:spTree>
    <p:extLst>
      <p:ext uri="{BB962C8B-B14F-4D97-AF65-F5344CB8AC3E}">
        <p14:creationId xmlns:p14="http://schemas.microsoft.com/office/powerpoint/2010/main" val="2892751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371600"/>
            <a:ext cx="7772400" cy="1165225"/>
          </a:xfrm>
        </p:spPr>
        <p:txBody>
          <a:bodyPr/>
          <a:lstStyle/>
          <a:p>
            <a:r>
              <a:rPr lang="en-US"/>
              <a:t>CLICK TO EDIT MASTER TITLE STYLE</a:t>
            </a:r>
          </a:p>
        </p:txBody>
      </p:sp>
      <p:sp>
        <p:nvSpPr>
          <p:cNvPr id="3" name="Subtitle 2"/>
          <p:cNvSpPr>
            <a:spLocks noGrp="1"/>
          </p:cNvSpPr>
          <p:nvPr>
            <p:ph type="subTitle" idx="1"/>
          </p:nvPr>
        </p:nvSpPr>
        <p:spPr>
          <a:xfrm>
            <a:off x="762000" y="2667000"/>
            <a:ext cx="7620000" cy="838200"/>
          </a:xfrm>
        </p:spPr>
        <p:txBody>
          <a:bodyPr anchor="ctr" anchorCtr="0"/>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Picture Placeholder 7"/>
          <p:cNvSpPr>
            <a:spLocks noGrp="1"/>
          </p:cNvSpPr>
          <p:nvPr>
            <p:ph type="pic" sz="quarter" idx="13"/>
          </p:nvPr>
        </p:nvSpPr>
        <p:spPr>
          <a:xfrm>
            <a:off x="1600200" y="3657600"/>
            <a:ext cx="5943600" cy="2438400"/>
          </a:xfrm>
        </p:spPr>
        <p:txBody>
          <a:bodyPr/>
          <a:lstStyle/>
          <a:p>
            <a:endParaRPr lang="en-US"/>
          </a:p>
        </p:txBody>
      </p:sp>
      <p:sp>
        <p:nvSpPr>
          <p:cNvPr id="15" name="Date Placeholder 8"/>
          <p:cNvSpPr>
            <a:spLocks noGrp="1"/>
          </p:cNvSpPr>
          <p:nvPr>
            <p:ph type="dt" sz="half" idx="14"/>
          </p:nvPr>
        </p:nvSpPr>
        <p:spPr>
          <a:xfrm>
            <a:off x="457200" y="6356350"/>
            <a:ext cx="2133600" cy="365125"/>
          </a:xfrm>
        </p:spPr>
        <p:txBody>
          <a:bodyPr/>
          <a:lstStyle/>
          <a:p>
            <a:fld id="{A822B50B-D3BF-47A3-9C2E-86134BE5290D}" type="datetimeFigureOut">
              <a:rPr lang="en-US" smtClean="0"/>
              <a:pPr/>
              <a:t>11/26/2025</a:t>
            </a:fld>
            <a:endParaRPr lang="en-US"/>
          </a:p>
        </p:txBody>
      </p:sp>
      <p:sp>
        <p:nvSpPr>
          <p:cNvPr id="17" name="Slide Number Placeholder 10"/>
          <p:cNvSpPr>
            <a:spLocks noGrp="1"/>
          </p:cNvSpPr>
          <p:nvPr>
            <p:ph type="sldNum" sz="quarter" idx="16"/>
          </p:nvPr>
        </p:nvSpPr>
        <p:spPr>
          <a:xfrm>
            <a:off x="6553200" y="6356350"/>
            <a:ext cx="2133600" cy="365125"/>
          </a:xfrm>
        </p:spPr>
        <p:txBody>
          <a:bodyPr/>
          <a:lstStyle/>
          <a:p>
            <a:fld id="{9F472073-5026-401A-9B43-34363F035080}" type="slidenum">
              <a:rPr lang="en-US" smtClean="0"/>
              <a:pPr/>
              <a:t>‹#›</a:t>
            </a:fld>
            <a:endParaRPr lang="en-US"/>
          </a:p>
        </p:txBody>
      </p:sp>
    </p:spTree>
    <p:extLst>
      <p:ext uri="{BB962C8B-B14F-4D97-AF65-F5344CB8AC3E}">
        <p14:creationId xmlns:p14="http://schemas.microsoft.com/office/powerpoint/2010/main" val="3783910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381000"/>
            <a:ext cx="6019800" cy="1143000"/>
          </a:xfrm>
        </p:spPr>
        <p:txBody>
          <a:bodyPr/>
          <a:lstStyle/>
          <a:p>
            <a:r>
              <a:rPr lang="en-US"/>
              <a:t>Click to edit Master title style</a:t>
            </a:r>
          </a:p>
        </p:txBody>
      </p:sp>
      <p:sp>
        <p:nvSpPr>
          <p:cNvPr id="4" name="Date Placeholder 3"/>
          <p:cNvSpPr>
            <a:spLocks noGrp="1"/>
          </p:cNvSpPr>
          <p:nvPr>
            <p:ph type="dt" sz="half" idx="10"/>
          </p:nvPr>
        </p:nvSpPr>
        <p:spPr/>
        <p:txBody>
          <a:bodyPr/>
          <a:lstStyle/>
          <a:p>
            <a:fld id="{A822B50B-D3BF-47A3-9C2E-86134BE5290D}" type="datetimeFigureOut">
              <a:rPr lang="en-US" smtClean="0"/>
              <a:t>11/26/2025</a:t>
            </a:fld>
            <a:endParaRPr lang="en-US"/>
          </a:p>
        </p:txBody>
      </p:sp>
      <p:sp>
        <p:nvSpPr>
          <p:cNvPr id="6" name="Slide Number Placeholder 5"/>
          <p:cNvSpPr>
            <a:spLocks noGrp="1"/>
          </p:cNvSpPr>
          <p:nvPr>
            <p:ph type="sldNum" sz="quarter" idx="12"/>
          </p:nvPr>
        </p:nvSpPr>
        <p:spPr/>
        <p:txBody>
          <a:bodyPr/>
          <a:lstStyle/>
          <a:p>
            <a:fld id="{363711EE-9E4C-4117-BC72-5ACC3BA95E69}" type="slidenum">
              <a:rPr lang="en-US" smtClean="0"/>
              <a:t>‹#›</a:t>
            </a:fld>
            <a:endParaRPr lang="en-US"/>
          </a:p>
        </p:txBody>
      </p:sp>
      <p:sp>
        <p:nvSpPr>
          <p:cNvPr id="7" name="Text Placeholder 2"/>
          <p:cNvSpPr>
            <a:spLocks noGrp="1"/>
          </p:cNvSpPr>
          <p:nvPr>
            <p:ph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7860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A0996C36-5DD1-4C81-B4A0-1A8C00073816}"/>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A8AC742-1526-4D13-AFE1-BF32ED3ED318}"/>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0307F69-113C-427A-AD97-C074FC99C97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F33DD5D3-FC30-4E95-A151-49BF6537B43A}" type="datetime1">
              <a:rPr lang="en-IN"/>
              <a:pPr>
                <a:defRPr/>
              </a:pPr>
              <a:t>26-11-2025</a:t>
            </a:fld>
            <a:endParaRPr lang="en-IN"/>
          </a:p>
        </p:txBody>
      </p:sp>
      <p:sp>
        <p:nvSpPr>
          <p:cNvPr id="5" name="Footer Placeholder 4">
            <a:extLst>
              <a:ext uri="{FF2B5EF4-FFF2-40B4-BE49-F238E27FC236}">
                <a16:creationId xmlns:a16="http://schemas.microsoft.com/office/drawing/2014/main" id="{FCD60BB0-ECD0-4321-8582-A88E81D38BE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Unit-2b                         Clustering                                  By Khushboo Jain</a:t>
            </a:r>
            <a:endParaRPr lang="en-IN"/>
          </a:p>
        </p:txBody>
      </p:sp>
      <p:sp>
        <p:nvSpPr>
          <p:cNvPr id="6" name="Slide Number Placeholder 5">
            <a:extLst>
              <a:ext uri="{FF2B5EF4-FFF2-40B4-BE49-F238E27FC236}">
                <a16:creationId xmlns:a16="http://schemas.microsoft.com/office/drawing/2014/main" id="{560084AF-71EE-407B-BC21-35CAFCDE2C5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73BD8C28-E960-4054-9DD0-EFAA6A86FE06}" type="slidenum">
              <a:rPr lang="en-IN"/>
              <a:pPr>
                <a:defRPr/>
              </a:pPr>
              <a:t>‹#›</a:t>
            </a:fld>
            <a:endParaRPr lang="en-IN"/>
          </a:p>
        </p:txBody>
      </p:sp>
    </p:spTree>
    <p:extLst>
      <p:ext uri="{BB962C8B-B14F-4D97-AF65-F5344CB8AC3E}">
        <p14:creationId xmlns:p14="http://schemas.microsoft.com/office/powerpoint/2010/main" val="2821896411"/>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793" r:id="rId12"/>
    <p:sldLayoutId id="2147483794" r:id="rId13"/>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5"/>
            <a:ext cx="7833360" cy="1158875"/>
          </a:xfrm>
        </p:spPr>
        <p:txBody>
          <a:bodyPr>
            <a:noAutofit/>
          </a:bodyPr>
          <a:lstStyle/>
          <a:p>
            <a:r>
              <a:rPr lang="en-US" sz="3200" b="1" dirty="0">
                <a:solidFill>
                  <a:srgbClr val="002060"/>
                </a:solidFill>
                <a:latin typeface="Times" pitchFamily="2" charset="0"/>
              </a:rPr>
              <a:t>Regression Analysis in Machine learning</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1</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76200" y="1301338"/>
            <a:ext cx="9067800" cy="1200329"/>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1E0456A-DBC9-4C56-B782-69CE91825745}"/>
                  </a:ext>
                </a:extLst>
              </p:cNvPr>
              <p:cNvSpPr txBox="1"/>
              <p:nvPr/>
            </p:nvSpPr>
            <p:spPr>
              <a:xfrm>
                <a:off x="533400" y="1295400"/>
                <a:ext cx="8534400" cy="5632311"/>
              </a:xfrm>
              <a:prstGeom prst="rect">
                <a:avLst/>
              </a:prstGeom>
              <a:noFill/>
            </p:spPr>
            <p:txBody>
              <a:bodyPr wrap="square">
                <a:spAutoFit/>
              </a:bodyPr>
              <a:lstStyle/>
              <a:p>
                <a:pPr marL="342900" indent="-342900">
                  <a:buFont typeface="Arial" panose="020B0604020202020204" pitchFamily="34" charset="0"/>
                  <a:buChar char="•"/>
                </a:pPr>
                <a:r>
                  <a:rPr lang="en-IN" sz="2400" dirty="0"/>
                  <a:t>Regression is a </a:t>
                </a:r>
                <a:r>
                  <a:rPr lang="en-IN" sz="2400" b="1" dirty="0"/>
                  <a:t>supervised learning</a:t>
                </a:r>
                <a:r>
                  <a:rPr lang="en-IN" sz="2400" dirty="0"/>
                  <a:t> technique used to </a:t>
                </a:r>
                <a:r>
                  <a:rPr lang="en-IN" sz="2400" b="1" dirty="0"/>
                  <a:t>predict continuous numerical values</a:t>
                </a:r>
                <a:r>
                  <a:rPr lang="en-IN" sz="2400" dirty="0"/>
                  <a:t>.</a:t>
                </a:r>
                <a:endParaRPr lang="en-IN" sz="2400" b="1" dirty="0"/>
              </a:p>
              <a:p>
                <a:pPr marL="342900" indent="-342900">
                  <a:buFont typeface="Arial" panose="020B0604020202020204" pitchFamily="34" charset="0"/>
                  <a:buChar char="•"/>
                </a:pPr>
                <a:r>
                  <a:rPr lang="en-IN" sz="2400" dirty="0"/>
                  <a:t>Finds relationship between </a:t>
                </a:r>
                <a:r>
                  <a:rPr lang="en-IN" sz="2400" b="1" dirty="0"/>
                  <a:t>input features (X)</a:t>
                </a:r>
                <a:r>
                  <a:rPr lang="en-IN" sz="2400" dirty="0"/>
                  <a:t> and a </a:t>
                </a:r>
                <a:r>
                  <a:rPr lang="en-IN" sz="2400" b="1" dirty="0"/>
                  <a:t>continuous target variable (Y)</a:t>
                </a:r>
                <a:endParaRPr lang="en-IN" sz="2400" dirty="0"/>
              </a:p>
              <a:p>
                <a:pPr marL="342900" indent="-342900">
                  <a:buFont typeface="Arial" panose="020B0604020202020204" pitchFamily="34" charset="0"/>
                  <a:buChar char="•"/>
                </a:pPr>
                <a:r>
                  <a:rPr lang="en-IN" sz="2400" dirty="0"/>
                  <a:t>Used when output is a </a:t>
                </a:r>
                <a:r>
                  <a:rPr lang="en-IN" sz="2400" b="1" dirty="0"/>
                  <a:t>real value</a:t>
                </a:r>
                <a:r>
                  <a:rPr lang="en-IN" sz="2400" dirty="0"/>
                  <a:t> (price, temperature, sales, demand, etc.)</a:t>
                </a:r>
              </a:p>
              <a:p>
                <a:pPr marL="342900" indent="-342900">
                  <a:buFont typeface="Arial" panose="020B0604020202020204" pitchFamily="34" charset="0"/>
                  <a:buChar char="•"/>
                </a:pPr>
                <a:r>
                  <a:rPr lang="en-IN" sz="2400" dirty="0"/>
                  <a:t>Regression equation: </a:t>
                </a:r>
                <a14:m>
                  <m:oMath xmlns:m="http://schemas.openxmlformats.org/officeDocument/2006/math">
                    <m:r>
                      <a:rPr lang="en-IN" i="1">
                        <a:latin typeface="Cambria Math" panose="02040503050406030204" pitchFamily="18" charset="0"/>
                      </a:rPr>
                      <m:t>𝑌</m:t>
                    </m:r>
                    <m:r>
                      <a:rPr lang="en-IN">
                        <a:latin typeface="Cambria Math" panose="02040503050406030204" pitchFamily="18" charset="0"/>
                      </a:rPr>
                      <m:t>=</m:t>
                    </m:r>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𝑋</m:t>
                        </m:r>
                      </m:e>
                    </m:d>
                    <m:r>
                      <a:rPr lang="ar-AE">
                        <a:latin typeface="Cambria Math" panose="02040503050406030204" pitchFamily="18" charset="0"/>
                      </a:rPr>
                      <m:t>+</m:t>
                    </m:r>
                    <m:r>
                      <a:rPr lang="ar-AE" i="1">
                        <a:latin typeface="Cambria Math" panose="02040503050406030204" pitchFamily="18" charset="0"/>
                      </a:rPr>
                      <m:t>𝜖</m:t>
                    </m:r>
                  </m:oMath>
                </a14:m>
                <a:endParaRPr lang="ar-AE" sz="2400" dirty="0"/>
              </a:p>
              <a:p>
                <a:pPr marL="342900" indent="-342900">
                  <a:buFont typeface="Arial" panose="020B0604020202020204" pitchFamily="34" charset="0"/>
                  <a:buChar char="•"/>
                </a:pPr>
                <a:r>
                  <a:rPr lang="en-IN" sz="2400" dirty="0"/>
                  <a:t>Where:</a:t>
                </a:r>
              </a:p>
              <a:p>
                <a:pPr lvl="2"/>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𝑋</m:t>
                        </m:r>
                      </m:e>
                    </m:d>
                  </m:oMath>
                </a14:m>
                <a:r>
                  <a:rPr lang="ar-AE" sz="2400" dirty="0"/>
                  <a:t>= </a:t>
                </a:r>
                <a:r>
                  <a:rPr lang="en-IN" sz="2400" dirty="0"/>
                  <a:t>model function</a:t>
                </a:r>
              </a:p>
              <a:p>
                <a:pPr lvl="2"/>
                <a14:m>
                  <m:oMath xmlns:m="http://schemas.openxmlformats.org/officeDocument/2006/math">
                    <m:r>
                      <a:rPr lang="en-IN" i="1">
                        <a:latin typeface="Cambria Math" panose="02040503050406030204" pitchFamily="18" charset="0"/>
                      </a:rPr>
                      <m:t>𝜖</m:t>
                    </m:r>
                  </m:oMath>
                </a14:m>
                <a:r>
                  <a:rPr lang="en-IN" sz="2400" dirty="0"/>
                  <a:t>= error/residual</a:t>
                </a:r>
              </a:p>
              <a:p>
                <a:r>
                  <a:rPr lang="en-IN" sz="2400" b="1" dirty="0"/>
                  <a:t>Examples</a:t>
                </a:r>
              </a:p>
              <a:p>
                <a:pPr marL="342900" indent="-342900">
                  <a:buFont typeface="Arial" panose="020B0604020202020204" pitchFamily="34" charset="0"/>
                  <a:buChar char="•"/>
                </a:pPr>
                <a:r>
                  <a:rPr lang="en-IN" sz="2400" dirty="0"/>
                  <a:t>Predicting </a:t>
                </a:r>
                <a:r>
                  <a:rPr lang="en-IN" sz="2400" b="1" dirty="0"/>
                  <a:t>house prices</a:t>
                </a:r>
                <a:endParaRPr lang="en-IN" sz="2400" dirty="0"/>
              </a:p>
              <a:p>
                <a:pPr marL="342900" indent="-342900">
                  <a:buFont typeface="Arial" panose="020B0604020202020204" pitchFamily="34" charset="0"/>
                  <a:buChar char="•"/>
                </a:pPr>
                <a:r>
                  <a:rPr lang="en-IN" sz="2400" dirty="0"/>
                  <a:t>Forecasting </a:t>
                </a:r>
                <a:r>
                  <a:rPr lang="en-IN" sz="2400" b="1" dirty="0"/>
                  <a:t>stock prices</a:t>
                </a:r>
                <a:endParaRPr lang="en-IN" sz="2400" dirty="0"/>
              </a:p>
              <a:p>
                <a:pPr marL="342900" indent="-342900">
                  <a:buFont typeface="Arial" panose="020B0604020202020204" pitchFamily="34" charset="0"/>
                  <a:buChar char="•"/>
                </a:pPr>
                <a:r>
                  <a:rPr lang="en-IN" sz="2400" dirty="0"/>
                  <a:t>Estimating </a:t>
                </a:r>
                <a:r>
                  <a:rPr lang="en-IN" sz="2400" b="1" dirty="0"/>
                  <a:t>temperature</a:t>
                </a:r>
                <a:endParaRPr lang="en-IN" sz="2400" dirty="0"/>
              </a:p>
              <a:p>
                <a:pPr marL="342900" indent="-342900">
                  <a:buFont typeface="Arial" panose="020B0604020202020204" pitchFamily="34" charset="0"/>
                  <a:buChar char="•"/>
                </a:pPr>
                <a:r>
                  <a:rPr lang="en-IN" sz="2400" dirty="0"/>
                  <a:t>Predicting </a:t>
                </a:r>
                <a:r>
                  <a:rPr lang="en-IN" sz="2400" b="1" dirty="0"/>
                  <a:t>sales revenue</a:t>
                </a:r>
                <a:endParaRPr lang="en-IN" sz="2400" dirty="0"/>
              </a:p>
            </p:txBody>
          </p:sp>
        </mc:Choice>
        <mc:Fallback xmlns="">
          <p:sp>
            <p:nvSpPr>
              <p:cNvPr id="9" name="TextBox 8">
                <a:extLst>
                  <a:ext uri="{FF2B5EF4-FFF2-40B4-BE49-F238E27FC236}">
                    <a16:creationId xmlns:a16="http://schemas.microsoft.com/office/drawing/2014/main" id="{31E0456A-DBC9-4C56-B782-69CE91825745}"/>
                  </a:ext>
                </a:extLst>
              </p:cNvPr>
              <p:cNvSpPr txBox="1">
                <a:spLocks noRot="1" noChangeAspect="1" noMove="1" noResize="1" noEditPoints="1" noAdjustHandles="1" noChangeArrowheads="1" noChangeShapeType="1" noTextEdit="1"/>
              </p:cNvSpPr>
              <p:nvPr/>
            </p:nvSpPr>
            <p:spPr>
              <a:xfrm>
                <a:off x="533400" y="1295400"/>
                <a:ext cx="8534400" cy="5632311"/>
              </a:xfrm>
              <a:prstGeom prst="rect">
                <a:avLst/>
              </a:prstGeom>
              <a:blipFill>
                <a:blip r:embed="rId2"/>
                <a:stretch>
                  <a:fillRect l="-1143" t="-867" b="-1517"/>
                </a:stretch>
              </a:blipFill>
            </p:spPr>
            <p:txBody>
              <a:bodyPr/>
              <a:lstStyle/>
              <a:p>
                <a:r>
                  <a:rPr lang="en-IN">
                    <a:noFill/>
                  </a:rPr>
                  <a:t> </a:t>
                </a:r>
              </a:p>
            </p:txBody>
          </p:sp>
        </mc:Fallback>
      </mc:AlternateContent>
    </p:spTree>
    <p:extLst>
      <p:ext uri="{BB962C8B-B14F-4D97-AF65-F5344CB8AC3E}">
        <p14:creationId xmlns:p14="http://schemas.microsoft.com/office/powerpoint/2010/main" val="345518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5"/>
            <a:ext cx="6857999" cy="1158875"/>
          </a:xfrm>
        </p:spPr>
        <p:txBody>
          <a:bodyPr>
            <a:noAutofit/>
          </a:bodyPr>
          <a:lstStyle/>
          <a:p>
            <a:r>
              <a:rPr lang="en-US" sz="3200" b="1" dirty="0">
                <a:solidFill>
                  <a:srgbClr val="002060"/>
                </a:solidFill>
                <a:latin typeface="Times" pitchFamily="2" charset="0"/>
              </a:rPr>
              <a:t>Regression Analysis</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2</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76200" y="1301338"/>
            <a:ext cx="9067800" cy="1200329"/>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1E0456A-DBC9-4C56-B782-69CE91825745}"/>
              </a:ext>
            </a:extLst>
          </p:cNvPr>
          <p:cNvSpPr txBox="1"/>
          <p:nvPr/>
        </p:nvSpPr>
        <p:spPr>
          <a:xfrm>
            <a:off x="533400" y="1295400"/>
            <a:ext cx="7915275" cy="1569660"/>
          </a:xfrm>
          <a:prstGeom prst="rect">
            <a:avLst/>
          </a:prstGeom>
          <a:noFill/>
        </p:spPr>
        <p:txBody>
          <a:bodyPr wrap="square">
            <a:spAutoFit/>
          </a:bodyPr>
          <a:lstStyle/>
          <a:p>
            <a:pPr marL="342900" indent="-342900" algn="just">
              <a:buFont typeface="Arial" panose="020B0604020202020204" pitchFamily="34" charset="0"/>
              <a:buChar char="•"/>
            </a:pPr>
            <a:r>
              <a:rPr lang="en-US" sz="2400" b="1" i="0" dirty="0">
                <a:solidFill>
                  <a:srgbClr val="333333"/>
                </a:solidFill>
                <a:effectLst/>
                <a:latin typeface="inter-bold"/>
              </a:rPr>
              <a:t>Example:</a:t>
            </a:r>
            <a:r>
              <a:rPr lang="en-US" sz="2400" b="0" i="0" dirty="0">
                <a:solidFill>
                  <a:srgbClr val="333333"/>
                </a:solidFill>
                <a:effectLst/>
                <a:latin typeface="inter-regular"/>
              </a:rPr>
              <a:t> Suppose there is a marketing company A, who does various advertisement every year and get sales on that. The below list shows the advertisement made by the company in the last 5 years and the corresponding sales:</a:t>
            </a:r>
            <a:endParaRPr lang="en-IN" sz="2400" dirty="0">
              <a:latin typeface="Times" panose="02020603050405020304" pitchFamily="18" charset="0"/>
              <a:cs typeface="Times" panose="02020603050405020304" pitchFamily="18" charset="0"/>
            </a:endParaRPr>
          </a:p>
        </p:txBody>
      </p:sp>
      <p:pic>
        <p:nvPicPr>
          <p:cNvPr id="1028" name="Picture 4" descr="Regression Analysis in Machine learning">
            <a:extLst>
              <a:ext uri="{FF2B5EF4-FFF2-40B4-BE49-F238E27FC236}">
                <a16:creationId xmlns:a16="http://schemas.microsoft.com/office/drawing/2014/main" id="{D84A4BA3-4774-4FA5-BB86-5A01D6554C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2908527"/>
            <a:ext cx="3286125" cy="32861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0AC8C8C-C61C-46A3-8AFF-1954B91D5057}"/>
              </a:ext>
            </a:extLst>
          </p:cNvPr>
          <p:cNvSpPr txBox="1"/>
          <p:nvPr/>
        </p:nvSpPr>
        <p:spPr>
          <a:xfrm>
            <a:off x="4572000" y="3146771"/>
            <a:ext cx="4391025" cy="2554545"/>
          </a:xfrm>
          <a:prstGeom prst="rect">
            <a:avLst/>
          </a:prstGeom>
          <a:noFill/>
        </p:spPr>
        <p:txBody>
          <a:bodyPr wrap="square">
            <a:spAutoFit/>
          </a:bodyPr>
          <a:lstStyle/>
          <a:p>
            <a:pPr algn="just"/>
            <a:r>
              <a:rPr lang="en-US" sz="2000" b="0" i="0" dirty="0">
                <a:solidFill>
                  <a:srgbClr val="333333"/>
                </a:solidFill>
                <a:effectLst/>
                <a:latin typeface="Times" panose="02020603050405020304" pitchFamily="18" charset="0"/>
                <a:cs typeface="Times" panose="02020603050405020304" pitchFamily="18" charset="0"/>
              </a:rPr>
              <a:t>Now, the company wants to do the advertisement of $200 in the year 2021 </a:t>
            </a:r>
            <a:r>
              <a:rPr lang="en-US" sz="2000" b="1" i="0" dirty="0">
                <a:solidFill>
                  <a:srgbClr val="333333"/>
                </a:solidFill>
                <a:effectLst/>
                <a:latin typeface="Times" panose="02020603050405020304" pitchFamily="18" charset="0"/>
                <a:cs typeface="Times" panose="02020603050405020304" pitchFamily="18" charset="0"/>
              </a:rPr>
              <a:t>and wants to know the prediction about the sales for this year</a:t>
            </a:r>
            <a:r>
              <a:rPr lang="en-US" sz="2000" b="0" i="0" dirty="0">
                <a:solidFill>
                  <a:srgbClr val="333333"/>
                </a:solidFill>
                <a:effectLst/>
                <a:latin typeface="Times" panose="02020603050405020304" pitchFamily="18" charset="0"/>
                <a:cs typeface="Times" panose="02020603050405020304" pitchFamily="18" charset="0"/>
              </a:rPr>
              <a:t>. </a:t>
            </a:r>
          </a:p>
          <a:p>
            <a:pPr algn="just"/>
            <a:endParaRPr lang="en-US" sz="2000" b="0" i="0" dirty="0">
              <a:solidFill>
                <a:srgbClr val="333333"/>
              </a:solidFill>
              <a:effectLst/>
              <a:latin typeface="Times" panose="02020603050405020304" pitchFamily="18" charset="0"/>
              <a:cs typeface="Times" panose="02020603050405020304" pitchFamily="18" charset="0"/>
            </a:endParaRPr>
          </a:p>
          <a:p>
            <a:pPr algn="just"/>
            <a:r>
              <a:rPr lang="en-US" sz="2000" b="0" i="0" dirty="0">
                <a:solidFill>
                  <a:srgbClr val="333333"/>
                </a:solidFill>
                <a:effectLst/>
                <a:latin typeface="Times" panose="02020603050405020304" pitchFamily="18" charset="0"/>
                <a:cs typeface="Times" panose="02020603050405020304" pitchFamily="18" charset="0"/>
              </a:rPr>
              <a:t>So to solve such type of prediction problems in machine learning, we need regression analysis.</a:t>
            </a:r>
            <a:endParaRPr lang="en-IN" sz="2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95016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5"/>
            <a:ext cx="6857999" cy="1158875"/>
          </a:xfrm>
        </p:spPr>
        <p:txBody>
          <a:bodyPr>
            <a:noAutofit/>
          </a:bodyPr>
          <a:lstStyle/>
          <a:p>
            <a:r>
              <a:rPr lang="en-US" sz="3200" b="1" dirty="0">
                <a:solidFill>
                  <a:srgbClr val="002060"/>
                </a:solidFill>
                <a:latin typeface="Times" pitchFamily="2" charset="0"/>
              </a:rPr>
              <a:t>Types of Regression Models</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3</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76200" y="1301338"/>
            <a:ext cx="9067800" cy="1200329"/>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0AC8C8C-C61C-46A3-8AFF-1954B91D5057}"/>
              </a:ext>
            </a:extLst>
          </p:cNvPr>
          <p:cNvSpPr txBox="1"/>
          <p:nvPr/>
        </p:nvSpPr>
        <p:spPr>
          <a:xfrm>
            <a:off x="457200" y="1403696"/>
            <a:ext cx="8448675" cy="2308324"/>
          </a:xfrm>
          <a:prstGeom prst="rect">
            <a:avLst/>
          </a:prstGeom>
          <a:noFill/>
        </p:spPr>
        <p:txBody>
          <a:bodyPr wrap="square">
            <a:spAutoFit/>
          </a:bodyPr>
          <a:lstStyle/>
          <a:p>
            <a:pPr marL="342900" indent="-342900">
              <a:buFont typeface="Arial" panose="020B0604020202020204" pitchFamily="34" charset="0"/>
              <a:buChar char="•"/>
            </a:pPr>
            <a:r>
              <a:rPr lang="en-IN" sz="2400" b="1" dirty="0"/>
              <a:t>Linear Regression</a:t>
            </a:r>
            <a:r>
              <a:rPr lang="en-IN" sz="2400" dirty="0"/>
              <a:t> (Simple &amp; Multiple)</a:t>
            </a:r>
          </a:p>
          <a:p>
            <a:pPr marL="342900" indent="-342900">
              <a:buFont typeface="Arial" panose="020B0604020202020204" pitchFamily="34" charset="0"/>
              <a:buChar char="•"/>
            </a:pPr>
            <a:r>
              <a:rPr lang="en-IN" sz="2400" b="1" dirty="0"/>
              <a:t>Polynomial Regression</a:t>
            </a:r>
            <a:endParaRPr lang="en-IN" sz="2400" dirty="0"/>
          </a:p>
          <a:p>
            <a:pPr marL="342900" indent="-342900">
              <a:buFont typeface="Arial" panose="020B0604020202020204" pitchFamily="34" charset="0"/>
              <a:buChar char="•"/>
            </a:pPr>
            <a:r>
              <a:rPr lang="en-IN" sz="2400" b="1" dirty="0"/>
              <a:t>Ridge Regression</a:t>
            </a:r>
            <a:endParaRPr lang="en-IN" sz="2400" dirty="0"/>
          </a:p>
          <a:p>
            <a:pPr marL="342900" indent="-342900">
              <a:buFont typeface="Arial" panose="020B0604020202020204" pitchFamily="34" charset="0"/>
              <a:buChar char="•"/>
            </a:pPr>
            <a:r>
              <a:rPr lang="en-IN" sz="2400" b="1" dirty="0"/>
              <a:t>Lasso Regression</a:t>
            </a:r>
            <a:endParaRPr lang="en-IN" sz="2400" dirty="0"/>
          </a:p>
          <a:p>
            <a:pPr marL="342900" indent="-342900">
              <a:buFont typeface="Arial" panose="020B0604020202020204" pitchFamily="34" charset="0"/>
              <a:buChar char="•"/>
            </a:pPr>
            <a:r>
              <a:rPr lang="en-IN" sz="2400" b="1" dirty="0"/>
              <a:t>Elastic Net Regression</a:t>
            </a:r>
            <a:endParaRPr lang="en-IN" sz="2400" dirty="0"/>
          </a:p>
          <a:p>
            <a:pPr marL="342900" indent="-342900">
              <a:buFont typeface="Arial" panose="020B0604020202020204" pitchFamily="34" charset="0"/>
              <a:buChar char="•"/>
            </a:pPr>
            <a:r>
              <a:rPr lang="en-IN" sz="2400" b="1" dirty="0"/>
              <a:t>Logistic Regression</a:t>
            </a:r>
            <a:r>
              <a:rPr lang="en-IN" sz="2400" dirty="0"/>
              <a:t> (For classification)</a:t>
            </a:r>
          </a:p>
        </p:txBody>
      </p:sp>
    </p:spTree>
    <p:extLst>
      <p:ext uri="{BB962C8B-B14F-4D97-AF65-F5344CB8AC3E}">
        <p14:creationId xmlns:p14="http://schemas.microsoft.com/office/powerpoint/2010/main" val="317598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5"/>
            <a:ext cx="6857999" cy="1158875"/>
          </a:xfrm>
        </p:spPr>
        <p:txBody>
          <a:bodyPr>
            <a:noAutofit/>
          </a:bodyPr>
          <a:lstStyle/>
          <a:p>
            <a:r>
              <a:rPr lang="en-US" sz="3200" b="1" dirty="0">
                <a:solidFill>
                  <a:srgbClr val="002060"/>
                </a:solidFill>
                <a:latin typeface="Times" pitchFamily="2" charset="0"/>
              </a:rPr>
              <a:t>Regression Analysis</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4</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76200" y="1301338"/>
            <a:ext cx="9067800" cy="1200329"/>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0AC8C8C-C61C-46A3-8AFF-1954B91D5057}"/>
              </a:ext>
            </a:extLst>
          </p:cNvPr>
          <p:cNvSpPr txBox="1"/>
          <p:nvPr/>
        </p:nvSpPr>
        <p:spPr>
          <a:xfrm>
            <a:off x="457201" y="1403696"/>
            <a:ext cx="8001000" cy="4154984"/>
          </a:xfrm>
          <a:prstGeom prst="rect">
            <a:avLst/>
          </a:prstGeom>
          <a:noFill/>
        </p:spPr>
        <p:txBody>
          <a:bodyPr wrap="square">
            <a:spAutoFit/>
          </a:bodyPr>
          <a:lstStyle/>
          <a:p>
            <a:pPr algn="just"/>
            <a:r>
              <a:rPr lang="en-US" sz="2400" b="1" i="1" dirty="0">
                <a:solidFill>
                  <a:srgbClr val="333333"/>
                </a:solidFill>
                <a:effectLst/>
                <a:latin typeface="Times" panose="02020603050405020304" pitchFamily="18" charset="0"/>
                <a:cs typeface="Times" panose="02020603050405020304" pitchFamily="18" charset="0"/>
              </a:rPr>
              <a:t>"Regression shows a line or curve that passes through all the datapoints on target-predictor graph in such a way that the vertical distance between the datapoints and the regression line is minimum."</a:t>
            </a:r>
            <a:r>
              <a:rPr lang="en-US" sz="2400" b="0" i="0" dirty="0">
                <a:solidFill>
                  <a:srgbClr val="333333"/>
                </a:solidFill>
                <a:effectLst/>
                <a:latin typeface="Times" panose="02020603050405020304" pitchFamily="18" charset="0"/>
                <a:cs typeface="Times" panose="02020603050405020304" pitchFamily="18" charset="0"/>
              </a:rPr>
              <a:t> </a:t>
            </a:r>
          </a:p>
          <a:p>
            <a:pPr algn="just"/>
            <a:endParaRPr lang="en-US" sz="2400" b="0" i="0" dirty="0">
              <a:solidFill>
                <a:srgbClr val="333333"/>
              </a:solidFill>
              <a:effectLst/>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US" sz="2400" b="0" i="0" dirty="0">
                <a:solidFill>
                  <a:srgbClr val="333333"/>
                </a:solidFill>
                <a:effectLst/>
                <a:latin typeface="Times" panose="02020603050405020304" pitchFamily="18" charset="0"/>
                <a:cs typeface="Times" panose="02020603050405020304" pitchFamily="18" charset="0"/>
              </a:rPr>
              <a:t>The distance between datapoints and line tells whether a model has captured a strong relationship or not.</a:t>
            </a:r>
          </a:p>
          <a:p>
            <a:pPr marL="342900" indent="-342900" algn="just">
              <a:buFont typeface="Arial" panose="020B0604020202020204" pitchFamily="34" charset="0"/>
              <a:buChar char="•"/>
            </a:pPr>
            <a:r>
              <a:rPr lang="en-US" sz="2400" b="0" i="0" dirty="0">
                <a:solidFill>
                  <a:srgbClr val="333333"/>
                </a:solidFill>
                <a:effectLst/>
                <a:latin typeface="Times" panose="02020603050405020304" pitchFamily="18" charset="0"/>
                <a:cs typeface="Times" panose="02020603050405020304" pitchFamily="18" charset="0"/>
              </a:rPr>
              <a:t>Some examples of regression can be as:</a:t>
            </a:r>
          </a:p>
          <a:p>
            <a:pPr marL="800100" lvl="1" indent="-342900" algn="just">
              <a:buFont typeface="Wingdings" panose="05000000000000000000" pitchFamily="2" charset="2"/>
              <a:buChar char="Ø"/>
            </a:pPr>
            <a:r>
              <a:rPr lang="en-US" sz="2400" b="0" i="0" dirty="0">
                <a:solidFill>
                  <a:srgbClr val="000000"/>
                </a:solidFill>
                <a:effectLst/>
                <a:latin typeface="Times" panose="02020603050405020304" pitchFamily="18" charset="0"/>
                <a:cs typeface="Times" panose="02020603050405020304" pitchFamily="18" charset="0"/>
              </a:rPr>
              <a:t>Prediction of rain using temperature and other factors</a:t>
            </a:r>
          </a:p>
          <a:p>
            <a:pPr marL="800100" lvl="1" indent="-342900" algn="just">
              <a:buFont typeface="Wingdings" panose="05000000000000000000" pitchFamily="2" charset="2"/>
              <a:buChar char="Ø"/>
            </a:pPr>
            <a:r>
              <a:rPr lang="en-US" sz="2400" b="0" i="0" dirty="0">
                <a:solidFill>
                  <a:srgbClr val="000000"/>
                </a:solidFill>
                <a:effectLst/>
                <a:latin typeface="Times" panose="02020603050405020304" pitchFamily="18" charset="0"/>
                <a:cs typeface="Times" panose="02020603050405020304" pitchFamily="18" charset="0"/>
              </a:rPr>
              <a:t>Determining Market trends</a:t>
            </a:r>
          </a:p>
          <a:p>
            <a:pPr marL="800100" lvl="1" indent="-342900" algn="just">
              <a:buFont typeface="Wingdings" panose="05000000000000000000" pitchFamily="2" charset="2"/>
              <a:buChar char="Ø"/>
            </a:pPr>
            <a:r>
              <a:rPr lang="en-US" sz="2400" b="0" i="0" dirty="0">
                <a:solidFill>
                  <a:srgbClr val="000000"/>
                </a:solidFill>
                <a:effectLst/>
                <a:latin typeface="Times" panose="02020603050405020304" pitchFamily="18" charset="0"/>
                <a:cs typeface="Times" panose="02020603050405020304" pitchFamily="18" charset="0"/>
              </a:rPr>
              <a:t>Prediction of road accidents due to rash driving.</a:t>
            </a:r>
          </a:p>
        </p:txBody>
      </p:sp>
    </p:spTree>
    <p:extLst>
      <p:ext uri="{BB962C8B-B14F-4D97-AF65-F5344CB8AC3E}">
        <p14:creationId xmlns:p14="http://schemas.microsoft.com/office/powerpoint/2010/main" val="3720475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6525"/>
            <a:ext cx="7372350" cy="1164813"/>
          </a:xfrm>
        </p:spPr>
        <p:txBody>
          <a:bodyPr>
            <a:noAutofit/>
          </a:bodyPr>
          <a:lstStyle/>
          <a:p>
            <a:r>
              <a:rPr lang="en-US" sz="2400" b="1" dirty="0">
                <a:solidFill>
                  <a:srgbClr val="002060"/>
                </a:solidFill>
                <a:latin typeface="Times" pitchFamily="2" charset="0"/>
              </a:rPr>
              <a:t>Terminology related to  Regression Analysis</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5</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76200" y="1301338"/>
            <a:ext cx="9067800" cy="1200329"/>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8A319D4-85CB-4C30-8C61-431349F69CBE}"/>
              </a:ext>
            </a:extLst>
          </p:cNvPr>
          <p:cNvSpPr txBox="1"/>
          <p:nvPr/>
        </p:nvSpPr>
        <p:spPr>
          <a:xfrm>
            <a:off x="285750" y="1200151"/>
            <a:ext cx="8524875" cy="5016758"/>
          </a:xfrm>
          <a:prstGeom prst="rect">
            <a:avLst/>
          </a:prstGeom>
          <a:noFill/>
        </p:spPr>
        <p:txBody>
          <a:bodyPr wrap="square">
            <a:spAutoFit/>
          </a:bodyPr>
          <a:lstStyle/>
          <a:p>
            <a:pPr marL="457200" indent="-457200" algn="just">
              <a:buFont typeface="+mj-lt"/>
              <a:buAutoNum type="arabicPeriod"/>
            </a:pPr>
            <a:r>
              <a:rPr lang="en-US" sz="2000" b="1" i="0" dirty="0">
                <a:solidFill>
                  <a:srgbClr val="000000"/>
                </a:solidFill>
                <a:effectLst/>
                <a:latin typeface="Times" panose="02020603050405020304" pitchFamily="18" charset="0"/>
                <a:cs typeface="Times" panose="02020603050405020304" pitchFamily="18" charset="0"/>
              </a:rPr>
              <a:t>Dependent Variable:</a:t>
            </a:r>
            <a:r>
              <a:rPr lang="en-US" sz="2000" b="0" i="0" dirty="0">
                <a:solidFill>
                  <a:srgbClr val="000000"/>
                </a:solidFill>
                <a:effectLst/>
                <a:latin typeface="Times" panose="02020603050405020304" pitchFamily="18" charset="0"/>
                <a:cs typeface="Times" panose="02020603050405020304" pitchFamily="18" charset="0"/>
              </a:rPr>
              <a:t> The main factor in Regression analysis which we want </a:t>
            </a:r>
            <a:r>
              <a:rPr lang="en-US" sz="2000" i="0" dirty="0">
                <a:solidFill>
                  <a:srgbClr val="000000"/>
                </a:solidFill>
                <a:effectLst/>
                <a:latin typeface="Times" panose="02020603050405020304" pitchFamily="18" charset="0"/>
                <a:cs typeface="Times" panose="02020603050405020304" pitchFamily="18" charset="0"/>
              </a:rPr>
              <a:t>to predict is called </a:t>
            </a:r>
            <a:r>
              <a:rPr lang="en-US" sz="2000" b="0" i="0" dirty="0">
                <a:solidFill>
                  <a:srgbClr val="000000"/>
                </a:solidFill>
                <a:effectLst/>
                <a:latin typeface="Times" panose="02020603050405020304" pitchFamily="18" charset="0"/>
                <a:cs typeface="Times" panose="02020603050405020304" pitchFamily="18" charset="0"/>
              </a:rPr>
              <a:t>the dependent variable. It is also called </a:t>
            </a:r>
            <a:r>
              <a:rPr lang="en-US" sz="2000" b="1" i="0" dirty="0">
                <a:solidFill>
                  <a:srgbClr val="000000"/>
                </a:solidFill>
                <a:effectLst/>
                <a:latin typeface="Times" panose="02020603050405020304" pitchFamily="18" charset="0"/>
                <a:cs typeface="Times" panose="02020603050405020304" pitchFamily="18" charset="0"/>
              </a:rPr>
              <a:t>target variable</a:t>
            </a:r>
            <a:r>
              <a:rPr lang="en-US" sz="2000" b="0" i="0" dirty="0">
                <a:solidFill>
                  <a:srgbClr val="000000"/>
                </a:solidFill>
                <a:effectLst/>
                <a:latin typeface="Times" panose="02020603050405020304" pitchFamily="18" charset="0"/>
                <a:cs typeface="Times" panose="02020603050405020304" pitchFamily="18" charset="0"/>
              </a:rPr>
              <a:t>.</a:t>
            </a:r>
          </a:p>
          <a:p>
            <a:pPr marL="457200" indent="-457200" algn="just">
              <a:buFont typeface="+mj-lt"/>
              <a:buAutoNum type="arabicPeriod"/>
            </a:pPr>
            <a:r>
              <a:rPr lang="en-US" sz="2000" b="1" i="0" dirty="0">
                <a:solidFill>
                  <a:srgbClr val="000000"/>
                </a:solidFill>
                <a:effectLst/>
                <a:latin typeface="Times" panose="02020603050405020304" pitchFamily="18" charset="0"/>
                <a:cs typeface="Times" panose="02020603050405020304" pitchFamily="18" charset="0"/>
              </a:rPr>
              <a:t>Independent Variable:</a:t>
            </a:r>
            <a:r>
              <a:rPr lang="en-US" sz="2000" b="0" i="0" dirty="0">
                <a:solidFill>
                  <a:srgbClr val="000000"/>
                </a:solidFill>
                <a:effectLst/>
                <a:latin typeface="Times" panose="02020603050405020304" pitchFamily="18" charset="0"/>
                <a:cs typeface="Times" panose="02020603050405020304" pitchFamily="18" charset="0"/>
              </a:rPr>
              <a:t> The factors which affect the dependent variables or which are used to predict the values of the dependent variables are called independent variable, also called as a </a:t>
            </a:r>
            <a:r>
              <a:rPr lang="en-US" sz="2000" b="1" i="0" dirty="0">
                <a:solidFill>
                  <a:srgbClr val="000000"/>
                </a:solidFill>
                <a:effectLst/>
                <a:latin typeface="Times" panose="02020603050405020304" pitchFamily="18" charset="0"/>
                <a:cs typeface="Times" panose="02020603050405020304" pitchFamily="18" charset="0"/>
              </a:rPr>
              <a:t>predictor</a:t>
            </a:r>
            <a:r>
              <a:rPr lang="en-US" sz="2000" b="0" i="0" dirty="0">
                <a:solidFill>
                  <a:srgbClr val="000000"/>
                </a:solidFill>
                <a:effectLst/>
                <a:latin typeface="Times" panose="02020603050405020304" pitchFamily="18" charset="0"/>
                <a:cs typeface="Times" panose="02020603050405020304" pitchFamily="18" charset="0"/>
              </a:rPr>
              <a:t>.</a:t>
            </a:r>
          </a:p>
          <a:p>
            <a:pPr marL="457200" indent="-457200" algn="just">
              <a:buFont typeface="+mj-lt"/>
              <a:buAutoNum type="arabicPeriod"/>
            </a:pPr>
            <a:r>
              <a:rPr lang="en-US" sz="2000" b="1" i="0" dirty="0">
                <a:solidFill>
                  <a:srgbClr val="000000"/>
                </a:solidFill>
                <a:effectLst/>
                <a:latin typeface="Times" panose="02020603050405020304" pitchFamily="18" charset="0"/>
                <a:cs typeface="Times" panose="02020603050405020304" pitchFamily="18" charset="0"/>
              </a:rPr>
              <a:t>Outliers:</a:t>
            </a:r>
            <a:r>
              <a:rPr lang="en-US" sz="2000" b="0" i="0" dirty="0">
                <a:solidFill>
                  <a:srgbClr val="000000"/>
                </a:solidFill>
                <a:effectLst/>
                <a:latin typeface="Times" panose="02020603050405020304" pitchFamily="18" charset="0"/>
                <a:cs typeface="Times" panose="02020603050405020304" pitchFamily="18" charset="0"/>
              </a:rPr>
              <a:t> Outlier is an observation which contains either very low value or very high value in comparison to other observed values. An outlier may hamper the result, so it should be avoided.</a:t>
            </a:r>
          </a:p>
          <a:p>
            <a:pPr marL="457200" indent="-457200" algn="just">
              <a:buFont typeface="+mj-lt"/>
              <a:buAutoNum type="arabicPeriod"/>
            </a:pPr>
            <a:r>
              <a:rPr lang="en-US" sz="2000" b="1" i="0" dirty="0">
                <a:solidFill>
                  <a:srgbClr val="000000"/>
                </a:solidFill>
                <a:effectLst/>
                <a:latin typeface="Times" panose="02020603050405020304" pitchFamily="18" charset="0"/>
                <a:cs typeface="Times" panose="02020603050405020304" pitchFamily="18" charset="0"/>
              </a:rPr>
              <a:t>Multicollinearity:</a:t>
            </a:r>
            <a:r>
              <a:rPr lang="en-US" sz="2000" b="0" i="0" dirty="0">
                <a:solidFill>
                  <a:srgbClr val="000000"/>
                </a:solidFill>
                <a:effectLst/>
                <a:latin typeface="Times" panose="02020603050405020304" pitchFamily="18" charset="0"/>
                <a:cs typeface="Times" panose="02020603050405020304" pitchFamily="18" charset="0"/>
              </a:rPr>
              <a:t> If the independent variables are highly correlated with each other than other variables, then such condition is called Multicollinearity. It should not be present in the dataset, because it creates problem while ranking the most affecting variable.</a:t>
            </a:r>
          </a:p>
          <a:p>
            <a:pPr marL="457200" indent="-457200" algn="just">
              <a:buFont typeface="+mj-lt"/>
              <a:buAutoNum type="arabicPeriod"/>
            </a:pPr>
            <a:r>
              <a:rPr lang="en-US" sz="2000" b="1" i="0" dirty="0">
                <a:solidFill>
                  <a:srgbClr val="000000"/>
                </a:solidFill>
                <a:effectLst/>
                <a:latin typeface="Times" panose="02020603050405020304" pitchFamily="18" charset="0"/>
                <a:cs typeface="Times" panose="02020603050405020304" pitchFamily="18" charset="0"/>
              </a:rPr>
              <a:t>Underfitting and Overfitting:</a:t>
            </a:r>
            <a:r>
              <a:rPr lang="en-US" sz="2000" b="0" i="0" dirty="0">
                <a:solidFill>
                  <a:srgbClr val="000000"/>
                </a:solidFill>
                <a:effectLst/>
                <a:latin typeface="Times" panose="02020603050405020304" pitchFamily="18" charset="0"/>
                <a:cs typeface="Times" panose="02020603050405020304" pitchFamily="18" charset="0"/>
              </a:rPr>
              <a:t> If our algorithm works well with the training dataset but not well with test dataset, then such problem is called </a:t>
            </a:r>
            <a:r>
              <a:rPr lang="en-US" sz="2000" b="1" i="0" dirty="0">
                <a:solidFill>
                  <a:srgbClr val="000000"/>
                </a:solidFill>
                <a:effectLst/>
                <a:latin typeface="Times" panose="02020603050405020304" pitchFamily="18" charset="0"/>
                <a:cs typeface="Times" panose="02020603050405020304" pitchFamily="18" charset="0"/>
              </a:rPr>
              <a:t>Overfitting</a:t>
            </a:r>
            <a:r>
              <a:rPr lang="en-US" sz="2000" b="0" i="0" dirty="0">
                <a:solidFill>
                  <a:srgbClr val="000000"/>
                </a:solidFill>
                <a:effectLst/>
                <a:latin typeface="Times" panose="02020603050405020304" pitchFamily="18" charset="0"/>
                <a:cs typeface="Times" panose="02020603050405020304" pitchFamily="18" charset="0"/>
              </a:rPr>
              <a:t>. And if our algorithm does not perform well even with training dataset, then such problem is called </a:t>
            </a:r>
            <a:r>
              <a:rPr lang="en-US" sz="2000" b="1" i="0" dirty="0">
                <a:solidFill>
                  <a:srgbClr val="000000"/>
                </a:solidFill>
                <a:effectLst/>
                <a:latin typeface="Times" panose="02020603050405020304" pitchFamily="18" charset="0"/>
                <a:cs typeface="Times" panose="02020603050405020304" pitchFamily="18" charset="0"/>
              </a:rPr>
              <a:t>underfitting</a:t>
            </a:r>
            <a:r>
              <a:rPr lang="en-US" sz="2000" b="0" i="0" dirty="0">
                <a:solidFill>
                  <a:srgbClr val="000000"/>
                </a:solidFill>
                <a:effectLst/>
                <a:latin typeface="Times" panose="02020603050405020304" pitchFamily="18" charset="0"/>
                <a:cs typeface="Times" panose="02020603050405020304" pitchFamily="18" charset="0"/>
              </a:rPr>
              <a:t>.</a:t>
            </a:r>
          </a:p>
        </p:txBody>
      </p:sp>
    </p:spTree>
    <p:extLst>
      <p:ext uri="{BB962C8B-B14F-4D97-AF65-F5344CB8AC3E}">
        <p14:creationId xmlns:p14="http://schemas.microsoft.com/office/powerpoint/2010/main" val="4033246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136525"/>
            <a:ext cx="6086474" cy="1164813"/>
          </a:xfrm>
        </p:spPr>
        <p:txBody>
          <a:bodyPr>
            <a:noAutofit/>
          </a:bodyPr>
          <a:lstStyle/>
          <a:p>
            <a:r>
              <a:rPr lang="en-US" sz="2800" b="1" dirty="0">
                <a:solidFill>
                  <a:srgbClr val="002060"/>
                </a:solidFill>
                <a:latin typeface="Times" pitchFamily="2" charset="0"/>
              </a:rPr>
              <a:t>Linear Regression</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6</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581025" y="1301339"/>
            <a:ext cx="8105776" cy="5139869"/>
          </a:xfrm>
          <a:prstGeom prst="rect">
            <a:avLst/>
          </a:prstGeom>
        </p:spPr>
        <p:txBody>
          <a:bodyPr wrap="square">
            <a:spAutoFit/>
          </a:bodyPr>
          <a:lstStyle/>
          <a:p>
            <a:pPr marL="342900" indent="-342900" algn="just">
              <a:buFont typeface="Arial" panose="020B0604020202020204" pitchFamily="34" charset="0"/>
              <a:buChar char="•"/>
            </a:pPr>
            <a:r>
              <a:rPr lang="en-US" sz="2000" b="0" i="0" dirty="0">
                <a:solidFill>
                  <a:srgbClr val="000000"/>
                </a:solidFill>
                <a:effectLst/>
                <a:latin typeface="inter-regular"/>
              </a:rPr>
              <a:t>Linear regression is a statistical regression method which is used for predictive analysis.</a:t>
            </a:r>
          </a:p>
          <a:p>
            <a:pPr marL="342900" indent="-342900" algn="just">
              <a:buFont typeface="Arial" panose="020B0604020202020204" pitchFamily="34" charset="0"/>
              <a:buChar char="•"/>
            </a:pPr>
            <a:r>
              <a:rPr lang="en-US" sz="2000" b="0" i="0" dirty="0">
                <a:solidFill>
                  <a:srgbClr val="000000"/>
                </a:solidFill>
                <a:effectLst/>
                <a:latin typeface="inter-regular"/>
              </a:rPr>
              <a:t>It is one of the very simple and easy algorithms which works on regression and shows the relationship between the continuous variables.</a:t>
            </a:r>
          </a:p>
          <a:p>
            <a:pPr marL="342900" indent="-342900" algn="just">
              <a:buFont typeface="Arial" panose="020B0604020202020204" pitchFamily="34" charset="0"/>
              <a:buChar char="•"/>
            </a:pPr>
            <a:r>
              <a:rPr lang="en-US" sz="2000" b="0" i="0" dirty="0">
                <a:solidFill>
                  <a:srgbClr val="000000"/>
                </a:solidFill>
                <a:effectLst/>
                <a:latin typeface="inter-regular"/>
              </a:rPr>
              <a:t>It is used for solving the regression problem in machine learning.</a:t>
            </a:r>
          </a:p>
          <a:p>
            <a:pPr marL="342900" indent="-342900" algn="just">
              <a:buFont typeface="Arial" panose="020B0604020202020204" pitchFamily="34" charset="0"/>
              <a:buChar char="•"/>
            </a:pPr>
            <a:r>
              <a:rPr lang="en-US" sz="2000" b="0" i="0" dirty="0">
                <a:solidFill>
                  <a:srgbClr val="000000"/>
                </a:solidFill>
                <a:effectLst/>
                <a:latin typeface="inter-regular"/>
              </a:rPr>
              <a:t>Linear regression shows the linear relationship between the independent variable (X-axis) and the dependent variable (Y-axis), hence called linear regression.</a:t>
            </a:r>
          </a:p>
          <a:p>
            <a:pPr marL="342900" indent="-342900" algn="just">
              <a:buFont typeface="Arial" panose="020B0604020202020204" pitchFamily="34" charset="0"/>
              <a:buChar char="•"/>
            </a:pPr>
            <a:r>
              <a:rPr lang="en-US" sz="2000" b="0" i="0" dirty="0">
                <a:solidFill>
                  <a:srgbClr val="000000"/>
                </a:solidFill>
                <a:effectLst/>
                <a:latin typeface="inter-regular"/>
              </a:rPr>
              <a:t>If there is only one input variable (x), then such linear regression is called </a:t>
            </a:r>
            <a:r>
              <a:rPr lang="en-US" sz="2000" b="1" i="0" dirty="0">
                <a:solidFill>
                  <a:srgbClr val="000000"/>
                </a:solidFill>
                <a:effectLst/>
                <a:latin typeface="inter-bold"/>
              </a:rPr>
              <a:t>simple linear regression</a:t>
            </a:r>
            <a:r>
              <a:rPr lang="en-US" sz="2000" b="0" i="0" dirty="0">
                <a:solidFill>
                  <a:srgbClr val="000000"/>
                </a:solidFill>
                <a:effectLst/>
                <a:latin typeface="inter-regular"/>
              </a:rPr>
              <a:t>. And if there is more than one input variable, then such linear regression is called </a:t>
            </a:r>
            <a:r>
              <a:rPr lang="en-US" sz="2000" b="1" i="0" dirty="0">
                <a:solidFill>
                  <a:srgbClr val="000000"/>
                </a:solidFill>
                <a:effectLst/>
                <a:latin typeface="inter-bold"/>
              </a:rPr>
              <a:t>multiple linear regression</a:t>
            </a:r>
            <a:r>
              <a:rPr lang="en-US" sz="2000" b="0" i="0" dirty="0">
                <a:solidFill>
                  <a:srgbClr val="000000"/>
                </a:solidFill>
                <a:effectLst/>
                <a:latin typeface="inter-regular"/>
              </a:rPr>
              <a:t>.</a:t>
            </a:r>
          </a:p>
          <a:p>
            <a:pPr marL="342900" indent="-342900" algn="just">
              <a:buFont typeface="Arial" panose="020B0604020202020204" pitchFamily="34" charset="0"/>
              <a:buChar char="•"/>
            </a:pPr>
            <a:r>
              <a:rPr lang="en-US" sz="2000" b="0" i="0" dirty="0">
                <a:solidFill>
                  <a:srgbClr val="000000"/>
                </a:solidFill>
                <a:effectLst/>
                <a:latin typeface="inter-regular"/>
              </a:rPr>
              <a:t>The relationship between variables in the linear regression model can be explained using the below image. Here we are predicting the salary of an employee on the basis of </a:t>
            </a:r>
            <a:r>
              <a:rPr lang="en-US" sz="2000" b="1" i="0" dirty="0">
                <a:solidFill>
                  <a:srgbClr val="000000"/>
                </a:solidFill>
                <a:effectLst/>
                <a:latin typeface="inter-bold"/>
              </a:rPr>
              <a:t>the year of experience</a:t>
            </a:r>
            <a:r>
              <a:rPr lang="en-US" sz="2000" b="0" i="0" dirty="0">
                <a:solidFill>
                  <a:srgbClr val="000000"/>
                </a:solidFill>
                <a:effectLst/>
                <a:latin typeface="inter-regular"/>
              </a:rPr>
              <a:t>.</a:t>
            </a:r>
          </a:p>
          <a:p>
            <a:pPr algn="just"/>
            <a:endParaRPr lang="en-IN" sz="2400" b="0" i="0" dirty="0">
              <a:solidFill>
                <a:srgbClr val="610B4B"/>
              </a:solidFill>
              <a:effectLst/>
              <a:latin typeface="erdana"/>
            </a:endParaRPr>
          </a:p>
          <a:p>
            <a:pPr marL="457200" indent="-457200" algn="just">
              <a:buFont typeface="+mj-lt"/>
              <a:buAutoNum type="arabicPeriod"/>
            </a:pPr>
            <a:endParaRPr lang="en-US" sz="2400" i="0" dirty="0">
              <a:solidFill>
                <a:srgbClr val="000000"/>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545849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80A5E-D2BA-CBA6-A7B3-D1B2D1637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ED2D2-0C67-D3AD-96F9-3E7AA89B21CB}"/>
              </a:ext>
            </a:extLst>
          </p:cNvPr>
          <p:cNvSpPr>
            <a:spLocks noGrp="1"/>
          </p:cNvSpPr>
          <p:nvPr>
            <p:ph type="title"/>
          </p:nvPr>
        </p:nvSpPr>
        <p:spPr>
          <a:xfrm>
            <a:off x="1524001" y="136525"/>
            <a:ext cx="6086474" cy="1164813"/>
          </a:xfrm>
        </p:spPr>
        <p:txBody>
          <a:bodyPr>
            <a:noAutofit/>
          </a:bodyPr>
          <a:lstStyle/>
          <a:p>
            <a:r>
              <a:rPr lang="en-US" sz="2800" b="1">
                <a:solidFill>
                  <a:srgbClr val="002060"/>
                </a:solidFill>
                <a:latin typeface="Times" pitchFamily="2" charset="0"/>
              </a:rPr>
              <a:t>Linear Regression</a:t>
            </a:r>
            <a:endParaRPr lang="en-US" sz="2800" b="1" dirty="0">
              <a:solidFill>
                <a:srgbClr val="002060"/>
              </a:solidFill>
              <a:latin typeface="Times" pitchFamily="2" charset="0"/>
            </a:endParaRPr>
          </a:p>
        </p:txBody>
      </p:sp>
      <p:sp>
        <p:nvSpPr>
          <p:cNvPr id="3" name="Slide Number Placeholder 2">
            <a:extLst>
              <a:ext uri="{FF2B5EF4-FFF2-40B4-BE49-F238E27FC236}">
                <a16:creationId xmlns:a16="http://schemas.microsoft.com/office/drawing/2014/main" id="{7DB5EA6D-4833-DC59-BDD8-B61F83875958}"/>
              </a:ext>
            </a:extLst>
          </p:cNvPr>
          <p:cNvSpPr>
            <a:spLocks noGrp="1"/>
          </p:cNvSpPr>
          <p:nvPr>
            <p:ph type="sldNum" sz="quarter" idx="12"/>
          </p:nvPr>
        </p:nvSpPr>
        <p:spPr/>
        <p:txBody>
          <a:bodyPr/>
          <a:lstStyle/>
          <a:p>
            <a:fld id="{07F7CCEF-BFBD-4FA4-AA71-81F718DAAF14}" type="slidenum">
              <a:rPr lang="en-US" smtClean="0"/>
              <a:t>7</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575BEBA-AA9C-61EE-8DBE-164C62F3D999}"/>
                  </a:ext>
                </a:extLst>
              </p:cNvPr>
              <p:cNvSpPr/>
              <p:nvPr/>
            </p:nvSpPr>
            <p:spPr>
              <a:xfrm>
                <a:off x="581025" y="1301339"/>
                <a:ext cx="3025775" cy="3877985"/>
              </a:xfrm>
              <a:prstGeom prst="rect">
                <a:avLst/>
              </a:prstGeom>
            </p:spPr>
            <p:txBody>
              <a:bodyPr wrap="square">
                <a:spAutoFit/>
              </a:bodyPr>
              <a:lstStyle/>
              <a:p>
                <a:r>
                  <a:rPr lang="en-IN" sz="2000" b="1" dirty="0"/>
                  <a:t>Model</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𝑌</m:t>
                      </m:r>
                      <m:r>
                        <a:rPr lang="en-IN">
                          <a:latin typeface="Cambria Math" panose="02040503050406030204" pitchFamily="18" charset="0"/>
                        </a:rPr>
                        <m:t>=</m:t>
                      </m:r>
                      <m:sSub>
                        <m:sSubPr>
                          <m:ctrlPr>
                            <a:rPr lang="ar-AE" i="1">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ar-AE">
                          <a:latin typeface="Cambria Math" panose="02040503050406030204" pitchFamily="18" charset="0"/>
                        </a:rPr>
                        <m:t>+</m:t>
                      </m:r>
                      <m:sSub>
                        <m:sSubPr>
                          <m:ctrlPr>
                            <a:rPr lang="ar-AE" i="1" smtClean="0">
                              <a:latin typeface="Cambria Math" panose="02040503050406030204" pitchFamily="18" charset="0"/>
                            </a:rPr>
                          </m:ctrlPr>
                        </m:sSubPr>
                        <m:e>
                          <m:r>
                            <a:rPr lang="en-IN" b="0" i="1" smtClean="0">
                              <a:latin typeface="Cambria Math" panose="02040503050406030204" pitchFamily="18" charset="0"/>
                            </a:rPr>
                            <m:t>𝑎</m:t>
                          </m:r>
                        </m:e>
                        <m:sub>
                          <m:r>
                            <a:rPr lang="en-IN" b="0" i="0" smtClean="0">
                              <a:latin typeface="Cambria Math" panose="02040503050406030204" pitchFamily="18" charset="0"/>
                            </a:rPr>
                            <m:t>2</m:t>
                          </m:r>
                        </m:sub>
                      </m:sSub>
                      <m:r>
                        <a:rPr lang="ar-AE" i="1">
                          <a:latin typeface="Cambria Math" panose="02040503050406030204" pitchFamily="18" charset="0"/>
                        </a:rPr>
                        <m:t>𝑋</m:t>
                      </m:r>
                      <m:r>
                        <a:rPr lang="ar-AE">
                          <a:latin typeface="Cambria Math" panose="02040503050406030204" pitchFamily="18" charset="0"/>
                        </a:rPr>
                        <m:t>+</m:t>
                      </m:r>
                      <m:r>
                        <a:rPr lang="ar-AE" i="1">
                          <a:latin typeface="Cambria Math" panose="02040503050406030204" pitchFamily="18" charset="0"/>
                        </a:rPr>
                        <m:t>𝜖</m:t>
                      </m:r>
                    </m:oMath>
                  </m:oMathPara>
                </a14:m>
                <a:endParaRPr lang="ar-AE" sz="2000" dirty="0"/>
              </a:p>
              <a:p>
                <a:r>
                  <a:rPr lang="en-IN" sz="2000" b="1" dirty="0"/>
                  <a:t>Interpretation</a:t>
                </a:r>
              </a:p>
              <a:p>
                <a14:m>
                  <m:oMath xmlns:m="http://schemas.openxmlformats.org/officeDocument/2006/math">
                    <m:sSub>
                      <m:sSubPr>
                        <m:ctrlPr>
                          <a:rPr lang="ar-AE" i="1">
                            <a:latin typeface="Cambria Math" panose="02040503050406030204" pitchFamily="18" charset="0"/>
                          </a:rPr>
                        </m:ctrlPr>
                      </m:sSubPr>
                      <m:e>
                        <m:r>
                          <a:rPr lang="en-IN" i="1">
                            <a:latin typeface="Cambria Math" panose="02040503050406030204" pitchFamily="18" charset="0"/>
                          </a:rPr>
                          <m:t>𝑎</m:t>
                        </m:r>
                      </m:e>
                      <m:sub>
                        <m:r>
                          <a:rPr lang="en-IN" i="1">
                            <a:latin typeface="Cambria Math" panose="02040503050406030204" pitchFamily="18" charset="0"/>
                          </a:rPr>
                          <m:t>1</m:t>
                        </m:r>
                      </m:sub>
                    </m:sSub>
                  </m:oMath>
                </a14:m>
                <a:r>
                  <a:rPr lang="ar-AE" sz="2000" dirty="0"/>
                  <a:t>: </a:t>
                </a:r>
                <a:r>
                  <a:rPr lang="en-IN" sz="2000" dirty="0"/>
                  <a:t>Intercept</a:t>
                </a:r>
              </a:p>
              <a:p>
                <a14:m>
                  <m:oMath xmlns:m="http://schemas.openxmlformats.org/officeDocument/2006/math">
                    <m:sSub>
                      <m:sSubPr>
                        <m:ctrlPr>
                          <a:rPr lang="ar-AE" i="1">
                            <a:latin typeface="Cambria Math" panose="02040503050406030204" pitchFamily="18" charset="0"/>
                          </a:rPr>
                        </m:ctrlPr>
                      </m:sSubPr>
                      <m:e>
                        <m:r>
                          <a:rPr lang="en-IN" i="1">
                            <a:latin typeface="Cambria Math" panose="02040503050406030204" pitchFamily="18" charset="0"/>
                          </a:rPr>
                          <m:t>𝑎</m:t>
                        </m:r>
                      </m:e>
                      <m:sub>
                        <m:r>
                          <a:rPr lang="en-IN" b="0" i="1" smtClean="0">
                            <a:latin typeface="Cambria Math" panose="02040503050406030204" pitchFamily="18" charset="0"/>
                          </a:rPr>
                          <m:t>2</m:t>
                        </m:r>
                      </m:sub>
                    </m:sSub>
                  </m:oMath>
                </a14:m>
                <a:r>
                  <a:rPr lang="ar-AE" sz="2000" dirty="0"/>
                  <a:t>: </a:t>
                </a:r>
                <a:r>
                  <a:rPr lang="en-IN" sz="2000" dirty="0"/>
                  <a:t>Slope (how much Y changes for one unit increase in X)</a:t>
                </a:r>
              </a:p>
              <a:p>
                <a:r>
                  <a:rPr lang="en-IN" sz="2000" b="1" dirty="0"/>
                  <a:t>Example</a:t>
                </a:r>
              </a:p>
              <a:p>
                <a:r>
                  <a:rPr lang="en-IN" sz="2000" dirty="0"/>
                  <a:t>Predicting </a:t>
                </a:r>
                <a:r>
                  <a:rPr lang="en-IN" sz="2000" b="1" dirty="0"/>
                  <a:t>salary based on years of experience</a:t>
                </a:r>
                <a:r>
                  <a:rPr lang="en-IN" sz="2000" dirty="0"/>
                  <a:t>.</a:t>
                </a:r>
              </a:p>
              <a:p>
                <a:pPr algn="just"/>
                <a:endParaRPr lang="en-IN" sz="2400" b="0" i="0" dirty="0">
                  <a:solidFill>
                    <a:srgbClr val="610B4B"/>
                  </a:solidFill>
                  <a:effectLst/>
                  <a:latin typeface="erdana"/>
                </a:endParaRPr>
              </a:p>
              <a:p>
                <a:pPr marL="457200" indent="-457200" algn="just">
                  <a:buFont typeface="+mj-lt"/>
                  <a:buAutoNum type="arabicPeriod"/>
                </a:pPr>
                <a:endParaRPr lang="en-US" sz="2400" i="0" dirty="0">
                  <a:solidFill>
                    <a:srgbClr val="000000"/>
                  </a:solidFill>
                  <a:effectLst/>
                  <a:latin typeface="Times" panose="02020603050405020304" pitchFamily="18" charset="0"/>
                  <a:cs typeface="Times" panose="02020603050405020304" pitchFamily="18" charset="0"/>
                </a:endParaRPr>
              </a:p>
            </p:txBody>
          </p:sp>
        </mc:Choice>
        <mc:Fallback xmlns="">
          <p:sp>
            <p:nvSpPr>
              <p:cNvPr id="4" name="Rectangle 3">
                <a:extLst>
                  <a:ext uri="{FF2B5EF4-FFF2-40B4-BE49-F238E27FC236}">
                    <a16:creationId xmlns:a16="http://schemas.microsoft.com/office/drawing/2014/main" id="{A575BEBA-AA9C-61EE-8DBE-164C62F3D999}"/>
                  </a:ext>
                </a:extLst>
              </p:cNvPr>
              <p:cNvSpPr>
                <a:spLocks noRot="1" noChangeAspect="1" noMove="1" noResize="1" noEditPoints="1" noAdjustHandles="1" noChangeArrowheads="1" noChangeShapeType="1" noTextEdit="1"/>
              </p:cNvSpPr>
              <p:nvPr/>
            </p:nvSpPr>
            <p:spPr>
              <a:xfrm>
                <a:off x="581025" y="1301339"/>
                <a:ext cx="3025775" cy="3877985"/>
              </a:xfrm>
              <a:prstGeom prst="rect">
                <a:avLst/>
              </a:prstGeom>
              <a:blipFill>
                <a:blip r:embed="rId2"/>
                <a:stretch>
                  <a:fillRect l="-2012" t="-785" r="-604"/>
                </a:stretch>
              </a:blipFill>
            </p:spPr>
            <p:txBody>
              <a:bodyPr/>
              <a:lstStyle/>
              <a:p>
                <a:r>
                  <a:rPr lang="en-IN">
                    <a:noFill/>
                  </a:rPr>
                  <a:t> </a:t>
                </a:r>
              </a:p>
            </p:txBody>
          </p:sp>
        </mc:Fallback>
      </mc:AlternateContent>
      <p:pic>
        <p:nvPicPr>
          <p:cNvPr id="4098" name="Picture 2" descr="Regression Analysis in Machine learning">
            <a:extLst>
              <a:ext uri="{FF2B5EF4-FFF2-40B4-BE49-F238E27FC236}">
                <a16:creationId xmlns:a16="http://schemas.microsoft.com/office/drawing/2014/main" id="{4297883F-1EA2-43D4-97E0-5D355CA75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5721" y="1301338"/>
            <a:ext cx="4800600" cy="3573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319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136525"/>
            <a:ext cx="6086474" cy="1164813"/>
          </a:xfrm>
        </p:spPr>
        <p:txBody>
          <a:bodyPr>
            <a:noAutofit/>
          </a:bodyPr>
          <a:lstStyle/>
          <a:p>
            <a:r>
              <a:rPr lang="en-US" sz="2800" b="1" dirty="0">
                <a:solidFill>
                  <a:srgbClr val="002060"/>
                </a:solidFill>
                <a:latin typeface="Times" pitchFamily="2" charset="0"/>
              </a:rPr>
              <a:t>Linear Regression</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8</a:t>
            </a:fld>
            <a:endParaRPr lang="en-US"/>
          </a:p>
        </p:txBody>
      </p:sp>
      <p:sp>
        <p:nvSpPr>
          <p:cNvPr id="4" name="Rectangle 3">
            <a:extLst>
              <a:ext uri="{FF2B5EF4-FFF2-40B4-BE49-F238E27FC236}">
                <a16:creationId xmlns:a16="http://schemas.microsoft.com/office/drawing/2014/main" id="{F0FF7294-D5E4-0048-B16C-4CC9F9A281E1}"/>
              </a:ext>
            </a:extLst>
          </p:cNvPr>
          <p:cNvSpPr/>
          <p:nvPr/>
        </p:nvSpPr>
        <p:spPr>
          <a:xfrm>
            <a:off x="266700" y="1301339"/>
            <a:ext cx="8420101" cy="2923878"/>
          </a:xfrm>
          <a:prstGeom prst="rect">
            <a:avLst/>
          </a:prstGeom>
        </p:spPr>
        <p:txBody>
          <a:bodyPr wrap="square">
            <a:spAutoFit/>
          </a:bodyPr>
          <a:lstStyle/>
          <a:p>
            <a:pPr marL="342900" indent="-342900" algn="just">
              <a:buFont typeface="Arial" panose="020B0604020202020204" pitchFamily="34" charset="0"/>
              <a:buChar char="•"/>
            </a:pPr>
            <a:r>
              <a:rPr lang="en-US" sz="2000" b="0" i="0" dirty="0">
                <a:solidFill>
                  <a:srgbClr val="333333"/>
                </a:solidFill>
                <a:effectLst/>
                <a:latin typeface="Times" panose="02020603050405020304" pitchFamily="18" charset="0"/>
                <a:cs typeface="Times" panose="02020603050405020304" pitchFamily="18" charset="0"/>
              </a:rPr>
              <a:t>Linear Regression model can be represented using the below equation: </a:t>
            </a:r>
          </a:p>
          <a:p>
            <a:pPr lvl="2" algn="just"/>
            <a:r>
              <a:rPr lang="en-US" sz="2000" b="1" dirty="0">
                <a:solidFill>
                  <a:srgbClr val="333333"/>
                </a:solidFill>
                <a:latin typeface="Times" panose="02020603050405020304" pitchFamily="18" charset="0"/>
                <a:cs typeface="Times" panose="02020603050405020304" pitchFamily="18" charset="0"/>
              </a:rPr>
              <a:t>Y</a:t>
            </a:r>
            <a:r>
              <a:rPr lang="en-US" sz="2000" b="1" i="0" dirty="0">
                <a:solidFill>
                  <a:srgbClr val="333333"/>
                </a:solidFill>
                <a:effectLst/>
                <a:latin typeface="Times" panose="02020603050405020304" pitchFamily="18" charset="0"/>
                <a:cs typeface="Times" panose="02020603050405020304" pitchFamily="18" charset="0"/>
              </a:rPr>
              <a:t>= a1 + </a:t>
            </a:r>
            <a:r>
              <a:rPr lang="en-US" sz="2000" b="1" dirty="0">
                <a:solidFill>
                  <a:srgbClr val="333333"/>
                </a:solidFill>
                <a:latin typeface="Times" panose="02020603050405020304" pitchFamily="18" charset="0"/>
                <a:cs typeface="Times" panose="02020603050405020304" pitchFamily="18" charset="0"/>
              </a:rPr>
              <a:t>a2 </a:t>
            </a:r>
            <a:r>
              <a:rPr lang="en-US" sz="2000" b="1" i="0" dirty="0">
                <a:solidFill>
                  <a:srgbClr val="333333"/>
                </a:solidFill>
                <a:effectLst/>
                <a:latin typeface="Times" panose="02020603050405020304" pitchFamily="18" charset="0"/>
                <a:cs typeface="Times" panose="02020603050405020304" pitchFamily="18" charset="0"/>
              </a:rPr>
              <a:t>X + ε </a:t>
            </a:r>
          </a:p>
          <a:p>
            <a:pPr marL="342900" indent="-342900" algn="just">
              <a:buFont typeface="Arial" panose="020B0604020202020204" pitchFamily="34" charset="0"/>
              <a:buChar char="•"/>
            </a:pPr>
            <a:r>
              <a:rPr lang="en-US" sz="2000" b="0" i="0" dirty="0">
                <a:solidFill>
                  <a:srgbClr val="333333"/>
                </a:solidFill>
                <a:effectLst/>
                <a:latin typeface="Times" panose="02020603050405020304" pitchFamily="18" charset="0"/>
                <a:cs typeface="Times" panose="02020603050405020304" pitchFamily="18" charset="0"/>
              </a:rPr>
              <a:t>Where, </a:t>
            </a:r>
          </a:p>
          <a:p>
            <a:pPr marL="342900" indent="-342900" algn="just">
              <a:buFont typeface="Arial" panose="020B0604020202020204" pitchFamily="34" charset="0"/>
              <a:buChar char="•"/>
            </a:pPr>
            <a:r>
              <a:rPr lang="en-US" sz="2000" dirty="0">
                <a:solidFill>
                  <a:srgbClr val="333333"/>
                </a:solidFill>
                <a:latin typeface="Times" panose="02020603050405020304" pitchFamily="18" charset="0"/>
                <a:cs typeface="Times" panose="02020603050405020304" pitchFamily="18" charset="0"/>
              </a:rPr>
              <a:t>a</a:t>
            </a:r>
            <a:r>
              <a:rPr lang="en-US" sz="2000" b="0" i="0" dirty="0">
                <a:solidFill>
                  <a:srgbClr val="333333"/>
                </a:solidFill>
                <a:effectLst/>
                <a:latin typeface="Times" panose="02020603050405020304" pitchFamily="18" charset="0"/>
                <a:cs typeface="Times" panose="02020603050405020304" pitchFamily="18" charset="0"/>
              </a:rPr>
              <a:t>1 = It is the intercept of the Regression line (can be obtained putting x=0) </a:t>
            </a:r>
          </a:p>
          <a:p>
            <a:pPr marL="342900" indent="-342900" algn="just">
              <a:buFont typeface="Arial" panose="020B0604020202020204" pitchFamily="34" charset="0"/>
              <a:buChar char="•"/>
            </a:pPr>
            <a:r>
              <a:rPr lang="en-US" sz="2000" dirty="0">
                <a:solidFill>
                  <a:srgbClr val="333333"/>
                </a:solidFill>
                <a:latin typeface="Times" panose="02020603050405020304" pitchFamily="18" charset="0"/>
                <a:cs typeface="Times" panose="02020603050405020304" pitchFamily="18" charset="0"/>
              </a:rPr>
              <a:t>a</a:t>
            </a:r>
            <a:r>
              <a:rPr lang="en-US" sz="2000" b="0" i="0" dirty="0">
                <a:solidFill>
                  <a:srgbClr val="333333"/>
                </a:solidFill>
                <a:effectLst/>
                <a:latin typeface="Times" panose="02020603050405020304" pitchFamily="18" charset="0"/>
                <a:cs typeface="Times" panose="02020603050405020304" pitchFamily="18" charset="0"/>
              </a:rPr>
              <a:t>2 = It is the slope of the regression line, which tells whether the line is increasing or decreasing.</a:t>
            </a:r>
          </a:p>
          <a:p>
            <a:pPr marL="342900" indent="-342900" algn="just">
              <a:buFont typeface="Arial" panose="020B0604020202020204" pitchFamily="34" charset="0"/>
              <a:buChar char="•"/>
            </a:pPr>
            <a:r>
              <a:rPr lang="en-US" sz="2000" b="0" i="0" dirty="0">
                <a:solidFill>
                  <a:srgbClr val="333333"/>
                </a:solidFill>
                <a:effectLst/>
                <a:latin typeface="Times" panose="02020603050405020304" pitchFamily="18" charset="0"/>
                <a:cs typeface="Times" panose="02020603050405020304" pitchFamily="18" charset="0"/>
              </a:rPr>
              <a:t>ε = The error term. (For a good model it will be negligible)</a:t>
            </a:r>
          </a:p>
          <a:p>
            <a:pPr marL="342900" indent="-342900" algn="just">
              <a:buFont typeface="Arial" panose="020B0604020202020204" pitchFamily="34" charset="0"/>
              <a:buChar char="•"/>
            </a:pPr>
            <a:endParaRPr lang="en-US" sz="2000" b="0" i="0" dirty="0">
              <a:solidFill>
                <a:srgbClr val="333333"/>
              </a:solidFill>
              <a:effectLst/>
              <a:latin typeface="inter-regular"/>
            </a:endParaRPr>
          </a:p>
          <a:p>
            <a:pPr marL="457200" indent="-457200" algn="just">
              <a:buFont typeface="+mj-lt"/>
              <a:buAutoNum type="arabicPeriod"/>
            </a:pPr>
            <a:endParaRPr lang="en-US" sz="2400" i="0" dirty="0">
              <a:solidFill>
                <a:srgbClr val="000000"/>
              </a:solidFill>
              <a:effectLst/>
              <a:latin typeface="Times" panose="02020603050405020304" pitchFamily="18" charset="0"/>
              <a:cs typeface="Times" panose="02020603050405020304" pitchFamily="18" charset="0"/>
            </a:endParaRPr>
          </a:p>
        </p:txBody>
      </p:sp>
      <p:pic>
        <p:nvPicPr>
          <p:cNvPr id="5" name="Picture 9" descr="The Top 10 Machine Learning Algorithms for ML Beginners">
            <a:extLst>
              <a:ext uri="{FF2B5EF4-FFF2-40B4-BE49-F238E27FC236}">
                <a16:creationId xmlns:a16="http://schemas.microsoft.com/office/drawing/2014/main" id="{E59A51CD-E392-3298-8037-7E58BEDE24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3552824"/>
            <a:ext cx="6163311" cy="3081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085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0650" y="136526"/>
            <a:ext cx="6343649" cy="1162929"/>
          </a:xfrm>
        </p:spPr>
        <p:txBody>
          <a:bodyPr>
            <a:noAutofit/>
          </a:bodyPr>
          <a:lstStyle/>
          <a:p>
            <a:r>
              <a:rPr lang="en-US" sz="2800" b="1" dirty="0">
                <a:solidFill>
                  <a:srgbClr val="002060"/>
                </a:solidFill>
                <a:latin typeface="Times" pitchFamily="2" charset="0"/>
              </a:rPr>
              <a:t>Multiple Linear Regression</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9</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409575" y="1502152"/>
            <a:ext cx="8467725" cy="5324535"/>
          </a:xfrm>
          <a:prstGeom prst="rect">
            <a:avLst/>
          </a:prstGeom>
          <a:noFill/>
        </p:spPr>
        <p:txBody>
          <a:bodyPr wrap="square">
            <a:spAutoFit/>
          </a:bodyPr>
          <a:lstStyle/>
          <a:p>
            <a:pPr algn="l"/>
            <a:r>
              <a:rPr lang="en-US" sz="2400" b="1" i="0" dirty="0">
                <a:solidFill>
                  <a:srgbClr val="0D405F"/>
                </a:solidFill>
                <a:effectLst/>
                <a:latin typeface="Inter"/>
              </a:rPr>
              <a:t>Multiple linear regression</a:t>
            </a:r>
            <a:r>
              <a:rPr lang="en-US" sz="2400" b="0" i="0" dirty="0">
                <a:solidFill>
                  <a:srgbClr val="0D405F"/>
                </a:solidFill>
                <a:effectLst/>
                <a:latin typeface="Inter"/>
              </a:rPr>
              <a:t> is used to estimate the relationship between </a:t>
            </a:r>
            <a:r>
              <a:rPr lang="en-US" sz="2400" b="1" i="0" dirty="0">
                <a:solidFill>
                  <a:srgbClr val="0D405F"/>
                </a:solidFill>
                <a:effectLst/>
                <a:latin typeface="Inter"/>
              </a:rPr>
              <a:t>two or more independent variables </a:t>
            </a:r>
            <a:r>
              <a:rPr lang="en-US" sz="2400" b="0" i="0" dirty="0">
                <a:solidFill>
                  <a:srgbClr val="0D405F"/>
                </a:solidFill>
                <a:effectLst/>
                <a:latin typeface="Inter"/>
              </a:rPr>
              <a:t>and</a:t>
            </a:r>
            <a:r>
              <a:rPr lang="en-US" sz="2400" b="1" i="0" dirty="0">
                <a:solidFill>
                  <a:srgbClr val="0D405F"/>
                </a:solidFill>
                <a:effectLst/>
                <a:latin typeface="Inter"/>
              </a:rPr>
              <a:t> one dependent variable</a:t>
            </a:r>
            <a:r>
              <a:rPr lang="en-US" sz="2400" b="0" i="0" dirty="0">
                <a:solidFill>
                  <a:srgbClr val="0D405F"/>
                </a:solidFill>
                <a:effectLst/>
                <a:latin typeface="Inter"/>
              </a:rPr>
              <a:t>. You can use multiple linear regression when you want to know:</a:t>
            </a:r>
          </a:p>
          <a:p>
            <a:pPr marL="342900" indent="-342900" algn="l">
              <a:buFont typeface="Arial" panose="020B0604020202020204" pitchFamily="34" charset="0"/>
              <a:buChar char="•"/>
            </a:pPr>
            <a:r>
              <a:rPr lang="en-US" sz="2000" b="0" i="0" dirty="0">
                <a:solidFill>
                  <a:srgbClr val="0D405F"/>
                </a:solidFill>
                <a:effectLst/>
                <a:latin typeface="Inter"/>
              </a:rPr>
              <a:t>How strong the relationship is between two or more independent variables and one dependent variable (e.g. how rainfall, temperature, and amount of fertilizer added affect crop growth).</a:t>
            </a:r>
          </a:p>
          <a:p>
            <a:pPr marL="342900" indent="-342900" algn="l">
              <a:buFont typeface="Arial" panose="020B0604020202020204" pitchFamily="34" charset="0"/>
              <a:buChar char="•"/>
            </a:pPr>
            <a:r>
              <a:rPr lang="en-US" sz="2000" b="0" i="0" dirty="0">
                <a:solidFill>
                  <a:srgbClr val="0D405F"/>
                </a:solidFill>
                <a:effectLst/>
                <a:latin typeface="Inter"/>
              </a:rPr>
              <a:t>The value of the dependent variable at a certain value of the independent variables (e.g. the expected yield of a crop at certain levels of rainfall, temperature, and fertilizer addition).</a:t>
            </a:r>
          </a:p>
          <a:p>
            <a:pPr marL="342900" indent="-342900" algn="l">
              <a:buFont typeface="Arial" panose="020B0604020202020204" pitchFamily="34" charset="0"/>
              <a:buChar char="•"/>
            </a:pPr>
            <a:r>
              <a:rPr lang="en-US" sz="2000" b="1" dirty="0">
                <a:solidFill>
                  <a:srgbClr val="0D405F"/>
                </a:solidFill>
                <a:latin typeface="Inter"/>
              </a:rPr>
              <a:t>P</a:t>
            </a:r>
            <a:r>
              <a:rPr lang="en-US" sz="2000" b="1" i="0" dirty="0">
                <a:solidFill>
                  <a:srgbClr val="0D405F"/>
                </a:solidFill>
                <a:effectLst/>
                <a:latin typeface="Inter"/>
              </a:rPr>
              <a:t>redicting an employee's job satisfaction using their hours of unpaid work, age, and income. The regression equation would use these three independent variables to predict the dependent variable, job satisfaction, providing insights into how each factor influences the outcome and creating a predictive model. </a:t>
            </a:r>
          </a:p>
          <a:p>
            <a:pPr algn="just"/>
            <a:endParaRPr lang="en-US" sz="2400" b="0" i="0" dirty="0">
              <a:solidFill>
                <a:srgbClr val="222222"/>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728068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726" y="136527"/>
            <a:ext cx="6505574" cy="1122792"/>
          </a:xfrm>
        </p:spPr>
        <p:txBody>
          <a:bodyPr>
            <a:noAutofit/>
          </a:bodyPr>
          <a:lstStyle/>
          <a:p>
            <a:r>
              <a:rPr lang="en-US" sz="2800" b="1" dirty="0">
                <a:solidFill>
                  <a:srgbClr val="002060"/>
                </a:solidFill>
                <a:latin typeface="Times" pitchFamily="2" charset="0"/>
              </a:rPr>
              <a:t>Assumptions of multiple linear regression</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10</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338137" y="1299455"/>
            <a:ext cx="8467725" cy="5016758"/>
          </a:xfrm>
          <a:prstGeom prst="rect">
            <a:avLst/>
          </a:prstGeom>
          <a:noFill/>
        </p:spPr>
        <p:txBody>
          <a:bodyPr wrap="square">
            <a:spAutoFit/>
          </a:bodyPr>
          <a:lstStyle/>
          <a:p>
            <a:pPr algn="just"/>
            <a:r>
              <a:rPr lang="en-US" sz="2000" b="0" i="0" dirty="0">
                <a:solidFill>
                  <a:srgbClr val="222222"/>
                </a:solidFill>
                <a:effectLst/>
                <a:latin typeface="Times" panose="02020603050405020304" pitchFamily="18" charset="0"/>
                <a:cs typeface="Times" panose="02020603050405020304" pitchFamily="18" charset="0"/>
              </a:rPr>
              <a:t>Multiple linear regression makes all of the same assumptions as simple linear regression:</a:t>
            </a:r>
          </a:p>
          <a:p>
            <a:pPr marL="285750" indent="-285750" algn="just">
              <a:buFont typeface="Arial" panose="020B0604020202020204" pitchFamily="34" charset="0"/>
              <a:buChar char="•"/>
            </a:pPr>
            <a:r>
              <a:rPr lang="en-US" sz="2000" b="1" i="0" dirty="0">
                <a:solidFill>
                  <a:srgbClr val="222222"/>
                </a:solidFill>
                <a:effectLst/>
                <a:latin typeface="Times" panose="02020603050405020304" pitchFamily="18" charset="0"/>
                <a:cs typeface="Times" panose="02020603050405020304" pitchFamily="18" charset="0"/>
              </a:rPr>
              <a:t>Homogeneity of variance (homoscedasticity): </a:t>
            </a:r>
            <a:r>
              <a:rPr lang="en-US" sz="2000" b="0" i="0" dirty="0">
                <a:solidFill>
                  <a:srgbClr val="222222"/>
                </a:solidFill>
                <a:effectLst/>
                <a:latin typeface="Times" panose="02020603050405020304" pitchFamily="18" charset="0"/>
                <a:cs typeface="Times" panose="02020603050405020304" pitchFamily="18" charset="0"/>
              </a:rPr>
              <a:t>the size of the error in our prediction doesn’t change significantly across the values of the independent variable.</a:t>
            </a:r>
          </a:p>
          <a:p>
            <a:pPr marL="285750" indent="-285750" algn="just">
              <a:buFont typeface="Arial" panose="020B0604020202020204" pitchFamily="34" charset="0"/>
              <a:buChar char="•"/>
            </a:pPr>
            <a:r>
              <a:rPr lang="en-US" sz="2000" b="1" i="0" dirty="0">
                <a:solidFill>
                  <a:srgbClr val="222222"/>
                </a:solidFill>
                <a:effectLst/>
                <a:latin typeface="Times" panose="02020603050405020304" pitchFamily="18" charset="0"/>
                <a:cs typeface="Times" panose="02020603050405020304" pitchFamily="18" charset="0"/>
              </a:rPr>
              <a:t>Independence of observations: </a:t>
            </a:r>
            <a:r>
              <a:rPr lang="en-US" sz="2000" b="0" i="0" dirty="0">
                <a:solidFill>
                  <a:srgbClr val="222222"/>
                </a:solidFill>
                <a:effectLst/>
                <a:latin typeface="Times" panose="02020603050405020304" pitchFamily="18" charset="0"/>
                <a:cs typeface="Times" panose="02020603050405020304" pitchFamily="18" charset="0"/>
              </a:rPr>
              <a:t>the observations in the dataset were collected using statistically valid methods, and there are no hidden relationships among variables.</a:t>
            </a:r>
            <a:endParaRPr lang="en-US" sz="2000" dirty="0">
              <a:solidFill>
                <a:srgbClr val="222222"/>
              </a:solidFill>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US" sz="2000" b="0" i="0" dirty="0">
                <a:solidFill>
                  <a:srgbClr val="222222"/>
                </a:solidFill>
                <a:effectLst/>
                <a:latin typeface="Times" panose="02020603050405020304" pitchFamily="18" charset="0"/>
                <a:cs typeface="Times" panose="02020603050405020304" pitchFamily="18" charset="0"/>
              </a:rPr>
              <a:t>In multiple linear regression, it is possible that some of the independent variables are actually correlated with one another, so it is important to check these before developing the regression model. </a:t>
            </a:r>
            <a:r>
              <a:rPr lang="en-US" sz="2000" b="1" i="0" dirty="0">
                <a:solidFill>
                  <a:srgbClr val="222222"/>
                </a:solidFill>
                <a:effectLst/>
                <a:latin typeface="Times" panose="02020603050405020304" pitchFamily="18" charset="0"/>
                <a:cs typeface="Times" panose="02020603050405020304" pitchFamily="18" charset="0"/>
              </a:rPr>
              <a:t>If two independent variables are too highly correlated (r2 &gt; ~0.6), </a:t>
            </a:r>
            <a:r>
              <a:rPr lang="en-US" sz="2000" b="0" i="0" dirty="0">
                <a:solidFill>
                  <a:srgbClr val="222222"/>
                </a:solidFill>
                <a:effectLst/>
                <a:latin typeface="Times" panose="02020603050405020304" pitchFamily="18" charset="0"/>
                <a:cs typeface="Times" panose="02020603050405020304" pitchFamily="18" charset="0"/>
              </a:rPr>
              <a:t>then only one of them should be used in the regression model.</a:t>
            </a:r>
          </a:p>
          <a:p>
            <a:pPr marL="285750" indent="-285750" algn="just">
              <a:buFont typeface="Arial" panose="020B0604020202020204" pitchFamily="34" charset="0"/>
              <a:buChar char="•"/>
            </a:pPr>
            <a:r>
              <a:rPr lang="en-US" sz="2000" b="1" i="0" dirty="0">
                <a:solidFill>
                  <a:srgbClr val="222222"/>
                </a:solidFill>
                <a:effectLst/>
                <a:latin typeface="Times" panose="02020603050405020304" pitchFamily="18" charset="0"/>
                <a:cs typeface="Times" panose="02020603050405020304" pitchFamily="18" charset="0"/>
              </a:rPr>
              <a:t>Normality: </a:t>
            </a:r>
            <a:r>
              <a:rPr lang="en-US" sz="2000" b="0" i="0" dirty="0">
                <a:solidFill>
                  <a:srgbClr val="222222"/>
                </a:solidFill>
                <a:effectLst/>
                <a:latin typeface="Times" panose="02020603050405020304" pitchFamily="18" charset="0"/>
                <a:cs typeface="Times" panose="02020603050405020304" pitchFamily="18" charset="0"/>
              </a:rPr>
              <a:t>The data follows a normal distribution.</a:t>
            </a:r>
          </a:p>
          <a:p>
            <a:pPr marL="285750" indent="-285750" algn="just">
              <a:buFont typeface="Arial" panose="020B0604020202020204" pitchFamily="34" charset="0"/>
              <a:buChar char="•"/>
            </a:pPr>
            <a:r>
              <a:rPr lang="en-US" sz="2000" b="1" i="0" dirty="0">
                <a:solidFill>
                  <a:srgbClr val="222222"/>
                </a:solidFill>
                <a:effectLst/>
                <a:latin typeface="Times" panose="02020603050405020304" pitchFamily="18" charset="0"/>
                <a:cs typeface="Times" panose="02020603050405020304" pitchFamily="18" charset="0"/>
              </a:rPr>
              <a:t>Linearity: </a:t>
            </a:r>
            <a:r>
              <a:rPr lang="en-US" sz="2000" b="0" i="0" dirty="0">
                <a:solidFill>
                  <a:srgbClr val="222222"/>
                </a:solidFill>
                <a:effectLst/>
                <a:latin typeface="Times" panose="02020603050405020304" pitchFamily="18" charset="0"/>
                <a:cs typeface="Times" panose="02020603050405020304" pitchFamily="18" charset="0"/>
              </a:rPr>
              <a:t>the line of best fit through the data points is a straight line, rather than a curve or some sort of grouping factor.</a:t>
            </a:r>
          </a:p>
        </p:txBody>
      </p:sp>
    </p:spTree>
    <p:extLst>
      <p:ext uri="{BB962C8B-B14F-4D97-AF65-F5344CB8AC3E}">
        <p14:creationId xmlns:p14="http://schemas.microsoft.com/office/powerpoint/2010/main" val="32188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949" y="19568"/>
            <a:ext cx="6737275" cy="1834962"/>
          </a:xfrm>
        </p:spPr>
        <p:txBody>
          <a:bodyPr>
            <a:noAutofit/>
          </a:bodyPr>
          <a:lstStyle/>
          <a:p>
            <a:r>
              <a:rPr lang="en-US" sz="2800" b="1" dirty="0">
                <a:solidFill>
                  <a:srgbClr val="002060"/>
                </a:solidFill>
                <a:latin typeface="Times" pitchFamily="2" charset="0"/>
              </a:rPr>
              <a:t>How to perform a multiple linear regression?</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11</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338137" y="1299455"/>
            <a:ext cx="8467725" cy="400110"/>
          </a:xfrm>
          <a:prstGeom prst="rect">
            <a:avLst/>
          </a:prstGeom>
          <a:noFill/>
        </p:spPr>
        <p:txBody>
          <a:bodyPr wrap="square">
            <a:spAutoFit/>
          </a:bodyPr>
          <a:lstStyle/>
          <a:p>
            <a:pPr algn="just"/>
            <a:endParaRPr lang="en-US" sz="2000" b="0" i="0" dirty="0">
              <a:solidFill>
                <a:srgbClr val="222222"/>
              </a:solidFill>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22BE1BA8-E091-43DB-8E78-EC28BC387296}"/>
              </a:ext>
            </a:extLst>
          </p:cNvPr>
          <p:cNvSpPr txBox="1"/>
          <p:nvPr/>
        </p:nvSpPr>
        <p:spPr>
          <a:xfrm>
            <a:off x="400050" y="1537296"/>
            <a:ext cx="6453741" cy="461665"/>
          </a:xfrm>
          <a:prstGeom prst="rect">
            <a:avLst/>
          </a:prstGeom>
          <a:noFill/>
        </p:spPr>
        <p:txBody>
          <a:bodyPr wrap="square">
            <a:spAutoFit/>
          </a:bodyPr>
          <a:lstStyle/>
          <a:p>
            <a:pPr algn="l"/>
            <a:r>
              <a:rPr lang="en-IN" sz="2400" b="1" i="0" dirty="0">
                <a:solidFill>
                  <a:srgbClr val="1B2B68"/>
                </a:solidFill>
                <a:effectLst/>
                <a:latin typeface="Times" panose="02020603050405020304" pitchFamily="18" charset="0"/>
                <a:cs typeface="Times" panose="02020603050405020304" pitchFamily="18" charset="0"/>
              </a:rPr>
              <a:t>Multiple linear regression formula</a:t>
            </a:r>
          </a:p>
        </p:txBody>
      </p:sp>
      <p:pic>
        <p:nvPicPr>
          <p:cNvPr id="1026" name="Picture 2" descr="Multiple linear regression formula">
            <a:extLst>
              <a:ext uri="{FF2B5EF4-FFF2-40B4-BE49-F238E27FC236}">
                <a16:creationId xmlns:a16="http://schemas.microsoft.com/office/drawing/2014/main" id="{B2F4560F-3D61-4642-8150-3D267D8CB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670" y="2028592"/>
            <a:ext cx="4396092" cy="5036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5893EE8-83F0-44CC-9C8B-C2B5A57AF618}"/>
              </a:ext>
            </a:extLst>
          </p:cNvPr>
          <p:cNvPicPr>
            <a:picLocks noChangeAspect="1"/>
          </p:cNvPicPr>
          <p:nvPr/>
        </p:nvPicPr>
        <p:blipFill rotWithShape="1">
          <a:blip r:embed="rId3"/>
          <a:srcRect l="34884" t="28811" r="6512" b="40388"/>
          <a:stretch/>
        </p:blipFill>
        <p:spPr>
          <a:xfrm>
            <a:off x="139404" y="2615610"/>
            <a:ext cx="8918871" cy="2636728"/>
          </a:xfrm>
          <a:prstGeom prst="rect">
            <a:avLst/>
          </a:prstGeom>
        </p:spPr>
      </p:pic>
    </p:spTree>
    <p:extLst>
      <p:ext uri="{BB962C8B-B14F-4D97-AF65-F5344CB8AC3E}">
        <p14:creationId xmlns:p14="http://schemas.microsoft.com/office/powerpoint/2010/main" val="3623273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52F6098-449C-A9B5-60AB-8937E0BF761A}"/>
              </a:ext>
            </a:extLst>
          </p:cNvPr>
          <p:cNvPicPr>
            <a:picLocks noChangeAspect="1"/>
          </p:cNvPicPr>
          <p:nvPr/>
        </p:nvPicPr>
        <p:blipFill>
          <a:blip r:embed="rId2"/>
          <a:stretch>
            <a:fillRect/>
          </a:stretch>
        </p:blipFill>
        <p:spPr>
          <a:xfrm>
            <a:off x="441972" y="1036320"/>
            <a:ext cx="8702028" cy="3972560"/>
          </a:xfrm>
          <a:prstGeom prst="rect">
            <a:avLst/>
          </a:prstGeom>
        </p:spPr>
      </p:pic>
    </p:spTree>
    <p:extLst>
      <p:ext uri="{BB962C8B-B14F-4D97-AF65-F5344CB8AC3E}">
        <p14:creationId xmlns:p14="http://schemas.microsoft.com/office/powerpoint/2010/main" val="2543253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3FF96-828D-7317-0339-4CDA43F06C0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4322B36-4096-7217-3B6D-E46C40DE1B90}"/>
              </a:ext>
            </a:extLst>
          </p:cNvPr>
          <p:cNvPicPr>
            <a:picLocks noChangeAspect="1"/>
          </p:cNvPicPr>
          <p:nvPr/>
        </p:nvPicPr>
        <p:blipFill>
          <a:blip r:embed="rId2"/>
          <a:stretch>
            <a:fillRect/>
          </a:stretch>
        </p:blipFill>
        <p:spPr>
          <a:xfrm>
            <a:off x="142239" y="1302354"/>
            <a:ext cx="8460015" cy="3483005"/>
          </a:xfrm>
          <a:prstGeom prst="rect">
            <a:avLst/>
          </a:prstGeom>
        </p:spPr>
      </p:pic>
    </p:spTree>
    <p:extLst>
      <p:ext uri="{BB962C8B-B14F-4D97-AF65-F5344CB8AC3E}">
        <p14:creationId xmlns:p14="http://schemas.microsoft.com/office/powerpoint/2010/main" val="1020885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C8FE-4229-078F-450E-B9FE276EB6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C01477-9F11-A2B0-FD24-42965BFBB2CF}"/>
              </a:ext>
            </a:extLst>
          </p:cNvPr>
          <p:cNvPicPr>
            <a:picLocks noChangeAspect="1"/>
          </p:cNvPicPr>
          <p:nvPr/>
        </p:nvPicPr>
        <p:blipFill>
          <a:blip r:embed="rId2"/>
          <a:stretch>
            <a:fillRect/>
          </a:stretch>
        </p:blipFill>
        <p:spPr>
          <a:xfrm>
            <a:off x="207191" y="1537286"/>
            <a:ext cx="8461447" cy="3613834"/>
          </a:xfrm>
          <a:prstGeom prst="rect">
            <a:avLst/>
          </a:prstGeom>
        </p:spPr>
      </p:pic>
    </p:spTree>
    <p:extLst>
      <p:ext uri="{BB962C8B-B14F-4D97-AF65-F5344CB8AC3E}">
        <p14:creationId xmlns:p14="http://schemas.microsoft.com/office/powerpoint/2010/main" val="1643096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D8817-83B8-24A9-0C13-F53B9D69016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0B157F-6EC5-66A2-AA0B-183F4C2F1138}"/>
              </a:ext>
            </a:extLst>
          </p:cNvPr>
          <p:cNvPicPr>
            <a:picLocks noChangeAspect="1"/>
          </p:cNvPicPr>
          <p:nvPr/>
        </p:nvPicPr>
        <p:blipFill>
          <a:blip r:embed="rId2"/>
          <a:stretch>
            <a:fillRect/>
          </a:stretch>
        </p:blipFill>
        <p:spPr>
          <a:xfrm>
            <a:off x="311039" y="955714"/>
            <a:ext cx="5613756" cy="3646766"/>
          </a:xfrm>
          <a:prstGeom prst="rect">
            <a:avLst/>
          </a:prstGeom>
        </p:spPr>
      </p:pic>
    </p:spTree>
    <p:extLst>
      <p:ext uri="{BB962C8B-B14F-4D97-AF65-F5344CB8AC3E}">
        <p14:creationId xmlns:p14="http://schemas.microsoft.com/office/powerpoint/2010/main" val="1961641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715CB-7B59-617B-36F4-BC57DB26EE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8BD5D4E-4F28-463E-5C91-EBAE9BEC26AB}"/>
              </a:ext>
            </a:extLst>
          </p:cNvPr>
          <p:cNvPicPr>
            <a:picLocks noChangeAspect="1"/>
          </p:cNvPicPr>
          <p:nvPr/>
        </p:nvPicPr>
        <p:blipFill>
          <a:blip r:embed="rId2"/>
          <a:stretch>
            <a:fillRect/>
          </a:stretch>
        </p:blipFill>
        <p:spPr>
          <a:xfrm>
            <a:off x="156546" y="927790"/>
            <a:ext cx="8830907" cy="3762900"/>
          </a:xfrm>
          <a:prstGeom prst="rect">
            <a:avLst/>
          </a:prstGeom>
        </p:spPr>
      </p:pic>
    </p:spTree>
    <p:extLst>
      <p:ext uri="{BB962C8B-B14F-4D97-AF65-F5344CB8AC3E}">
        <p14:creationId xmlns:p14="http://schemas.microsoft.com/office/powerpoint/2010/main" val="3266998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A3DD2-34FC-21EB-237F-88C90DE5E50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751A5E7-2ACB-5410-3C65-66F0B4D721AB}"/>
              </a:ext>
            </a:extLst>
          </p:cNvPr>
          <p:cNvPicPr>
            <a:picLocks noChangeAspect="1"/>
          </p:cNvPicPr>
          <p:nvPr/>
        </p:nvPicPr>
        <p:blipFill>
          <a:blip r:embed="rId2"/>
          <a:stretch>
            <a:fillRect/>
          </a:stretch>
        </p:blipFill>
        <p:spPr>
          <a:xfrm>
            <a:off x="295069" y="1181832"/>
            <a:ext cx="7924371" cy="3332868"/>
          </a:xfrm>
          <a:prstGeom prst="rect">
            <a:avLst/>
          </a:prstGeom>
        </p:spPr>
      </p:pic>
    </p:spTree>
    <p:extLst>
      <p:ext uri="{BB962C8B-B14F-4D97-AF65-F5344CB8AC3E}">
        <p14:creationId xmlns:p14="http://schemas.microsoft.com/office/powerpoint/2010/main" val="3257720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714AC6DF-56EC-9628-5DEE-C0D679760C9C}"/>
              </a:ext>
            </a:extLst>
          </p:cNvPr>
          <p:cNvSpPr txBox="1"/>
          <p:nvPr/>
        </p:nvSpPr>
        <p:spPr>
          <a:xfrm>
            <a:off x="342900" y="2228850"/>
            <a:ext cx="8712518" cy="1177245"/>
          </a:xfrm>
          <a:prstGeom prst="rect">
            <a:avLst/>
          </a:prstGeom>
        </p:spPr>
        <p:txBody>
          <a:bodyPr vert="horz" wrap="square" lIns="0" tIns="0" rIns="0" bIns="0" rtlCol="0">
            <a:spAutoFit/>
          </a:bodyPr>
          <a:lstStyle/>
          <a:p>
            <a:pPr marL="9525" algn="ctr"/>
            <a:endParaRPr lang="en-US" sz="2700" b="1" spc="146" dirty="0">
              <a:solidFill>
                <a:srgbClr val="FF0000"/>
              </a:solidFill>
              <a:latin typeface="Tw Cen MT Condensed"/>
              <a:cs typeface="Tw Cen MT Condensed"/>
            </a:endParaRPr>
          </a:p>
          <a:p>
            <a:pPr marL="9525"/>
            <a:endParaRPr sz="4950" dirty="0">
              <a:latin typeface="Tw Cen MT Condensed"/>
              <a:cs typeface="Tw Cen MT Condensed"/>
            </a:endParaRPr>
          </a:p>
        </p:txBody>
      </p:sp>
      <p:sp>
        <p:nvSpPr>
          <p:cNvPr id="6" name="Slide Number Placeholder 5">
            <a:extLst>
              <a:ext uri="{FF2B5EF4-FFF2-40B4-BE49-F238E27FC236}">
                <a16:creationId xmlns:a16="http://schemas.microsoft.com/office/drawing/2014/main" id="{DCD562A3-0B5B-F288-A63D-6571B3068919}"/>
              </a:ext>
            </a:extLst>
          </p:cNvPr>
          <p:cNvSpPr txBox="1">
            <a:spLocks/>
          </p:cNvSpPr>
          <p:nvPr/>
        </p:nvSpPr>
        <p:spPr>
          <a:xfrm>
            <a:off x="228601" y="6356350"/>
            <a:ext cx="8401050" cy="53089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Khushboo Jain           	 		 CSF344 and ML            			   Unit -2</a:t>
            </a:r>
          </a:p>
        </p:txBody>
      </p:sp>
      <p:sp>
        <p:nvSpPr>
          <p:cNvPr id="7" name="Title 1">
            <a:extLst>
              <a:ext uri="{FF2B5EF4-FFF2-40B4-BE49-F238E27FC236}">
                <a16:creationId xmlns:a16="http://schemas.microsoft.com/office/drawing/2014/main" id="{21DE60A0-C73D-285A-49C1-6E05E3B4E347}"/>
              </a:ext>
            </a:extLst>
          </p:cNvPr>
          <p:cNvSpPr txBox="1">
            <a:spLocks/>
          </p:cNvSpPr>
          <p:nvPr/>
        </p:nvSpPr>
        <p:spPr>
          <a:xfrm>
            <a:off x="1400175" y="234120"/>
            <a:ext cx="6343649" cy="646186"/>
          </a:xfrm>
          <a:prstGeom prst="rect">
            <a:avLst/>
          </a:prstGeom>
        </p:spPr>
        <p:txBody>
          <a:bodyPr>
            <a:noAutofit/>
          </a:bodyPr>
          <a:lstStyle>
            <a:lvl1pPr algn="ctr" defTabSz="914400" rtl="0" eaLnBrk="1" latinLnBrk="0" hangingPunct="1">
              <a:spcBef>
                <a:spcPct val="0"/>
              </a:spcBef>
              <a:buNone/>
              <a:defRPr sz="3000" kern="1200">
                <a:solidFill>
                  <a:schemeClr val="tx1"/>
                </a:solidFill>
                <a:latin typeface="Agfa Rotis Semisans ExBd" pitchFamily="2" charset="0"/>
                <a:ea typeface="+mj-ea"/>
                <a:cs typeface="+mj-cs"/>
              </a:defRPr>
            </a:lvl1pPr>
          </a:lstStyle>
          <a:p>
            <a:r>
              <a:rPr lang="en-US" sz="2800" b="1" dirty="0">
                <a:solidFill>
                  <a:srgbClr val="002060"/>
                </a:solidFill>
                <a:latin typeface="Times" pitchFamily="2" charset="0"/>
              </a:rPr>
              <a:t>Bias</a:t>
            </a:r>
          </a:p>
        </p:txBody>
      </p:sp>
      <p:sp>
        <p:nvSpPr>
          <p:cNvPr id="8" name="TextBox 7">
            <a:extLst>
              <a:ext uri="{FF2B5EF4-FFF2-40B4-BE49-F238E27FC236}">
                <a16:creationId xmlns:a16="http://schemas.microsoft.com/office/drawing/2014/main" id="{63270FEF-8D7C-D13C-6934-7A6833F1BEE3}"/>
              </a:ext>
            </a:extLst>
          </p:cNvPr>
          <p:cNvSpPr txBox="1"/>
          <p:nvPr/>
        </p:nvSpPr>
        <p:spPr>
          <a:xfrm>
            <a:off x="342900" y="1114425"/>
            <a:ext cx="4765834" cy="4708981"/>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Biases are the underlying assumptions that are made by data to simplify the target function. </a:t>
            </a:r>
          </a:p>
          <a:p>
            <a:pPr marL="285750" indent="-28575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Bias does help us generalize the data better and make the model less sensitive to single data points. </a:t>
            </a:r>
          </a:p>
          <a:p>
            <a:pPr marL="285750" indent="-28575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It also decreases the training time because of the decrease in complexity of target function High bias suggest that there is more assumption taken on target function.</a:t>
            </a:r>
          </a:p>
          <a:p>
            <a:pPr marL="285750" indent="-28575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This leads to the </a:t>
            </a:r>
            <a:r>
              <a:rPr lang="en-US" sz="2000" b="1" i="0" dirty="0">
                <a:solidFill>
                  <a:srgbClr val="273239"/>
                </a:solidFill>
                <a:effectLst/>
                <a:latin typeface="Times" panose="02020603050405020304" pitchFamily="18" charset="0"/>
                <a:cs typeface="Times" panose="02020603050405020304" pitchFamily="18" charset="0"/>
              </a:rPr>
              <a:t>underfitting of the model</a:t>
            </a:r>
            <a:r>
              <a:rPr lang="en-US" sz="2000" b="0" i="0" dirty="0">
                <a:solidFill>
                  <a:srgbClr val="273239"/>
                </a:solidFill>
                <a:effectLst/>
                <a:latin typeface="Times" panose="02020603050405020304" pitchFamily="18" charset="0"/>
                <a:cs typeface="Times" panose="02020603050405020304" pitchFamily="18" charset="0"/>
              </a:rPr>
              <a:t> sometimes.</a:t>
            </a:r>
          </a:p>
          <a:p>
            <a:pPr marL="285750" indent="-28575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Examples of High bias Algorithms include Linear Regression, Logistic Regression etc.</a:t>
            </a:r>
            <a:endParaRPr lang="en-IN" sz="2000" dirty="0">
              <a:latin typeface="Times" panose="02020603050405020304" pitchFamily="18" charset="0"/>
              <a:cs typeface="Times" panose="02020603050405020304" pitchFamily="18" charset="0"/>
            </a:endParaRPr>
          </a:p>
        </p:txBody>
      </p:sp>
      <p:pic>
        <p:nvPicPr>
          <p:cNvPr id="9" name="Picture 8">
            <a:extLst>
              <a:ext uri="{FF2B5EF4-FFF2-40B4-BE49-F238E27FC236}">
                <a16:creationId xmlns:a16="http://schemas.microsoft.com/office/drawing/2014/main" id="{E91B59BC-43FF-EA73-3676-F078C8FBF31E}"/>
              </a:ext>
            </a:extLst>
          </p:cNvPr>
          <p:cNvPicPr>
            <a:picLocks noChangeAspect="1"/>
          </p:cNvPicPr>
          <p:nvPr/>
        </p:nvPicPr>
        <p:blipFill rotWithShape="1">
          <a:blip r:embed="rId2"/>
          <a:srcRect l="30000" t="17963" r="28750" b="28291"/>
          <a:stretch/>
        </p:blipFill>
        <p:spPr>
          <a:xfrm>
            <a:off x="5108734" y="3209531"/>
            <a:ext cx="4012406" cy="2940702"/>
          </a:xfrm>
          <a:prstGeom prst="rect">
            <a:avLst/>
          </a:prstGeom>
        </p:spPr>
      </p:pic>
    </p:spTree>
    <p:extLst>
      <p:ext uri="{BB962C8B-B14F-4D97-AF65-F5344CB8AC3E}">
        <p14:creationId xmlns:p14="http://schemas.microsoft.com/office/powerpoint/2010/main" val="2792757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7">
            <a:extLst>
              <a:ext uri="{FF2B5EF4-FFF2-40B4-BE49-F238E27FC236}">
                <a16:creationId xmlns:a16="http://schemas.microsoft.com/office/drawing/2014/main" id="{53DAE951-1B47-8952-A813-1B9682B77814}"/>
              </a:ext>
            </a:extLst>
          </p:cNvPr>
          <p:cNvSpPr txBox="1">
            <a:spLocks noGrp="1"/>
          </p:cNvSpPr>
          <p:nvPr>
            <p:ph type="sldNum" sz="quarter" idx="12"/>
          </p:nvPr>
        </p:nvSpPr>
        <p:spPr>
          <a:xfrm>
            <a:off x="4914900" y="5710138"/>
            <a:ext cx="1600200" cy="102592"/>
          </a:xfrm>
          <a:prstGeom prst="rect">
            <a:avLst/>
          </a:prstGeom>
        </p:spPr>
        <p:txBody>
          <a:bodyPr vert="horz" wrap="square" lIns="0" tIns="0" rIns="0" bIns="0" rtlCol="0" anchor="ctr">
            <a:spAutoFit/>
          </a:bodyPr>
          <a:lstStyle/>
          <a:p>
            <a:pPr marL="19050">
              <a:lnSpc>
                <a:spcPts val="784"/>
              </a:lnSpc>
            </a:pPr>
            <a:fld id="{81D60167-4931-47E6-BA6A-407CBD079E47}" type="slidenum">
              <a:rPr spc="4" dirty="0"/>
              <a:pPr marL="19050">
                <a:lnSpc>
                  <a:spcPts val="784"/>
                </a:lnSpc>
              </a:pPr>
              <a:t>19</a:t>
            </a:fld>
            <a:endParaRPr spc="4"/>
          </a:p>
        </p:txBody>
      </p:sp>
      <p:sp>
        <p:nvSpPr>
          <p:cNvPr id="6" name="object 5">
            <a:extLst>
              <a:ext uri="{FF2B5EF4-FFF2-40B4-BE49-F238E27FC236}">
                <a16:creationId xmlns:a16="http://schemas.microsoft.com/office/drawing/2014/main" id="{06B85249-B6BE-A596-5B28-CD9A1C3EACBF}"/>
              </a:ext>
            </a:extLst>
          </p:cNvPr>
          <p:cNvSpPr txBox="1"/>
          <p:nvPr/>
        </p:nvSpPr>
        <p:spPr>
          <a:xfrm>
            <a:off x="342900" y="2228850"/>
            <a:ext cx="8712518" cy="1177245"/>
          </a:xfrm>
          <a:prstGeom prst="rect">
            <a:avLst/>
          </a:prstGeom>
        </p:spPr>
        <p:txBody>
          <a:bodyPr vert="horz" wrap="square" lIns="0" tIns="0" rIns="0" bIns="0" rtlCol="0">
            <a:spAutoFit/>
          </a:bodyPr>
          <a:lstStyle/>
          <a:p>
            <a:pPr marL="9525" algn="ctr"/>
            <a:endParaRPr lang="en-US" sz="2700" b="1" spc="146" dirty="0">
              <a:solidFill>
                <a:srgbClr val="FF0000"/>
              </a:solidFill>
              <a:latin typeface="Tw Cen MT Condensed"/>
              <a:cs typeface="Tw Cen MT Condensed"/>
            </a:endParaRPr>
          </a:p>
          <a:p>
            <a:pPr marL="9525"/>
            <a:endParaRPr sz="4950" dirty="0">
              <a:latin typeface="Tw Cen MT Condensed"/>
              <a:cs typeface="Tw Cen MT Condensed"/>
            </a:endParaRPr>
          </a:p>
        </p:txBody>
      </p:sp>
      <p:sp>
        <p:nvSpPr>
          <p:cNvPr id="7" name="Title 1">
            <a:extLst>
              <a:ext uri="{FF2B5EF4-FFF2-40B4-BE49-F238E27FC236}">
                <a16:creationId xmlns:a16="http://schemas.microsoft.com/office/drawing/2014/main" id="{6209689B-B78B-9323-C6AE-3FEFB659686D}"/>
              </a:ext>
            </a:extLst>
          </p:cNvPr>
          <p:cNvSpPr txBox="1">
            <a:spLocks/>
          </p:cNvSpPr>
          <p:nvPr/>
        </p:nvSpPr>
        <p:spPr>
          <a:xfrm>
            <a:off x="228600" y="1302581"/>
            <a:ext cx="8401050" cy="4533900"/>
          </a:xfrm>
          <a:prstGeom prst="rect">
            <a:avLst/>
          </a:prstGeom>
        </p:spPr>
        <p:txBody>
          <a:bodyPr>
            <a:normAutofit/>
          </a:bodyPr>
          <a:lstStyle>
            <a:lvl1pPr algn="ctr" defTabSz="914400" rtl="0" eaLnBrk="1" latinLnBrk="0" hangingPunct="1">
              <a:spcBef>
                <a:spcPct val="0"/>
              </a:spcBef>
              <a:buNone/>
              <a:defRPr sz="3000" kern="1200">
                <a:solidFill>
                  <a:schemeClr val="tx1"/>
                </a:solidFill>
                <a:latin typeface="Agfa Rotis Semisans ExBd" pitchFamily="2" charset="0"/>
                <a:ea typeface="+mj-ea"/>
                <a:cs typeface="+mj-cs"/>
              </a:defRPr>
            </a:lvl1pPr>
          </a:lstStyle>
          <a:p>
            <a:br>
              <a:rPr lang="en-US" sz="4800" dirty="0">
                <a:latin typeface="Times" pitchFamily="2" charset="0"/>
              </a:rPr>
            </a:br>
            <a:endParaRPr lang="en-US" sz="4800" b="1" dirty="0">
              <a:latin typeface="Times" pitchFamily="2" charset="0"/>
            </a:endParaRPr>
          </a:p>
        </p:txBody>
      </p:sp>
      <p:sp>
        <p:nvSpPr>
          <p:cNvPr id="9" name="Title 1">
            <a:extLst>
              <a:ext uri="{FF2B5EF4-FFF2-40B4-BE49-F238E27FC236}">
                <a16:creationId xmlns:a16="http://schemas.microsoft.com/office/drawing/2014/main" id="{EC17E750-B03D-DC21-7A9C-19B97D6715E0}"/>
              </a:ext>
            </a:extLst>
          </p:cNvPr>
          <p:cNvSpPr txBox="1">
            <a:spLocks/>
          </p:cNvSpPr>
          <p:nvPr/>
        </p:nvSpPr>
        <p:spPr>
          <a:xfrm>
            <a:off x="1457325" y="304491"/>
            <a:ext cx="6343649" cy="646186"/>
          </a:xfrm>
          <a:prstGeom prst="rect">
            <a:avLst/>
          </a:prstGeom>
        </p:spPr>
        <p:txBody>
          <a:bodyPr>
            <a:noAutofit/>
          </a:bodyPr>
          <a:lstStyle>
            <a:lvl1pPr algn="ctr" defTabSz="914400" rtl="0" eaLnBrk="1" latinLnBrk="0" hangingPunct="1">
              <a:spcBef>
                <a:spcPct val="0"/>
              </a:spcBef>
              <a:buNone/>
              <a:defRPr sz="3000" kern="1200">
                <a:solidFill>
                  <a:schemeClr val="tx1"/>
                </a:solidFill>
                <a:latin typeface="Agfa Rotis Semisans ExBd" pitchFamily="2" charset="0"/>
                <a:ea typeface="+mj-ea"/>
                <a:cs typeface="+mj-cs"/>
              </a:defRPr>
            </a:lvl1pPr>
          </a:lstStyle>
          <a:p>
            <a:r>
              <a:rPr lang="en-US" sz="2800" b="1" dirty="0">
                <a:solidFill>
                  <a:srgbClr val="002060"/>
                </a:solidFill>
                <a:latin typeface="Times" pitchFamily="2" charset="0"/>
              </a:rPr>
              <a:t>Variance</a:t>
            </a:r>
          </a:p>
        </p:txBody>
      </p:sp>
      <p:sp>
        <p:nvSpPr>
          <p:cNvPr id="10" name="TextBox 9">
            <a:extLst>
              <a:ext uri="{FF2B5EF4-FFF2-40B4-BE49-F238E27FC236}">
                <a16:creationId xmlns:a16="http://schemas.microsoft.com/office/drawing/2014/main" id="{18D69AA2-6C33-F648-5AC8-FFC056C3BB3B}"/>
              </a:ext>
            </a:extLst>
          </p:cNvPr>
          <p:cNvSpPr txBox="1"/>
          <p:nvPr/>
        </p:nvSpPr>
        <p:spPr>
          <a:xfrm>
            <a:off x="342900" y="1302582"/>
            <a:ext cx="8572500" cy="2554545"/>
          </a:xfrm>
          <a:prstGeom prst="rect">
            <a:avLst/>
          </a:prstGeom>
          <a:noFill/>
        </p:spPr>
        <p:txBody>
          <a:bodyPr wrap="square">
            <a:spAutoFit/>
          </a:bodyPr>
          <a:lstStyle/>
          <a:p>
            <a:pPr marL="342900" indent="-34290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Variance is a type of error that occurs due to a model’s sensitivity to small fluctuations in the dataset. </a:t>
            </a:r>
          </a:p>
          <a:p>
            <a:pPr marL="342900" indent="-34290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The high variance would cause an algorithm to model the outliers/noise in the training set.</a:t>
            </a:r>
          </a:p>
          <a:p>
            <a:pPr marL="342900" indent="-34290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This is most commonly referred to as overfitting. </a:t>
            </a:r>
          </a:p>
          <a:p>
            <a:pPr marL="342900" indent="-342900">
              <a:buFont typeface="Arial" panose="020B0604020202020204" pitchFamily="34" charset="0"/>
              <a:buChar char="•"/>
            </a:pPr>
            <a:r>
              <a:rPr lang="en-US" sz="2000" b="0" i="0" dirty="0">
                <a:solidFill>
                  <a:srgbClr val="273239"/>
                </a:solidFill>
                <a:effectLst/>
                <a:latin typeface="Times" panose="02020603050405020304" pitchFamily="18" charset="0"/>
                <a:cs typeface="Times" panose="02020603050405020304" pitchFamily="18" charset="0"/>
              </a:rPr>
              <a:t>In this situation, the model basically learns every data point and does not offer good prediction when it tested on a novel dataset.</a:t>
            </a:r>
            <a:br>
              <a:rPr lang="en-US" sz="2000" dirty="0">
                <a:latin typeface="Times" panose="02020603050405020304" pitchFamily="18" charset="0"/>
                <a:cs typeface="Times" panose="02020603050405020304" pitchFamily="18" charset="0"/>
              </a:rPr>
            </a:br>
            <a:r>
              <a:rPr lang="en-US" sz="2000" b="0" i="0" dirty="0">
                <a:solidFill>
                  <a:srgbClr val="273239"/>
                </a:solidFill>
                <a:effectLst/>
                <a:latin typeface="Times" panose="02020603050405020304" pitchFamily="18" charset="0"/>
                <a:cs typeface="Times" panose="02020603050405020304" pitchFamily="18" charset="0"/>
              </a:rPr>
              <a:t>Examples of High variance Algorithms include Decision Tree, KNN etc.</a:t>
            </a:r>
            <a:endParaRPr lang="en-IN" sz="2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603371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5B0C069B-BABB-964B-6655-80231A3175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02581"/>
            <a:ext cx="9144000" cy="378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137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F0E38-5D81-4A3D-ADB3-BA16DEB479E3}"/>
            </a:ext>
          </a:extLst>
        </p:cNvPr>
        <p:cNvGrpSpPr/>
        <p:nvPr/>
      </p:nvGrpSpPr>
      <p:grpSpPr>
        <a:xfrm>
          <a:off x="0" y="0"/>
          <a:ext cx="0" cy="0"/>
          <a:chOff x="0" y="0"/>
          <a:chExt cx="0" cy="0"/>
        </a:xfrm>
      </p:grpSpPr>
      <p:pic>
        <p:nvPicPr>
          <p:cNvPr id="2050" name="Picture 2" descr="Variance/ Bias vs Error">
            <a:extLst>
              <a:ext uri="{FF2B5EF4-FFF2-40B4-BE49-F238E27FC236}">
                <a16:creationId xmlns:a16="http://schemas.microsoft.com/office/drawing/2014/main" id="{2D3F3E9F-E2A2-442E-83CA-E5B87B9D1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33475"/>
            <a:ext cx="7620000"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174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986" y="19568"/>
            <a:ext cx="6171314" cy="1679997"/>
          </a:xfrm>
        </p:spPr>
        <p:txBody>
          <a:bodyPr>
            <a:noAutofit/>
          </a:bodyPr>
          <a:lstStyle/>
          <a:p>
            <a:pPr algn="l"/>
            <a:r>
              <a:rPr lang="en-US" sz="2800" b="1" i="0" dirty="0">
                <a:solidFill>
                  <a:srgbClr val="1B2B68"/>
                </a:solidFill>
                <a:effectLst/>
                <a:latin typeface="Times" panose="02020603050405020304" pitchFamily="18" charset="0"/>
                <a:cs typeface="Times" panose="02020603050405020304" pitchFamily="18" charset="0"/>
              </a:rPr>
              <a:t>Performance in Regression Models</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22</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338137" y="1299455"/>
            <a:ext cx="8467725" cy="400110"/>
          </a:xfrm>
          <a:prstGeom prst="rect">
            <a:avLst/>
          </a:prstGeom>
          <a:noFill/>
        </p:spPr>
        <p:txBody>
          <a:bodyPr wrap="square">
            <a:spAutoFit/>
          </a:bodyPr>
          <a:lstStyle/>
          <a:p>
            <a:pPr algn="just"/>
            <a:endParaRPr lang="en-US" sz="2000" b="0" i="0" dirty="0">
              <a:solidFill>
                <a:srgbClr val="222222"/>
              </a:solidFill>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22BE1BA8-E091-43DB-8E78-EC28BC387296}"/>
              </a:ext>
            </a:extLst>
          </p:cNvPr>
          <p:cNvSpPr txBox="1"/>
          <p:nvPr/>
        </p:nvSpPr>
        <p:spPr>
          <a:xfrm>
            <a:off x="409575" y="1392865"/>
            <a:ext cx="8139002" cy="5139869"/>
          </a:xfrm>
          <a:prstGeom prst="rect">
            <a:avLst/>
          </a:prstGeom>
          <a:noFill/>
        </p:spPr>
        <p:txBody>
          <a:bodyPr wrap="square">
            <a:spAutoFit/>
          </a:bodyPr>
          <a:lstStyle/>
          <a:p>
            <a:pPr algn="l"/>
            <a:r>
              <a:rPr lang="en-US" sz="2000" i="0" dirty="0">
                <a:solidFill>
                  <a:srgbClr val="1B2B68"/>
                </a:solidFill>
                <a:effectLst/>
                <a:latin typeface="Times" panose="02020603050405020304" pitchFamily="18" charset="0"/>
                <a:cs typeface="Times" panose="02020603050405020304" pitchFamily="18" charset="0"/>
              </a:rPr>
              <a:t>To calculate the performance of regression models, we utilize mathematical formulas that will compare the plotted graph to the points that we are predicting.</a:t>
            </a:r>
          </a:p>
          <a:p>
            <a:pPr algn="l"/>
            <a:endParaRPr lang="en-US" sz="2000" i="0" dirty="0">
              <a:solidFill>
                <a:srgbClr val="1B2B68"/>
              </a:solidFill>
              <a:effectLst/>
              <a:latin typeface="Times" panose="02020603050405020304" pitchFamily="18" charset="0"/>
              <a:cs typeface="Times" panose="02020603050405020304" pitchFamily="18" charset="0"/>
            </a:endParaRPr>
          </a:p>
          <a:p>
            <a:pPr algn="l"/>
            <a:r>
              <a:rPr lang="en-US" sz="2000" i="0" dirty="0">
                <a:solidFill>
                  <a:srgbClr val="1B2B68"/>
                </a:solidFill>
                <a:effectLst/>
                <a:latin typeface="Times" panose="02020603050405020304" pitchFamily="18" charset="0"/>
                <a:cs typeface="Times" panose="02020603050405020304" pitchFamily="18" charset="0"/>
              </a:rPr>
              <a:t>A good regression model should focus on minimizing the difference between the observation and the predicted value, while being unbiased. (Unbiased means that we try to find a balance between over-estimation and under-estimation)</a:t>
            </a:r>
          </a:p>
          <a:p>
            <a:pPr algn="l"/>
            <a:endParaRPr lang="en-US" sz="2000" dirty="0">
              <a:solidFill>
                <a:srgbClr val="1B2B68"/>
              </a:solidFill>
              <a:latin typeface="Times" panose="02020603050405020304" pitchFamily="18" charset="0"/>
              <a:cs typeface="Times" panose="02020603050405020304" pitchFamily="18" charset="0"/>
            </a:endParaRPr>
          </a:p>
          <a:p>
            <a:r>
              <a:rPr lang="en-IN" sz="2000" dirty="0">
                <a:latin typeface="Times" panose="02020603050405020304" pitchFamily="18" charset="0"/>
                <a:cs typeface="Times" panose="02020603050405020304" pitchFamily="18" charset="0"/>
              </a:rPr>
              <a:t>There are 3 main metrics for model evaluation in regression:</a:t>
            </a:r>
          </a:p>
          <a:p>
            <a:pPr marL="457200" indent="-457200">
              <a:buFontTx/>
              <a:buAutoNum type="arabicPeriod"/>
            </a:pPr>
            <a:r>
              <a:rPr lang="en-IN" sz="2000" dirty="0">
                <a:latin typeface="Times" panose="02020603050405020304" pitchFamily="18" charset="0"/>
                <a:cs typeface="Times" panose="02020603050405020304" pitchFamily="18" charset="0"/>
              </a:rPr>
              <a:t>Mean Absolute Error(MAE)</a:t>
            </a:r>
          </a:p>
          <a:p>
            <a:pPr marL="457200" indent="-457200">
              <a:buAutoNum type="arabicPeriod"/>
            </a:pPr>
            <a:r>
              <a:rPr lang="en-IN" sz="2000" dirty="0">
                <a:latin typeface="Times" panose="02020603050405020304" pitchFamily="18" charset="0"/>
                <a:cs typeface="Times" panose="02020603050405020304" pitchFamily="18" charset="0"/>
              </a:rPr>
              <a:t>Mean Square Error(MSE)/Root Mean Square Error(RMSE)</a:t>
            </a:r>
          </a:p>
          <a:p>
            <a:pPr marL="457200" indent="-457200">
              <a:buFontTx/>
              <a:buAutoNum type="arabicPeriod"/>
            </a:pPr>
            <a:r>
              <a:rPr lang="en-IN" sz="2000" dirty="0">
                <a:latin typeface="Times" panose="02020603050405020304" pitchFamily="18" charset="0"/>
                <a:cs typeface="Times" panose="02020603050405020304" pitchFamily="18" charset="0"/>
              </a:rPr>
              <a:t>R Square</a:t>
            </a:r>
          </a:p>
          <a:p>
            <a:pPr marL="457200" indent="-457200">
              <a:buAutoNum type="arabicPeriod"/>
            </a:pPr>
            <a:endParaRPr lang="en-IN" sz="2000" dirty="0">
              <a:latin typeface="Times" panose="02020603050405020304" pitchFamily="18" charset="0"/>
              <a:cs typeface="Times" panose="02020603050405020304" pitchFamily="18" charset="0"/>
            </a:endParaRPr>
          </a:p>
          <a:p>
            <a:pPr algn="l"/>
            <a:endParaRPr lang="en-US" sz="2400" i="0" dirty="0">
              <a:solidFill>
                <a:srgbClr val="1B2B68"/>
              </a:solidFill>
              <a:effectLst/>
              <a:latin typeface="Times" panose="02020603050405020304" pitchFamily="18" charset="0"/>
              <a:cs typeface="Times" panose="02020603050405020304" pitchFamily="18" charset="0"/>
            </a:endParaRPr>
          </a:p>
          <a:p>
            <a:pPr algn="l"/>
            <a:endParaRPr lang="en-IN" sz="2400" i="0" dirty="0">
              <a:solidFill>
                <a:srgbClr val="1B2B68"/>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301947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3423" y="-218089"/>
            <a:ext cx="5869173" cy="1928101"/>
          </a:xfrm>
        </p:spPr>
        <p:txBody>
          <a:bodyPr>
            <a:noAutofit/>
          </a:bodyPr>
          <a:lstStyle/>
          <a:p>
            <a:pPr algn="l"/>
            <a:r>
              <a:rPr lang="en-US" sz="2800" b="1" i="0" dirty="0">
                <a:solidFill>
                  <a:srgbClr val="1B2B68"/>
                </a:solidFill>
                <a:effectLst/>
                <a:latin typeface="Times" panose="02020603050405020304" pitchFamily="18" charset="0"/>
                <a:cs typeface="Times" panose="02020603050405020304" pitchFamily="18" charset="0"/>
              </a:rPr>
              <a:t>Mean Absolute Error(MAE)</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23</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338137" y="1533371"/>
            <a:ext cx="8467725" cy="400110"/>
          </a:xfrm>
          <a:prstGeom prst="rect">
            <a:avLst/>
          </a:prstGeom>
          <a:noFill/>
        </p:spPr>
        <p:txBody>
          <a:bodyPr wrap="square">
            <a:spAutoFit/>
          </a:bodyPr>
          <a:lstStyle/>
          <a:p>
            <a:pPr algn="just"/>
            <a:endParaRPr lang="en-US" sz="2000" b="0" i="0" dirty="0">
              <a:solidFill>
                <a:srgbClr val="222222"/>
              </a:solidFill>
              <a:effectLst/>
              <a:latin typeface="Times" panose="02020603050405020304" pitchFamily="18" charset="0"/>
              <a:cs typeface="Times" panose="02020603050405020304" pitchFamily="18" charset="0"/>
            </a:endParaRPr>
          </a:p>
        </p:txBody>
      </p:sp>
      <p:sp>
        <p:nvSpPr>
          <p:cNvPr id="12" name="TextBox 11">
            <a:extLst>
              <a:ext uri="{FF2B5EF4-FFF2-40B4-BE49-F238E27FC236}">
                <a16:creationId xmlns:a16="http://schemas.microsoft.com/office/drawing/2014/main" id="{1E967BCA-E2AF-444C-8CAF-932379F5963B}"/>
              </a:ext>
            </a:extLst>
          </p:cNvPr>
          <p:cNvSpPr txBox="1"/>
          <p:nvPr/>
        </p:nvSpPr>
        <p:spPr>
          <a:xfrm>
            <a:off x="523874" y="1457325"/>
            <a:ext cx="7924801" cy="4062651"/>
          </a:xfrm>
          <a:prstGeom prst="rect">
            <a:avLst/>
          </a:prstGeom>
          <a:noFill/>
        </p:spPr>
        <p:txBody>
          <a:bodyPr wrap="square">
            <a:spAutoFit/>
          </a:bodyPr>
          <a:lstStyle/>
          <a:p>
            <a:r>
              <a:rPr lang="en-US" sz="2000" b="0" i="0" dirty="0">
                <a:solidFill>
                  <a:srgbClr val="292929"/>
                </a:solidFill>
                <a:effectLst/>
                <a:latin typeface="Times" panose="02020603050405020304" pitchFamily="18" charset="0"/>
                <a:cs typeface="Times" panose="02020603050405020304" pitchFamily="18" charset="0"/>
              </a:rPr>
              <a:t>Mean Absolute Error(MAE) is similar to Mean Square Error(MSE). However, instead of the sum of square of error in MSE, MAE is taking the sum of the absolute value of error.</a:t>
            </a:r>
          </a:p>
          <a:p>
            <a:endParaRPr lang="en-US" sz="2000" dirty="0">
              <a:solidFill>
                <a:srgbClr val="292929"/>
              </a:solidFill>
              <a:latin typeface="Times" panose="02020603050405020304" pitchFamily="18" charset="0"/>
              <a:cs typeface="Times" panose="02020603050405020304" pitchFamily="18" charset="0"/>
            </a:endParaRPr>
          </a:p>
          <a:p>
            <a:endParaRPr lang="en-US" sz="2000" dirty="0">
              <a:solidFill>
                <a:srgbClr val="292929"/>
              </a:solidFill>
              <a:latin typeface="Times" panose="02020603050405020304" pitchFamily="18" charset="0"/>
              <a:cs typeface="Times" panose="02020603050405020304" pitchFamily="18" charset="0"/>
            </a:endParaRPr>
          </a:p>
          <a:p>
            <a:endParaRPr lang="en-US" sz="2000" dirty="0">
              <a:solidFill>
                <a:srgbClr val="292929"/>
              </a:solidFill>
              <a:latin typeface="Times" panose="02020603050405020304" pitchFamily="18" charset="0"/>
              <a:cs typeface="Times" panose="02020603050405020304" pitchFamily="18" charset="0"/>
            </a:endParaRPr>
          </a:p>
          <a:p>
            <a:endParaRPr lang="en-US" sz="2000" b="0" i="0" dirty="0">
              <a:solidFill>
                <a:srgbClr val="292929"/>
              </a:solidFill>
              <a:effectLst/>
              <a:latin typeface="Times" panose="02020603050405020304" pitchFamily="18" charset="0"/>
              <a:cs typeface="Times" panose="02020603050405020304" pitchFamily="18" charset="0"/>
            </a:endParaRPr>
          </a:p>
          <a:p>
            <a:endParaRPr lang="en-US" sz="2000" dirty="0">
              <a:solidFill>
                <a:srgbClr val="292929"/>
              </a:solidFill>
              <a:latin typeface="Times" panose="02020603050405020304" pitchFamily="18" charset="0"/>
              <a:cs typeface="Times" panose="02020603050405020304" pitchFamily="18" charset="0"/>
            </a:endParaRPr>
          </a:p>
          <a:p>
            <a:r>
              <a:rPr lang="en-US" sz="2000" b="0" i="0" dirty="0">
                <a:solidFill>
                  <a:srgbClr val="292929"/>
                </a:solidFill>
                <a:effectLst/>
                <a:latin typeface="Times" panose="02020603050405020304" pitchFamily="18" charset="0"/>
                <a:cs typeface="Times" panose="02020603050405020304" pitchFamily="18" charset="0"/>
              </a:rPr>
              <a:t>Compare to MSE or RMSE, MAE is a more direct representation of sum of error terms. </a:t>
            </a:r>
          </a:p>
          <a:p>
            <a:r>
              <a:rPr lang="en-US" sz="2000" b="1" i="0" dirty="0">
                <a:solidFill>
                  <a:srgbClr val="292929"/>
                </a:solidFill>
                <a:effectLst/>
                <a:latin typeface="Times" panose="02020603050405020304" pitchFamily="18" charset="0"/>
                <a:cs typeface="Times" panose="02020603050405020304" pitchFamily="18" charset="0"/>
              </a:rPr>
              <a:t>MSE gives larger penalization to big prediction error by square it while MAE treats all errors the same</a:t>
            </a:r>
            <a:r>
              <a:rPr lang="en-US" sz="2000" b="0" i="0" dirty="0">
                <a:solidFill>
                  <a:srgbClr val="292929"/>
                </a:solidFill>
                <a:effectLst/>
                <a:latin typeface="Times" panose="02020603050405020304" pitchFamily="18" charset="0"/>
                <a:cs typeface="Times" panose="02020603050405020304" pitchFamily="18" charset="0"/>
              </a:rPr>
              <a:t>.</a:t>
            </a:r>
            <a:endParaRPr lang="en-US" sz="2000" dirty="0">
              <a:solidFill>
                <a:srgbClr val="292929"/>
              </a:solidFill>
              <a:latin typeface="Times" panose="02020603050405020304" pitchFamily="18" charset="0"/>
              <a:cs typeface="Times" panose="02020603050405020304" pitchFamily="18" charset="0"/>
            </a:endParaRPr>
          </a:p>
          <a:p>
            <a:endParaRPr lang="en-IN" dirty="0"/>
          </a:p>
        </p:txBody>
      </p:sp>
      <p:pic>
        <p:nvPicPr>
          <p:cNvPr id="4098" name="Picture 2">
            <a:extLst>
              <a:ext uri="{FF2B5EF4-FFF2-40B4-BE49-F238E27FC236}">
                <a16:creationId xmlns:a16="http://schemas.microsoft.com/office/drawing/2014/main" id="{486B1876-4300-4C62-81C6-540892CE7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4636" y="2751733"/>
            <a:ext cx="3343276" cy="887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547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4025" y="-218088"/>
            <a:ext cx="5918571" cy="1923064"/>
          </a:xfrm>
        </p:spPr>
        <p:txBody>
          <a:bodyPr>
            <a:noAutofit/>
          </a:bodyPr>
          <a:lstStyle/>
          <a:p>
            <a:pPr algn="l"/>
            <a:r>
              <a:rPr lang="en-US" sz="2800" b="1" i="0" dirty="0">
                <a:solidFill>
                  <a:srgbClr val="1B2B68"/>
                </a:solidFill>
                <a:effectLst/>
                <a:latin typeface="Times" panose="02020603050405020304" pitchFamily="18" charset="0"/>
                <a:cs typeface="Times" panose="02020603050405020304" pitchFamily="18" charset="0"/>
              </a:rPr>
              <a:t>Mean Square Error(MSE)/</a:t>
            </a:r>
            <a:br>
              <a:rPr lang="en-US" sz="2800" b="1" i="0" dirty="0">
                <a:solidFill>
                  <a:srgbClr val="1B2B68"/>
                </a:solidFill>
                <a:effectLst/>
                <a:latin typeface="Times" panose="02020603050405020304" pitchFamily="18" charset="0"/>
                <a:cs typeface="Times" panose="02020603050405020304" pitchFamily="18" charset="0"/>
              </a:rPr>
            </a:br>
            <a:r>
              <a:rPr lang="en-US" sz="2800" b="1" i="0" dirty="0">
                <a:solidFill>
                  <a:srgbClr val="1B2B68"/>
                </a:solidFill>
                <a:effectLst/>
                <a:latin typeface="Times" panose="02020603050405020304" pitchFamily="18" charset="0"/>
                <a:cs typeface="Times" panose="02020603050405020304" pitchFamily="18" charset="0"/>
              </a:rPr>
              <a:t>Root Mean Square Error(RMSE)</a:t>
            </a: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24</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338137" y="1533371"/>
            <a:ext cx="8467725" cy="400110"/>
          </a:xfrm>
          <a:prstGeom prst="rect">
            <a:avLst/>
          </a:prstGeom>
          <a:noFill/>
        </p:spPr>
        <p:txBody>
          <a:bodyPr wrap="square">
            <a:spAutoFit/>
          </a:bodyPr>
          <a:lstStyle/>
          <a:p>
            <a:pPr algn="just"/>
            <a:endParaRPr lang="en-US" sz="2000" b="0" i="0" dirty="0">
              <a:solidFill>
                <a:srgbClr val="222222"/>
              </a:solidFill>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BF016D6A-EA51-4F3D-83A4-AA655CF09F7B}"/>
              </a:ext>
            </a:extLst>
          </p:cNvPr>
          <p:cNvSpPr txBox="1"/>
          <p:nvPr/>
        </p:nvSpPr>
        <p:spPr>
          <a:xfrm>
            <a:off x="561975" y="1397354"/>
            <a:ext cx="7877175" cy="4062651"/>
          </a:xfrm>
          <a:prstGeom prst="rect">
            <a:avLst/>
          </a:prstGeom>
          <a:noFill/>
        </p:spPr>
        <p:txBody>
          <a:bodyPr wrap="square">
            <a:spAutoFit/>
          </a:bodyPr>
          <a:lstStyle/>
          <a:p>
            <a:r>
              <a:rPr lang="en-US" sz="2000" b="0" i="0" dirty="0">
                <a:solidFill>
                  <a:srgbClr val="292929"/>
                </a:solidFill>
                <a:effectLst/>
                <a:latin typeface="Times" panose="02020603050405020304" pitchFamily="18" charset="0"/>
                <a:cs typeface="Times" panose="02020603050405020304" pitchFamily="18" charset="0"/>
              </a:rPr>
              <a:t>While R Square is a relative measure of how well the model fits dependent variables, Mean Square Error is an absolute measure of the goodness for the fit.</a:t>
            </a:r>
          </a:p>
          <a:p>
            <a:endParaRPr lang="en-US" sz="2000" dirty="0">
              <a:solidFill>
                <a:srgbClr val="292929"/>
              </a:solidFill>
              <a:latin typeface="Times" panose="02020603050405020304" pitchFamily="18" charset="0"/>
              <a:cs typeface="Times" panose="02020603050405020304" pitchFamily="18" charset="0"/>
            </a:endParaRPr>
          </a:p>
          <a:p>
            <a:endParaRPr lang="en-US" sz="2000" dirty="0">
              <a:solidFill>
                <a:srgbClr val="292929"/>
              </a:solidFill>
              <a:latin typeface="Times" panose="02020603050405020304" pitchFamily="18" charset="0"/>
              <a:cs typeface="Times" panose="02020603050405020304" pitchFamily="18" charset="0"/>
            </a:endParaRPr>
          </a:p>
          <a:p>
            <a:endParaRPr lang="en-US" sz="2000" dirty="0">
              <a:solidFill>
                <a:srgbClr val="292929"/>
              </a:solidFill>
              <a:latin typeface="Times" panose="02020603050405020304" pitchFamily="18" charset="0"/>
              <a:cs typeface="Times" panose="02020603050405020304" pitchFamily="18" charset="0"/>
            </a:endParaRPr>
          </a:p>
          <a:p>
            <a:endParaRPr lang="en-US" sz="2000" dirty="0">
              <a:solidFill>
                <a:srgbClr val="292929"/>
              </a:solidFill>
              <a:latin typeface="Times" panose="02020603050405020304" pitchFamily="18" charset="0"/>
              <a:cs typeface="Times" panose="02020603050405020304" pitchFamily="18" charset="0"/>
            </a:endParaRPr>
          </a:p>
          <a:p>
            <a:pPr algn="l"/>
            <a:r>
              <a:rPr lang="en-US" sz="2000" b="0" i="0" dirty="0">
                <a:solidFill>
                  <a:srgbClr val="292929"/>
                </a:solidFill>
                <a:effectLst/>
                <a:latin typeface="Times" panose="02020603050405020304" pitchFamily="18" charset="0"/>
                <a:cs typeface="Times" panose="02020603050405020304" pitchFamily="18" charset="0"/>
              </a:rPr>
              <a:t>MSE is calculated by the sum of square of prediction error which is real output minus predicted output and then divide by the number of data points. It gives you an absolute number on how much your predicted results deviate from the actual number. </a:t>
            </a:r>
          </a:p>
          <a:p>
            <a:pPr algn="l"/>
            <a:r>
              <a:rPr lang="en-US" sz="2000" b="1" i="0" dirty="0">
                <a:solidFill>
                  <a:srgbClr val="292929"/>
                </a:solidFill>
                <a:effectLst/>
                <a:latin typeface="Times" panose="02020603050405020304" pitchFamily="18" charset="0"/>
                <a:cs typeface="Times" panose="02020603050405020304" pitchFamily="18" charset="0"/>
              </a:rPr>
              <a:t>Root Mean Square Error(RMSE) is the square root of MSE.</a:t>
            </a:r>
          </a:p>
          <a:p>
            <a:endParaRPr lang="en-IN" dirty="0"/>
          </a:p>
        </p:txBody>
      </p:sp>
      <p:pic>
        <p:nvPicPr>
          <p:cNvPr id="3076" name="Picture 4">
            <a:extLst>
              <a:ext uri="{FF2B5EF4-FFF2-40B4-BE49-F238E27FC236}">
                <a16:creationId xmlns:a16="http://schemas.microsoft.com/office/drawing/2014/main" id="{12D22DB3-8DAF-4360-8BCB-D08782371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2304363"/>
            <a:ext cx="3643312" cy="94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099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986" y="19568"/>
            <a:ext cx="6171314" cy="1679997"/>
          </a:xfrm>
        </p:spPr>
        <p:txBody>
          <a:bodyPr>
            <a:noAutofit/>
          </a:bodyPr>
          <a:lstStyle/>
          <a:p>
            <a:pPr algn="l"/>
            <a:r>
              <a:rPr lang="en-US" sz="2800" b="1" i="0" dirty="0">
                <a:solidFill>
                  <a:srgbClr val="1B2B68"/>
                </a:solidFill>
                <a:effectLst/>
                <a:latin typeface="Times" panose="02020603050405020304" pitchFamily="18" charset="0"/>
                <a:cs typeface="Times" panose="02020603050405020304" pitchFamily="18" charset="0"/>
              </a:rPr>
              <a:t>R Square/Adjusted R Square</a:t>
            </a:r>
            <a:br>
              <a:rPr lang="en-US" sz="2800" b="1" i="0" dirty="0">
                <a:solidFill>
                  <a:srgbClr val="1B2B68"/>
                </a:solidFill>
                <a:effectLst/>
                <a:latin typeface="Times" panose="02020603050405020304" pitchFamily="18" charset="0"/>
                <a:cs typeface="Times" panose="02020603050405020304" pitchFamily="18" charset="0"/>
              </a:rPr>
            </a:br>
            <a:endParaRPr lang="en-US" sz="2800" b="1" i="0" dirty="0">
              <a:solidFill>
                <a:srgbClr val="1B2B68"/>
              </a:solidFill>
              <a:effectLst/>
              <a:latin typeface="Times" panose="02020603050405020304" pitchFamily="18" charset="0"/>
              <a:cs typeface="Times" panose="02020603050405020304" pitchFamily="18" charset="0"/>
            </a:endParaRPr>
          </a:p>
        </p:txBody>
      </p:sp>
      <p:sp>
        <p:nvSpPr>
          <p:cNvPr id="3" name="Slide Number Placeholder 2">
            <a:extLst>
              <a:ext uri="{FF2B5EF4-FFF2-40B4-BE49-F238E27FC236}">
                <a16:creationId xmlns:a16="http://schemas.microsoft.com/office/drawing/2014/main" id="{936B255A-B577-BE47-BCE7-FDACEA748D5E}"/>
              </a:ext>
            </a:extLst>
          </p:cNvPr>
          <p:cNvSpPr>
            <a:spLocks noGrp="1"/>
          </p:cNvSpPr>
          <p:nvPr>
            <p:ph type="sldNum" sz="quarter" idx="12"/>
          </p:nvPr>
        </p:nvSpPr>
        <p:spPr/>
        <p:txBody>
          <a:bodyPr/>
          <a:lstStyle/>
          <a:p>
            <a:fld id="{07F7CCEF-BFBD-4FA4-AA71-81F718DAAF14}" type="slidenum">
              <a:rPr lang="en-US" smtClean="0"/>
              <a:t>25</a:t>
            </a:fld>
            <a:endParaRPr lang="en-US"/>
          </a:p>
        </p:txBody>
      </p:sp>
      <p:sp>
        <p:nvSpPr>
          <p:cNvPr id="7" name="TextBox 6">
            <a:extLst>
              <a:ext uri="{FF2B5EF4-FFF2-40B4-BE49-F238E27FC236}">
                <a16:creationId xmlns:a16="http://schemas.microsoft.com/office/drawing/2014/main" id="{3C61B084-EACA-41EC-AF63-B6F4D1C6382F}"/>
              </a:ext>
            </a:extLst>
          </p:cNvPr>
          <p:cNvSpPr txBox="1"/>
          <p:nvPr/>
        </p:nvSpPr>
        <p:spPr>
          <a:xfrm>
            <a:off x="409575" y="1301338"/>
            <a:ext cx="8648700" cy="646331"/>
          </a:xfrm>
          <a:prstGeom prst="rect">
            <a:avLst/>
          </a:prstGeom>
          <a:noFill/>
        </p:spPr>
        <p:txBody>
          <a:bodyPr wrap="square">
            <a:spAutoFit/>
          </a:bodyPr>
          <a:lstStyle/>
          <a:p>
            <a:br>
              <a:rPr lang="en-US" b="0" i="0" dirty="0">
                <a:solidFill>
                  <a:srgbClr val="222222"/>
                </a:solidFill>
                <a:effectLst/>
                <a:latin typeface="Lato"/>
              </a:rPr>
            </a:br>
            <a:endParaRPr lang="en-US" b="0" i="0" dirty="0">
              <a:solidFill>
                <a:srgbClr val="222222"/>
              </a:solidFill>
              <a:effectLst/>
              <a:latin typeface="Lato"/>
            </a:endParaRPr>
          </a:p>
        </p:txBody>
      </p:sp>
      <p:sp>
        <p:nvSpPr>
          <p:cNvPr id="8" name="TextBox 7">
            <a:extLst>
              <a:ext uri="{FF2B5EF4-FFF2-40B4-BE49-F238E27FC236}">
                <a16:creationId xmlns:a16="http://schemas.microsoft.com/office/drawing/2014/main" id="{0C43DB85-0FE0-4BA3-9B39-8BA148A7248D}"/>
              </a:ext>
            </a:extLst>
          </p:cNvPr>
          <p:cNvSpPr txBox="1"/>
          <p:nvPr/>
        </p:nvSpPr>
        <p:spPr>
          <a:xfrm>
            <a:off x="338137" y="1299455"/>
            <a:ext cx="8467725" cy="400110"/>
          </a:xfrm>
          <a:prstGeom prst="rect">
            <a:avLst/>
          </a:prstGeom>
          <a:noFill/>
        </p:spPr>
        <p:txBody>
          <a:bodyPr wrap="square">
            <a:spAutoFit/>
          </a:bodyPr>
          <a:lstStyle/>
          <a:p>
            <a:pPr algn="just"/>
            <a:endParaRPr lang="en-US" sz="2000" b="0" i="0" dirty="0">
              <a:solidFill>
                <a:srgbClr val="222222"/>
              </a:solidFill>
              <a:effectLst/>
              <a:latin typeface="Times" panose="02020603050405020304" pitchFamily="18" charset="0"/>
              <a:cs typeface="Times" panose="02020603050405020304" pitchFamily="18" charset="0"/>
            </a:endParaRPr>
          </a:p>
        </p:txBody>
      </p:sp>
      <p:sp>
        <p:nvSpPr>
          <p:cNvPr id="11" name="TextBox 10">
            <a:extLst>
              <a:ext uri="{FF2B5EF4-FFF2-40B4-BE49-F238E27FC236}">
                <a16:creationId xmlns:a16="http://schemas.microsoft.com/office/drawing/2014/main" id="{93A1924F-ED7B-4B51-A0EB-59BF825DC9F5}"/>
              </a:ext>
            </a:extLst>
          </p:cNvPr>
          <p:cNvSpPr txBox="1"/>
          <p:nvPr/>
        </p:nvSpPr>
        <p:spPr>
          <a:xfrm>
            <a:off x="514348" y="1465495"/>
            <a:ext cx="8115301" cy="3477875"/>
          </a:xfrm>
          <a:prstGeom prst="rect">
            <a:avLst/>
          </a:prstGeom>
          <a:noFill/>
        </p:spPr>
        <p:txBody>
          <a:bodyPr wrap="square">
            <a:spAutoFit/>
          </a:bodyPr>
          <a:lstStyle/>
          <a:p>
            <a:pPr algn="l"/>
            <a:r>
              <a:rPr lang="en-US" sz="2000" b="0" i="0" dirty="0">
                <a:solidFill>
                  <a:srgbClr val="292929"/>
                </a:solidFill>
                <a:effectLst/>
                <a:latin typeface="Times" panose="02020603050405020304" pitchFamily="18" charset="0"/>
                <a:cs typeface="Times" panose="02020603050405020304" pitchFamily="18" charset="0"/>
              </a:rPr>
              <a:t>R Square measures how much variability in dependent variable can be explained by the model. It is the square of the Correlation Coefficient(R) and that is why it is called R Square.</a:t>
            </a:r>
          </a:p>
          <a:p>
            <a:pPr algn="l"/>
            <a:endParaRPr lang="en-US" sz="2000" dirty="0">
              <a:solidFill>
                <a:srgbClr val="292929"/>
              </a:solidFill>
              <a:latin typeface="Times" panose="02020603050405020304" pitchFamily="18" charset="0"/>
              <a:cs typeface="Times" panose="02020603050405020304" pitchFamily="18" charset="0"/>
            </a:endParaRPr>
          </a:p>
          <a:p>
            <a:pPr algn="l"/>
            <a:endParaRPr lang="en-US" sz="2000" b="0" i="0" dirty="0">
              <a:solidFill>
                <a:srgbClr val="292929"/>
              </a:solidFill>
              <a:effectLst/>
              <a:latin typeface="Times" panose="02020603050405020304" pitchFamily="18" charset="0"/>
              <a:cs typeface="Times" panose="02020603050405020304" pitchFamily="18" charset="0"/>
            </a:endParaRPr>
          </a:p>
          <a:p>
            <a:pPr algn="l"/>
            <a:endParaRPr lang="en-US" sz="2000" b="0" i="0" dirty="0">
              <a:solidFill>
                <a:srgbClr val="292929"/>
              </a:solidFill>
              <a:effectLst/>
              <a:latin typeface="Times" panose="02020603050405020304" pitchFamily="18" charset="0"/>
              <a:cs typeface="Times" panose="02020603050405020304" pitchFamily="18" charset="0"/>
            </a:endParaRPr>
          </a:p>
          <a:p>
            <a:pPr algn="l"/>
            <a:endParaRPr lang="en-US" sz="2000" dirty="0">
              <a:solidFill>
                <a:srgbClr val="292929"/>
              </a:solidFill>
              <a:latin typeface="Times" panose="02020603050405020304" pitchFamily="18" charset="0"/>
              <a:cs typeface="Times" panose="02020603050405020304" pitchFamily="18" charset="0"/>
            </a:endParaRPr>
          </a:p>
          <a:p>
            <a:pPr algn="l"/>
            <a:r>
              <a:rPr lang="en-US" sz="2000" b="0" i="0" dirty="0">
                <a:solidFill>
                  <a:srgbClr val="292929"/>
                </a:solidFill>
                <a:effectLst/>
                <a:latin typeface="Times" panose="02020603050405020304" pitchFamily="18" charset="0"/>
                <a:cs typeface="Times" panose="02020603050405020304" pitchFamily="18" charset="0"/>
              </a:rPr>
              <a:t>R Square is calculated by the sum of squared of prediction error divided by the total sum of the square which replaces the calculated prediction with mean. R Square value is between 0 to 1 and a bigger value indicates a better fit between prediction and actual value.</a:t>
            </a:r>
          </a:p>
        </p:txBody>
      </p:sp>
      <p:pic>
        <p:nvPicPr>
          <p:cNvPr id="12" name="Picture 3">
            <a:extLst>
              <a:ext uri="{FF2B5EF4-FFF2-40B4-BE49-F238E27FC236}">
                <a16:creationId xmlns:a16="http://schemas.microsoft.com/office/drawing/2014/main" id="{DA6AA099-52AC-4F63-A275-24B739A857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5452" y="2650616"/>
            <a:ext cx="5958773" cy="778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9540139"/>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B971307E3D5DD4AB942485E13920E68" ma:contentTypeVersion="4" ma:contentTypeDescription="Create a new document." ma:contentTypeScope="" ma:versionID="8c1fc8d9778e0c81e083016ff61e5fa3">
  <xsd:schema xmlns:xsd="http://www.w3.org/2001/XMLSchema" xmlns:xs="http://www.w3.org/2001/XMLSchema" xmlns:p="http://schemas.microsoft.com/office/2006/metadata/properties" xmlns:ns2="2ea0bef8-2db6-4934-b75d-2ca65d6b6581" targetNamespace="http://schemas.microsoft.com/office/2006/metadata/properties" ma:root="true" ma:fieldsID="a7ef302280ec7ff0a2da619a337d5dc0" ns2:_="">
    <xsd:import namespace="2ea0bef8-2db6-4934-b75d-2ca65d6b658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a0bef8-2db6-4934-b75d-2ca65d6b65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13B149-D101-4589-979F-617D90B0493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AA9ACA3-80F0-451E-92FD-52E83F08D343}">
  <ds:schemaRefs>
    <ds:schemaRef ds:uri="2ea0bef8-2db6-4934-b75d-2ca65d6b65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4A0327-C70D-4B74-8346-4803B6AD02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889</TotalTime>
  <Words>1671</Words>
  <Application>Microsoft Office PowerPoint</Application>
  <PresentationFormat>On-screen Show (4:3)</PresentationFormat>
  <Paragraphs>150</Paragraphs>
  <Slides>25</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vt:i4>
      </vt:variant>
    </vt:vector>
  </HeadingPairs>
  <TitlesOfParts>
    <vt:vector size="39" baseType="lpstr">
      <vt:lpstr>Arial</vt:lpstr>
      <vt:lpstr>Calibri</vt:lpstr>
      <vt:lpstr>Calibri Light</vt:lpstr>
      <vt:lpstr>Cambria Math</vt:lpstr>
      <vt:lpstr>erdana</vt:lpstr>
      <vt:lpstr>Inter</vt:lpstr>
      <vt:lpstr>inter-bold</vt:lpstr>
      <vt:lpstr>inter-regular</vt:lpstr>
      <vt:lpstr>Lato</vt:lpstr>
      <vt:lpstr>Times</vt:lpstr>
      <vt:lpstr>Times New Roman</vt:lpstr>
      <vt:lpstr>Tw Cen MT Condensed</vt:lpstr>
      <vt:lpstr>Wingdings</vt:lpstr>
      <vt:lpstr>1_Office Theme</vt:lpstr>
      <vt:lpstr>Regression Analysis in Machine learning</vt:lpstr>
      <vt:lpstr>Regression Analysis</vt:lpstr>
      <vt:lpstr>Types of Regression Models</vt:lpstr>
      <vt:lpstr>Regression Analysis</vt:lpstr>
      <vt:lpstr>Terminology related to  Regression Analysis</vt:lpstr>
      <vt:lpstr>Linear Regression</vt:lpstr>
      <vt:lpstr>Linear Regression</vt:lpstr>
      <vt:lpstr>Linear Regression</vt:lpstr>
      <vt:lpstr>Multiple Linear Regression</vt:lpstr>
      <vt:lpstr>Assumptions of multiple linear regression</vt:lpstr>
      <vt:lpstr>How to perform a multiple 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Performance in Regression Models</vt:lpstr>
      <vt:lpstr>Mean Absolute Error(MAE)</vt:lpstr>
      <vt:lpstr>Mean Square Error(MSE)/ Root Mean Square Error(RMSE)</vt:lpstr>
      <vt:lpstr>R Square/Adjusted R Square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c:creator>
  <cp:lastModifiedBy>Khushboo</cp:lastModifiedBy>
  <cp:revision>27</cp:revision>
  <dcterms:created xsi:type="dcterms:W3CDTF">2018-03-16T07:43:29Z</dcterms:created>
  <dcterms:modified xsi:type="dcterms:W3CDTF">2025-11-26T09:23:23Z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0x0101007B971307E3D5DD4AB942485E13920E68</vt:lpwstr>
  </property>
</Properties>
</file>